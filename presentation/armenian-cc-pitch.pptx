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hetq.am/en/article/176048" TargetMode="External"/><Relationship Id="rId3" Type="http://schemas.openxmlformats.org/officeDocument/2006/relationships/hyperlink" Target="https://www.youtube.com/watch?v=JKMR-kUEn_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menian.cc"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ilviAvayan/Armenian.cc/blob/main/ASR_EVALUATION.m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ilviAvayan/Armenian.cc"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menian.cc"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1554480" y="1417320"/>
            <a:ext cx="9144000" cy="365760"/>
          </a:xfrm>
          <a:prstGeom prst="rect">
            <a:avLst/>
          </a:prstGeom>
          <a:noFill/>
        </p:spPr>
        <p:txBody>
          <a:bodyPr wrap="square" anchor="t">
            <a:spAutoFit/>
          </a:bodyPr>
          <a:lstStyle/>
          <a:p>
            <a:pPr algn="ctr">
              <a:spcAft>
                <a:spcPts val="400"/>
              </a:spcAft>
            </a:pPr>
            <a:r>
              <a:rPr sz="1200" b="1" i="0" u="none">
                <a:solidFill>
                  <a:srgbClr val="0F766E"/>
                </a:solidFill>
                <a:latin typeface="Noto Sans"/>
              </a:rPr>
              <a:t>HACK ARMENIA · DEMO DAY · AUGUST 9, 2026</a:t>
            </a:r>
          </a:p>
        </p:txBody>
      </p:sp>
      <p:sp>
        <p:nvSpPr>
          <p:cNvPr id="3" name="TextBox 2"/>
          <p:cNvSpPr txBox="1"/>
          <p:nvPr/>
        </p:nvSpPr>
        <p:spPr>
          <a:xfrm>
            <a:off x="1554480" y="2011680"/>
            <a:ext cx="9144000" cy="1188720"/>
          </a:xfrm>
          <a:prstGeom prst="rect">
            <a:avLst/>
          </a:prstGeom>
          <a:noFill/>
        </p:spPr>
        <p:txBody>
          <a:bodyPr wrap="square" anchor="t">
            <a:spAutoFit/>
          </a:bodyPr>
          <a:lstStyle/>
          <a:p>
            <a:pPr algn="ctr">
              <a:spcAft>
                <a:spcPts val="400"/>
              </a:spcAft>
            </a:pPr>
            <a:r>
              <a:rPr sz="6000" b="1" i="0" u="none">
                <a:solidFill>
                  <a:srgbClr val="26231D"/>
                </a:solidFill>
                <a:latin typeface="Noto Sans"/>
              </a:rPr>
              <a:t>armenian</a:t>
            </a:r>
            <a:r>
              <a:rPr sz="6000" b="1" i="0" u="none">
                <a:solidFill>
                  <a:srgbClr val="0F766E"/>
                </a:solidFill>
                <a:latin typeface="Noto Sans"/>
              </a:rPr>
              <a:t>.cc</a:t>
            </a:r>
          </a:p>
        </p:txBody>
      </p:sp>
      <p:sp>
        <p:nvSpPr>
          <p:cNvPr id="4" name="TextBox 3"/>
          <p:cNvSpPr txBox="1"/>
          <p:nvPr/>
        </p:nvSpPr>
        <p:spPr>
          <a:xfrm>
            <a:off x="2194560" y="3383280"/>
            <a:ext cx="7863840" cy="1097280"/>
          </a:xfrm>
          <a:prstGeom prst="rect">
            <a:avLst/>
          </a:prstGeom>
          <a:noFill/>
        </p:spPr>
        <p:txBody>
          <a:bodyPr wrap="square" anchor="t">
            <a:spAutoFit/>
          </a:bodyPr>
          <a:lstStyle/>
          <a:p>
            <a:pPr algn="ctr">
              <a:spcAft>
                <a:spcPts val="400"/>
              </a:spcAft>
            </a:pPr>
            <a:r>
              <a:rPr sz="1900" b="0" i="0" u="none">
                <a:solidFill>
                  <a:srgbClr val="7D7462"/>
                </a:solidFill>
                <a:latin typeface="Noto Sans"/>
              </a:rPr>
              <a:t>Learn the Armenian language people </a:t>
            </a:r>
            <a:r>
              <a:rPr sz="1900" b="0" i="1" u="none">
                <a:solidFill>
                  <a:srgbClr val="7D7462"/>
                </a:solidFill>
                <a:latin typeface="Noto Sans"/>
              </a:rPr>
              <a:t>actually</a:t>
            </a:r>
            <a:r>
              <a:rPr sz="1900" b="0" i="0" u="none">
                <a:solidFill>
                  <a:srgbClr val="7D7462"/>
                </a:solidFill>
                <a:latin typeface="Noto Sans"/>
              </a:rPr>
              <a:t> speak — the missing step between living in Armenia and belonging to it.</a:t>
            </a:r>
          </a:p>
        </p:txBody>
      </p:sp>
      <p:sp>
        <p:nvSpPr>
          <p:cNvPr id="5" name="TextBox 4"/>
          <p:cNvSpPr txBox="1"/>
          <p:nvPr/>
        </p:nvSpPr>
        <p:spPr>
          <a:xfrm>
            <a:off x="2194560" y="4892040"/>
            <a:ext cx="7863840" cy="365760"/>
          </a:xfrm>
          <a:prstGeom prst="rect">
            <a:avLst/>
          </a:prstGeom>
          <a:noFill/>
        </p:spPr>
        <p:txBody>
          <a:bodyPr wrap="square" anchor="t">
            <a:spAutoFit/>
          </a:bodyPr>
          <a:lstStyle/>
          <a:p>
            <a:pPr algn="ctr">
              <a:spcAft>
                <a:spcPts val="400"/>
              </a:spcAft>
            </a:pPr>
            <a:r>
              <a:rPr sz="1200" b="0" i="0" u="none">
                <a:solidFill>
                  <a:srgbClr val="837A68"/>
                </a:solidFill>
                <a:latin typeface="Noto Sans"/>
              </a:rPr>
              <a:t>Misha Aghamalyan · Tigran Andreasyan · Silvi Avayan · Ilya Lysenkov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square" anchor="t">
            <a:spAutoFit/>
          </a:bodyPr>
          <a:lstStyle/>
          <a:p>
            <a:pPr algn="l">
              <a:spcAft>
                <a:spcPts val="400"/>
              </a:spcAft>
            </a:pPr>
            <a:r>
              <a:rPr sz="1200" b="1" i="0" u="none">
                <a:solidFill>
                  <a:srgbClr val="0F766E"/>
                </a:solidFill>
                <a:latin typeface="Noto Sans"/>
              </a:rPr>
              <a:t>THE PROBLEM</a:t>
            </a:r>
          </a:p>
        </p:txBody>
      </p:sp>
      <p:sp>
        <p:nvSpPr>
          <p:cNvPr id="3" name="TextBox 2"/>
          <p:cNvSpPr txBox="1"/>
          <p:nvPr/>
        </p:nvSpPr>
        <p:spPr>
          <a:xfrm>
            <a:off x="822960" y="868680"/>
            <a:ext cx="10515600" cy="777240"/>
          </a:xfrm>
          <a:prstGeom prst="rect">
            <a:avLst/>
          </a:prstGeom>
          <a:noFill/>
        </p:spPr>
        <p:txBody>
          <a:bodyPr wrap="square" anchor="t">
            <a:spAutoFit/>
          </a:bodyPr>
          <a:lstStyle/>
          <a:p>
            <a:pPr algn="l">
              <a:spcAft>
                <a:spcPts val="400"/>
              </a:spcAft>
            </a:pPr>
            <a:r>
              <a:rPr sz="3400" b="1" i="0" u="none">
                <a:solidFill>
                  <a:srgbClr val="26231D"/>
                </a:solidFill>
                <a:latin typeface="Noto Sans"/>
              </a:rPr>
              <a:t>In Armenia — but not </a:t>
            </a:r>
            <a:r>
              <a:rPr sz="3400" b="1" i="0" u="sng">
                <a:solidFill>
                  <a:srgbClr val="0F766E"/>
                </a:solidFill>
                <a:latin typeface="Noto Sans"/>
              </a:rPr>
              <a:t>part</a:t>
            </a:r>
            <a:r>
              <a:rPr sz="3400" b="1" i="0" u="none">
                <a:solidFill>
                  <a:srgbClr val="26231D"/>
                </a:solidFill>
                <a:latin typeface="Noto Sans"/>
              </a:rPr>
              <a:t> of it</a:t>
            </a:r>
          </a:p>
        </p:txBody>
      </p:sp>
      <p:sp>
        <p:nvSpPr>
          <p:cNvPr id="4" name="TextBox 3"/>
          <p:cNvSpPr txBox="1"/>
          <p:nvPr/>
        </p:nvSpPr>
        <p:spPr>
          <a:xfrm>
            <a:off x="822960" y="1691640"/>
            <a:ext cx="10332720" cy="914400"/>
          </a:xfrm>
          <a:prstGeom prst="rect">
            <a:avLst/>
          </a:prstGeom>
          <a:noFill/>
        </p:spPr>
        <p:txBody>
          <a:bodyPr wrap="square" anchor="t">
            <a:spAutoFit/>
          </a:bodyPr>
          <a:lstStyle/>
          <a:p>
            <a:pPr algn="l">
              <a:spcAft>
                <a:spcPts val="400"/>
              </a:spcAft>
            </a:pPr>
            <a:r>
              <a:rPr sz="1550" b="0" i="0" u="none">
                <a:solidFill>
                  <a:srgbClr val="33302A"/>
                </a:solidFill>
                <a:latin typeface="Noto Sans"/>
              </a:rPr>
              <a:t>Newcomers to Armenia, from Russian speakers, Iranians and Indians to returning diaspora, work and rent here for years, yet stay outside the society they live in. The first barrier to integration is language: not the textbook kind, but the one spoken around them every day.</a:t>
            </a:r>
          </a:p>
        </p:txBody>
      </p:sp>
      <p:sp>
        <p:nvSpPr>
          <p:cNvPr id="5" name="Rounded Rectangle 4"/>
          <p:cNvSpPr/>
          <p:nvPr/>
        </p:nvSpPr>
        <p:spPr>
          <a:xfrm>
            <a:off x="822960" y="2834640"/>
            <a:ext cx="3401568" cy="196596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ctr"/>
            <a:r>
              <a:rPr sz="3000" b="1" i="0" u="none">
                <a:solidFill>
                  <a:srgbClr val="0F766E"/>
                </a:solidFill>
                <a:latin typeface="Noto Sans"/>
              </a:rPr>
              <a:t>100K+</a:t>
            </a:r>
          </a:p>
          <a:p>
            <a:r>
              <a:rPr sz="1200" b="0" i="0" u="none">
                <a:solidFill>
                  <a:srgbClr val="7D7462"/>
                </a:solidFill>
                <a:latin typeface="Noto Sans"/>
              </a:rPr>
              <a:t>Russian speakers moved to Armenia since 2022, plus returning diaspora</a:t>
            </a:r>
          </a:p>
          <a:p>
            <a:r>
              <a:rPr sz="1000" b="0" i="0" u="sng">
                <a:solidFill>
                  <a:srgbClr val="837A68"/>
                </a:solidFill>
                <a:latin typeface="Noto Sans"/>
                <a:hlinkClick r:id="rId2"/>
              </a:rPr>
              <a:t>Ministry of Economy of Armenia, 2022</a:t>
            </a:r>
          </a:p>
        </p:txBody>
      </p:sp>
      <p:sp>
        <p:nvSpPr>
          <p:cNvPr id="6" name="Rounded Rectangle 5"/>
          <p:cNvSpPr/>
          <p:nvPr/>
        </p:nvSpPr>
        <p:spPr>
          <a:xfrm>
            <a:off x="4379976" y="2834640"/>
            <a:ext cx="3401568" cy="196596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ctr"/>
            <a:r>
              <a:rPr sz="3000" b="1" i="0" u="none">
                <a:solidFill>
                  <a:srgbClr val="0F766E"/>
                </a:solidFill>
                <a:latin typeface="Noto Sans"/>
              </a:rPr>
              <a:t>500K</a:t>
            </a:r>
          </a:p>
          <a:p>
            <a:r>
              <a:rPr sz="1200" b="0" i="0" u="none">
                <a:solidFill>
                  <a:srgbClr val="7D7462"/>
                </a:solidFill>
                <a:latin typeface="Noto Sans"/>
              </a:rPr>
              <a:t>people watched the first lesson of a </a:t>
            </a:r>
            <a:r>
              <a:rPr sz="1200" b="0" i="0" u="sng">
                <a:solidFill>
                  <a:srgbClr val="7D7462"/>
                </a:solidFill>
                <a:latin typeface="Noto Sans"/>
                <a:hlinkClick r:id="rId3"/>
              </a:rPr>
              <a:t>YouTube Armenian course</a:t>
            </a:r>
            <a:r>
              <a:rPr sz="1200" b="0" i="0" u="none">
                <a:solidFill>
                  <a:srgbClr val="7D7462"/>
                </a:solidFill>
                <a:latin typeface="Noto Sans"/>
              </a:rPr>
              <a:t>; only 40K reached the last</a:t>
            </a:r>
          </a:p>
        </p:txBody>
      </p:sp>
      <p:sp>
        <p:nvSpPr>
          <p:cNvPr id="7" name="Rounded Rectangle 6"/>
          <p:cNvSpPr/>
          <p:nvPr/>
        </p:nvSpPr>
        <p:spPr>
          <a:xfrm>
            <a:off x="7936992" y="2834640"/>
            <a:ext cx="3401568" cy="196596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ctr"/>
            <a:r>
              <a:rPr sz="3000" b="1" i="0" u="none">
                <a:solidFill>
                  <a:srgbClr val="0F766E"/>
                </a:solidFill>
                <a:latin typeface="Noto Sans"/>
              </a:rPr>
              <a:t>0</a:t>
            </a:r>
          </a:p>
          <a:p>
            <a:r>
              <a:rPr sz="1200" b="0" i="0" u="none">
                <a:solidFill>
                  <a:srgbClr val="7D7462"/>
                </a:solidFill>
                <a:latin typeface="Noto Sans"/>
              </a:rPr>
              <a:t>big language apps teach Armenian (Duolingo, Babbel, Rosetta Stone, Busuu)</a:t>
            </a:r>
          </a:p>
        </p:txBody>
      </p:sp>
      <p:sp>
        <p:nvSpPr>
          <p:cNvPr id="8" name="TextBox 7"/>
          <p:cNvSpPr txBox="1"/>
          <p:nvPr/>
        </p:nvSpPr>
        <p:spPr>
          <a:xfrm>
            <a:off x="822960" y="5029200"/>
            <a:ext cx="10515600" cy="731520"/>
          </a:xfrm>
          <a:prstGeom prst="rect">
            <a:avLst/>
          </a:prstGeom>
          <a:noFill/>
        </p:spPr>
        <p:txBody>
          <a:bodyPr wrap="square" anchor="t">
            <a:spAutoFit/>
          </a:bodyPr>
          <a:lstStyle/>
          <a:p>
            <a:pPr algn="l">
              <a:spcAft>
                <a:spcPts val="400"/>
              </a:spcAft>
            </a:pPr>
            <a:r>
              <a:rPr sz="1300" b="0" i="0" u="none">
                <a:solidFill>
                  <a:srgbClr val="837A68"/>
                </a:solidFill>
                <a:latin typeface="Noto Sans"/>
              </a:rPr>
              <a:t>People start learning Armenian, then quit: lessons have to be engaging. And the street language already lives in the most engaging format ever invented, short viral video.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square" anchor="t">
            <a:spAutoFit/>
          </a:bodyPr>
          <a:lstStyle/>
          <a:p>
            <a:pPr algn="l">
              <a:spcAft>
                <a:spcPts val="400"/>
              </a:spcAft>
            </a:pPr>
            <a:r>
              <a:rPr sz="1200" b="1" i="0" u="none">
                <a:solidFill>
                  <a:srgbClr val="0F766E"/>
                </a:solidFill>
                <a:latin typeface="Noto Sans"/>
              </a:rPr>
              <a:t>WHAT WE BUILT — LIVE DEMO</a:t>
            </a:r>
          </a:p>
        </p:txBody>
      </p:sp>
      <p:sp>
        <p:nvSpPr>
          <p:cNvPr id="3" name="TextBox 2"/>
          <p:cNvSpPr txBox="1"/>
          <p:nvPr/>
        </p:nvSpPr>
        <p:spPr>
          <a:xfrm>
            <a:off x="822960" y="868680"/>
            <a:ext cx="10515600" cy="731520"/>
          </a:xfrm>
          <a:prstGeom prst="rect">
            <a:avLst/>
          </a:prstGeom>
          <a:noFill/>
        </p:spPr>
        <p:txBody>
          <a:bodyPr wrap="square" anchor="t">
            <a:spAutoFit/>
          </a:bodyPr>
          <a:lstStyle/>
          <a:p>
            <a:pPr algn="l">
              <a:spcAft>
                <a:spcPts val="400"/>
              </a:spcAft>
            </a:pPr>
            <a:r>
              <a:rPr sz="3200" b="1" i="0" u="none">
                <a:solidFill>
                  <a:srgbClr val="26231D"/>
                </a:solidFill>
                <a:latin typeface="Noto Sans"/>
              </a:rPr>
              <a:t>Viral TikToks become </a:t>
            </a:r>
            <a:r>
              <a:rPr sz="3200" b="1" i="0" u="sng">
                <a:solidFill>
                  <a:srgbClr val="0F766E"/>
                </a:solidFill>
                <a:latin typeface="Noto Sans"/>
              </a:rPr>
              <a:t>lessons</a:t>
            </a:r>
          </a:p>
        </p:txBody>
      </p:sp>
      <p:sp>
        <p:nvSpPr>
          <p:cNvPr id="4" name="TextBox 3"/>
          <p:cNvSpPr txBox="1"/>
          <p:nvPr/>
        </p:nvSpPr>
        <p:spPr>
          <a:xfrm>
            <a:off x="822960" y="1645920"/>
            <a:ext cx="10332720" cy="548640"/>
          </a:xfrm>
          <a:prstGeom prst="rect">
            <a:avLst/>
          </a:prstGeom>
          <a:noFill/>
        </p:spPr>
        <p:txBody>
          <a:bodyPr wrap="square" anchor="t">
            <a:spAutoFit/>
          </a:bodyPr>
          <a:lstStyle/>
          <a:p>
            <a:pPr algn="l">
              <a:spcAft>
                <a:spcPts val="400"/>
              </a:spcAft>
            </a:pPr>
            <a:r>
              <a:rPr sz="1550" b="0" i="0" u="none">
                <a:solidFill>
                  <a:srgbClr val="33302A"/>
                </a:solidFill>
                <a:latin typeface="Noto Sans"/>
              </a:rPr>
              <a:t>armenian.cc turns trending Armenian TikToks into interactive lessons for Russian speakers.</a:t>
            </a:r>
          </a:p>
        </p:txBody>
      </p:sp>
      <p:sp>
        <p:nvSpPr>
          <p:cNvPr id="5" name="Rounded Rectangle 4"/>
          <p:cNvSpPr/>
          <p:nvPr/>
        </p:nvSpPr>
        <p:spPr>
          <a:xfrm>
            <a:off x="822960" y="2286000"/>
            <a:ext cx="3401568" cy="160020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Watch real life</a:t>
            </a:r>
          </a:p>
          <a:p>
            <a:pPr algn="l"/>
            <a:r>
              <a:rPr sz="1200" b="0" i="0" u="none">
                <a:solidFill>
                  <a:srgbClr val="7D7462"/>
                </a:solidFill>
                <a:latin typeface="Noto Sans"/>
              </a:rPr>
              <a:t>Fresh viral videos from Armenian TikTok: jokes, street interviews, kitchens. The language exactly as people speak it.</a:t>
            </a:r>
          </a:p>
        </p:txBody>
      </p:sp>
      <p:sp>
        <p:nvSpPr>
          <p:cNvPr id="6" name="Rounded Rectangle 5"/>
          <p:cNvSpPr/>
          <p:nvPr/>
        </p:nvSpPr>
        <p:spPr>
          <a:xfrm>
            <a:off x="4379976" y="2286000"/>
            <a:ext cx="3401568" cy="160020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Replay phrase by phrase</a:t>
            </a:r>
          </a:p>
          <a:p>
            <a:pPr algn="l"/>
            <a:r>
              <a:rPr sz="1200" b="0" i="0" u="none">
                <a:solidFill>
                  <a:srgbClr val="7D7462"/>
                </a:solidFill>
                <a:latin typeface="Noto Sans"/>
              </a:rPr>
              <a:t>Tap any phrase to hear it again; each word lights up as it's spoken.</a:t>
            </a:r>
          </a:p>
        </p:txBody>
      </p:sp>
      <p:sp>
        <p:nvSpPr>
          <p:cNvPr id="7" name="Rounded Rectangle 6"/>
          <p:cNvSpPr/>
          <p:nvPr/>
        </p:nvSpPr>
        <p:spPr>
          <a:xfrm>
            <a:off x="7936992" y="2286000"/>
            <a:ext cx="3401568" cy="160020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Understand every word</a:t>
            </a:r>
          </a:p>
          <a:p>
            <a:pPr algn="l"/>
            <a:r>
              <a:rPr sz="1200" b="0" i="0" u="none">
                <a:solidFill>
                  <a:srgbClr val="7D7462"/>
                </a:solidFill>
                <a:latin typeface="Noto Sans"/>
              </a:rPr>
              <a:t>Hover a word for its Russian meaning in this exact context, with grammar notes.</a:t>
            </a:r>
          </a:p>
        </p:txBody>
      </p:sp>
      <p:sp>
        <p:nvSpPr>
          <p:cNvPr id="8" name="Rounded Rectangle 7"/>
          <p:cNvSpPr/>
          <p:nvPr/>
        </p:nvSpPr>
        <p:spPr>
          <a:xfrm>
            <a:off x="822960" y="4114800"/>
            <a:ext cx="1965960" cy="105156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u="none">
                <a:solidFill>
                  <a:srgbClr val="26231D"/>
                </a:solidFill>
                <a:latin typeface="Noto Sans Armenian"/>
              </a:rPr>
              <a:t>Սիրում</a:t>
            </a:r>
          </a:p>
          <a:p>
            <a:pPr algn="ctr"/>
            <a:r>
              <a:rPr sz="1200" b="0" i="0" u="none">
                <a:solidFill>
                  <a:srgbClr val="4A5E57"/>
                </a:solidFill>
                <a:latin typeface="Noto Sans"/>
              </a:rPr>
              <a:t>люблю</a:t>
            </a:r>
          </a:p>
        </p:txBody>
      </p:sp>
      <p:sp>
        <p:nvSpPr>
          <p:cNvPr id="9" name="Rounded Rectangle 8"/>
          <p:cNvSpPr/>
          <p:nvPr/>
        </p:nvSpPr>
        <p:spPr>
          <a:xfrm>
            <a:off x="2926080" y="4114800"/>
            <a:ext cx="1965960" cy="105156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u="none">
                <a:solidFill>
                  <a:srgbClr val="26231D"/>
                </a:solidFill>
                <a:latin typeface="Noto Sans Armenian"/>
              </a:rPr>
              <a:t>եմ</a:t>
            </a:r>
          </a:p>
          <a:p>
            <a:pPr algn="ctr"/>
            <a:r>
              <a:rPr sz="1200" b="0" i="0" u="none">
                <a:solidFill>
                  <a:srgbClr val="4A5E57"/>
                </a:solidFill>
                <a:latin typeface="Noto Sans"/>
              </a:rPr>
              <a:t>(вспом. «быть»)</a:t>
            </a:r>
          </a:p>
        </p:txBody>
      </p:sp>
      <p:sp>
        <p:nvSpPr>
          <p:cNvPr id="10" name="Rounded Rectangle 9"/>
          <p:cNvSpPr/>
          <p:nvPr/>
        </p:nvSpPr>
        <p:spPr>
          <a:xfrm>
            <a:off x="5029200" y="4114800"/>
            <a:ext cx="1965960" cy="105156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u="none">
                <a:solidFill>
                  <a:srgbClr val="26231D"/>
                </a:solidFill>
                <a:latin typeface="Noto Sans Armenian"/>
              </a:rPr>
              <a:t>քեզ</a:t>
            </a:r>
          </a:p>
          <a:p>
            <a:pPr algn="ctr"/>
            <a:r>
              <a:rPr sz="1200" b="0" i="0" u="none">
                <a:solidFill>
                  <a:srgbClr val="4A5E57"/>
                </a:solidFill>
                <a:latin typeface="Noto Sans"/>
              </a:rPr>
              <a:t>тебя</a:t>
            </a:r>
          </a:p>
        </p:txBody>
      </p:sp>
      <p:sp>
        <p:nvSpPr>
          <p:cNvPr id="11" name="TextBox 10"/>
          <p:cNvSpPr txBox="1"/>
          <p:nvPr/>
        </p:nvSpPr>
        <p:spPr>
          <a:xfrm>
            <a:off x="822960" y="5349240"/>
            <a:ext cx="10515600" cy="640080"/>
          </a:xfrm>
          <a:prstGeom prst="rect">
            <a:avLst/>
          </a:prstGeom>
          <a:noFill/>
        </p:spPr>
        <p:txBody>
          <a:bodyPr wrap="square" anchor="t">
            <a:spAutoFit/>
          </a:bodyPr>
          <a:lstStyle/>
          <a:p>
            <a:pPr algn="l">
              <a:spcAft>
                <a:spcPts val="400"/>
              </a:spcAft>
            </a:pPr>
            <a:r>
              <a:rPr sz="1250" b="0" i="0" u="none">
                <a:solidFill>
                  <a:srgbClr val="837A68"/>
                </a:solidFill>
                <a:latin typeface="Noto Sans"/>
              </a:rPr>
              <a:t>And since the lessons are whatever Armenia is watching right now, you absorb more than words: the memes, the humor, what the country cares about this week. Language plus cultural code is what integration is made of.</a:t>
            </a:r>
          </a:p>
        </p:txBody>
      </p:sp>
      <p:sp>
        <p:nvSpPr>
          <p:cNvPr id="12" name="TextBox 11"/>
          <p:cNvSpPr txBox="1"/>
          <p:nvPr/>
        </p:nvSpPr>
        <p:spPr>
          <a:xfrm>
            <a:off x="822960" y="6080760"/>
            <a:ext cx="10515600" cy="457200"/>
          </a:xfrm>
          <a:prstGeom prst="rect">
            <a:avLst/>
          </a:prstGeom>
          <a:noFill/>
        </p:spPr>
        <p:txBody>
          <a:bodyPr wrap="square" anchor="t">
            <a:spAutoFit/>
          </a:bodyPr>
          <a:lstStyle/>
          <a:p>
            <a:pPr algn="l">
              <a:spcAft>
                <a:spcPts val="400"/>
              </a:spcAft>
            </a:pPr>
            <a:r>
              <a:rPr sz="2400" b="1" i="0" u="none">
                <a:solidFill>
                  <a:srgbClr val="0F766E"/>
                </a:solidFill>
                <a:latin typeface="Noto Sans"/>
                <a:hlinkClick r:id="rId2"/>
              </a:rPr>
              <a:t>armenian.cc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square" anchor="t">
            <a:spAutoFit/>
          </a:bodyPr>
          <a:lstStyle/>
          <a:p>
            <a:pPr algn="l">
              <a:spcAft>
                <a:spcPts val="400"/>
              </a:spcAft>
            </a:pPr>
            <a:r>
              <a:rPr sz="1200" b="1" i="0" u="none">
                <a:solidFill>
                  <a:srgbClr val="0F766E"/>
                </a:solidFill>
                <a:latin typeface="Noto Sans"/>
              </a:rPr>
              <a:t>TO BE CLEAR</a:t>
            </a:r>
          </a:p>
        </p:txBody>
      </p:sp>
      <p:sp>
        <p:nvSpPr>
          <p:cNvPr id="3" name="TextBox 2"/>
          <p:cNvSpPr txBox="1"/>
          <p:nvPr/>
        </p:nvSpPr>
        <p:spPr>
          <a:xfrm>
            <a:off x="822960" y="868680"/>
            <a:ext cx="10515600" cy="731520"/>
          </a:xfrm>
          <a:prstGeom prst="rect">
            <a:avLst/>
          </a:prstGeom>
          <a:noFill/>
        </p:spPr>
        <p:txBody>
          <a:bodyPr wrap="square" anchor="t">
            <a:spAutoFit/>
          </a:bodyPr>
          <a:lstStyle/>
          <a:p>
            <a:pPr algn="l">
              <a:spcAft>
                <a:spcPts val="400"/>
              </a:spcAft>
            </a:pPr>
            <a:r>
              <a:rPr sz="3200" b="1" i="0" u="none">
                <a:solidFill>
                  <a:srgbClr val="26231D"/>
                </a:solidFill>
                <a:latin typeface="Noto Sans"/>
              </a:rPr>
              <a:t>What we came with, what we built </a:t>
            </a:r>
            <a:r>
              <a:rPr sz="3200" b="1" i="0" u="sng">
                <a:solidFill>
                  <a:srgbClr val="0F766E"/>
                </a:solidFill>
                <a:latin typeface="Noto Sans"/>
              </a:rPr>
              <a:t>here</a:t>
            </a:r>
          </a:p>
        </p:txBody>
      </p:sp>
      <p:sp>
        <p:nvSpPr>
          <p:cNvPr id="4" name="Rounded Rectangle 3"/>
          <p:cNvSpPr/>
          <p:nvPr/>
        </p:nvSpPr>
        <p:spPr>
          <a:xfrm>
            <a:off x="822960" y="2011680"/>
            <a:ext cx="5166360" cy="173736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Before the hackathon</a:t>
            </a:r>
          </a:p>
          <a:p>
            <a:pPr algn="l"/>
            <a:r>
              <a:rPr sz="1250" b="0" i="0" u="none">
                <a:solidFill>
                  <a:srgbClr val="7D7462"/>
                </a:solidFill>
                <a:latin typeface="Noto Sans"/>
              </a:rPr>
              <a:t>armenian.cc itself: the frontend, the backend video pipeline, the live site. An ongoing project.</a:t>
            </a:r>
          </a:p>
        </p:txBody>
      </p:sp>
      <p:sp>
        <p:nvSpPr>
          <p:cNvPr id="5" name="Rounded Rectangle 4"/>
          <p:cNvSpPr/>
          <p:nvPr/>
        </p:nvSpPr>
        <p:spPr>
          <a:xfrm>
            <a:off x="6172200" y="2011680"/>
            <a:ext cx="5166360" cy="1737360"/>
          </a:xfrm>
          <a:prstGeom prst="roundRect">
            <a:avLst>
              <a:gd name="adj" fmla="val 6000"/>
            </a:avLst>
          </a:prstGeom>
          <a:solidFill>
            <a:srgbClr val="EEF7F4"/>
          </a:solidFill>
          <a:ln w="12700">
            <a:solidFill>
              <a:srgbClr val="5FB3A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During the 24 hours</a:t>
            </a:r>
          </a:p>
          <a:p>
            <a:pPr algn="l"/>
            <a:r>
              <a:rPr sz="1250" b="0" i="0" u="none">
                <a:solidFill>
                  <a:srgbClr val="7D7462"/>
                </a:solidFill>
                <a:latin typeface="Noto Sans"/>
              </a:rPr>
              <a:t>Everything that makes it trustworthy: a ground-truth dataset of real Armenian speech, a 33-model speech recognition benchmark, and an evaluation of Armenian translation. The next two slides.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square" anchor="t">
            <a:spAutoFit/>
          </a:bodyPr>
          <a:lstStyle/>
          <a:p>
            <a:pPr algn="l">
              <a:spcAft>
                <a:spcPts val="400"/>
              </a:spcAft>
            </a:pPr>
            <a:r>
              <a:rPr sz="1200" b="1" i="0" u="none">
                <a:solidFill>
                  <a:srgbClr val="0F766E"/>
                </a:solidFill>
                <a:latin typeface="Noto Sans"/>
              </a:rPr>
              <a:t>BUILT AT THE HACKATHON · SPEECH RECOGNITION</a:t>
            </a:r>
          </a:p>
        </p:txBody>
      </p:sp>
      <p:sp>
        <p:nvSpPr>
          <p:cNvPr id="3" name="TextBox 2"/>
          <p:cNvSpPr txBox="1"/>
          <p:nvPr/>
        </p:nvSpPr>
        <p:spPr>
          <a:xfrm>
            <a:off x="822960" y="868680"/>
            <a:ext cx="10698480" cy="731520"/>
          </a:xfrm>
          <a:prstGeom prst="rect">
            <a:avLst/>
          </a:prstGeom>
          <a:noFill/>
        </p:spPr>
        <p:txBody>
          <a:bodyPr wrap="square" anchor="t">
            <a:spAutoFit/>
          </a:bodyPr>
          <a:lstStyle/>
          <a:p>
            <a:pPr algn="l">
              <a:spcAft>
                <a:spcPts val="400"/>
              </a:spcAft>
            </a:pPr>
            <a:r>
              <a:rPr sz="3000" b="1" i="0" u="none">
                <a:solidFill>
                  <a:srgbClr val="26231D"/>
                </a:solidFill>
                <a:latin typeface="Noto Sans"/>
              </a:rPr>
              <a:t>Can AI hear Armenian? We measured </a:t>
            </a:r>
            <a:r>
              <a:rPr sz="3000" b="1" i="0" u="sng">
                <a:solidFill>
                  <a:srgbClr val="0F766E"/>
                </a:solidFill>
                <a:latin typeface="Noto Sans"/>
              </a:rPr>
              <a:t>33 models</a:t>
            </a:r>
          </a:p>
        </p:txBody>
      </p:sp>
      <p:sp>
        <p:nvSpPr>
          <p:cNvPr id="4" name="TextBox 3"/>
          <p:cNvSpPr txBox="1"/>
          <p:nvPr/>
        </p:nvSpPr>
        <p:spPr>
          <a:xfrm>
            <a:off x="822960" y="1600200"/>
            <a:ext cx="10515600" cy="868680"/>
          </a:xfrm>
          <a:prstGeom prst="rect">
            <a:avLst/>
          </a:prstGeom>
          <a:noFill/>
        </p:spPr>
        <p:txBody>
          <a:bodyPr wrap="square" anchor="t">
            <a:spAutoFit/>
          </a:bodyPr>
          <a:lstStyle/>
          <a:p>
            <a:pPr algn="l">
              <a:spcAft>
                <a:spcPts val="400"/>
              </a:spcAft>
            </a:pPr>
            <a:r>
              <a:rPr sz="1400" b="0" i="0" u="none">
                <a:solidFill>
                  <a:srgbClr val="33302A"/>
                </a:solidFill>
                <a:latin typeface="Noto Sans"/>
              </a:rPr>
              <a:t>TikTok speech is its own world: noisy, informal, nothing like the read speech in existing Armenian datasets. So we built the ground truth ourselves: real TikTok audio, hand-corrected, split into five categories from formal speech to songs. Then we ran 33 ASR models against it.</a:t>
            </a:r>
          </a:p>
        </p:txBody>
      </p:sp>
      <p:graphicFrame>
        <p:nvGraphicFramePr>
          <p:cNvPr id="5" name="Table 4"/>
          <p:cNvGraphicFramePr>
            <a:graphicFrameLocks noGrp="1"/>
          </p:cNvGraphicFramePr>
          <p:nvPr/>
        </p:nvGraphicFramePr>
        <p:xfrm>
          <a:off x="822960" y="2606040"/>
          <a:ext cx="10515600" cy="2834640"/>
        </p:xfrm>
        <a:graphic>
          <a:graphicData uri="http://schemas.openxmlformats.org/drawingml/2006/table">
            <a:tbl>
              <a:tblPr>
                <a:tableStyleId>{5C22544A-7EE6-4342-B048-85BDC9FD1C3A}</a:tableStyleId>
              </a:tblPr>
              <a:tblGrid>
                <a:gridCol w="3017520"/>
                <a:gridCol w="868680"/>
                <a:gridCol w="1234440"/>
                <a:gridCol w="1234440"/>
                <a:gridCol w="868680"/>
                <a:gridCol w="1371600"/>
                <a:gridCol w="960120"/>
                <a:gridCol w="960120"/>
              </a:tblGrid>
              <a:tr h="404948">
                <a:tc>
                  <a:txBody>
                    <a:bodyPr/>
                    <a:lstStyle/>
                    <a:p>
                      <a:pPr algn="l"/>
                      <a:r>
                        <a:rPr sz="1150" b="1" i="0" u="none">
                          <a:solidFill>
                            <a:srgbClr val="26231D"/>
                          </a:solidFill>
                          <a:latin typeface="Noto Sans"/>
                        </a:rPr>
                        <a:t>Model · word error rate</a:t>
                      </a:r>
                    </a:p>
                  </a:txBody>
                  <a:tcPr anchor="ctr" marL="73152" marR="73152">
                    <a:solidFill>
                      <a:srgbClr val="F1ECE0"/>
                    </a:solidFill>
                  </a:tcPr>
                </a:tc>
                <a:tc>
                  <a:txBody>
                    <a:bodyPr/>
                    <a:lstStyle/>
                    <a:p>
                      <a:pPr algn="r"/>
                      <a:r>
                        <a:rPr sz="1150" b="1" i="0" u="none">
                          <a:solidFill>
                            <a:srgbClr val="26231D"/>
                          </a:solidFill>
                          <a:latin typeface="Noto Sans"/>
                        </a:rPr>
                        <a:t>Formal</a:t>
                      </a:r>
                    </a:p>
                  </a:txBody>
                  <a:tcPr anchor="ctr" marL="73152" marR="73152">
                    <a:solidFill>
                      <a:srgbClr val="F1ECE0"/>
                    </a:solidFill>
                  </a:tcPr>
                </a:tc>
                <a:tc>
                  <a:txBody>
                    <a:bodyPr/>
                    <a:lstStyle/>
                    <a:p>
                      <a:pPr algn="r"/>
                      <a:r>
                        <a:rPr sz="1150" b="1" i="0" u="none">
                          <a:solidFill>
                            <a:srgbClr val="26231D"/>
                          </a:solidFill>
                          <a:latin typeface="Noto Sans"/>
                        </a:rPr>
                        <a:t>Single speaker</a:t>
                      </a:r>
                    </a:p>
                  </a:txBody>
                  <a:tcPr anchor="ctr" marL="73152" marR="73152">
                    <a:solidFill>
                      <a:srgbClr val="F1ECE0"/>
                    </a:solidFill>
                  </a:tcPr>
                </a:tc>
                <a:tc>
                  <a:txBody>
                    <a:bodyPr/>
                    <a:lstStyle/>
                    <a:p>
                      <a:pPr algn="r"/>
                      <a:r>
                        <a:rPr sz="1150" b="1" i="0" u="none">
                          <a:solidFill>
                            <a:srgbClr val="26231D"/>
                          </a:solidFill>
                          <a:latin typeface="Noto Sans"/>
                        </a:rPr>
                        <a:t>Multi speaker</a:t>
                      </a:r>
                    </a:p>
                  </a:txBody>
                  <a:tcPr anchor="ctr" marL="73152" marR="73152">
                    <a:solidFill>
                      <a:srgbClr val="F1ECE0"/>
                    </a:solidFill>
                  </a:tcPr>
                </a:tc>
                <a:tc>
                  <a:txBody>
                    <a:bodyPr/>
                    <a:lstStyle/>
                    <a:p>
                      <a:pPr algn="r"/>
                      <a:r>
                        <a:rPr sz="1150" b="1" i="0" u="none">
                          <a:solidFill>
                            <a:srgbClr val="26231D"/>
                          </a:solidFill>
                          <a:latin typeface="Noto Sans"/>
                        </a:rPr>
                        <a:t>Songs</a:t>
                      </a:r>
                    </a:p>
                  </a:txBody>
                  <a:tcPr anchor="ctr" marL="73152" marR="73152">
                    <a:solidFill>
                      <a:srgbClr val="F1ECE0"/>
                    </a:solidFill>
                  </a:tcPr>
                </a:tc>
                <a:tc>
                  <a:txBody>
                    <a:bodyPr/>
                    <a:lstStyle/>
                    <a:p>
                      <a:pPr algn="r"/>
                      <a:r>
                        <a:rPr sz="1150" b="1" i="0" u="none">
                          <a:solidFill>
                            <a:srgbClr val="26231D"/>
                          </a:solidFill>
                          <a:latin typeface="Noto Sans"/>
                        </a:rPr>
                        <a:t>Difficult speech</a:t>
                      </a:r>
                    </a:p>
                  </a:txBody>
                  <a:tcPr anchor="ctr" marL="73152" marR="73152">
                    <a:solidFill>
                      <a:srgbClr val="F1ECE0"/>
                    </a:solidFill>
                  </a:tcPr>
                </a:tc>
                <a:tc>
                  <a:txBody>
                    <a:bodyPr/>
                    <a:lstStyle/>
                    <a:p>
                      <a:pPr algn="r"/>
                      <a:r>
                        <a:rPr sz="1150" b="1" i="0" u="none">
                          <a:solidFill>
                            <a:srgbClr val="26231D"/>
                          </a:solidFill>
                          <a:latin typeface="Noto Sans"/>
                        </a:rPr>
                        <a:t>Overall</a:t>
                      </a:r>
                    </a:p>
                  </a:txBody>
                  <a:tcPr anchor="ctr" marL="73152" marR="73152">
                    <a:solidFill>
                      <a:srgbClr val="F1ECE0"/>
                    </a:solidFill>
                  </a:tcPr>
                </a:tc>
                <a:tc>
                  <a:txBody>
                    <a:bodyPr/>
                    <a:lstStyle/>
                    <a:p>
                      <a:pPr algn="r"/>
                      <a:r>
                        <a:rPr sz="1150" b="1" i="0" u="none">
                          <a:solidFill>
                            <a:srgbClr val="26231D"/>
                          </a:solidFill>
                          <a:latin typeface="Noto Sans"/>
                        </a:rPr>
                        <a:t>Cost / hr</a:t>
                      </a:r>
                    </a:p>
                  </a:txBody>
                  <a:tcPr anchor="ctr" marL="73152" marR="73152">
                    <a:solidFill>
                      <a:srgbClr val="F1ECE0"/>
                    </a:solidFill>
                  </a:tcPr>
                </a:tc>
              </a:tr>
              <a:tr h="404948">
                <a:tc>
                  <a:txBody>
                    <a:bodyPr/>
                    <a:lstStyle/>
                    <a:p>
                      <a:pPr algn="l"/>
                      <a:r>
                        <a:rPr sz="1150" b="0" i="0" u="none">
                          <a:solidFill>
                            <a:srgbClr val="33302A"/>
                          </a:solidFill>
                          <a:latin typeface="Noto Sans"/>
                        </a:rPr>
                        <a:t>ElevenLabs Scribe v2  (what we ship)</a:t>
                      </a:r>
                    </a:p>
                  </a:txBody>
                  <a:tcPr anchor="ctr" marL="73152" marR="73152">
                    <a:solidFill>
                      <a:srgbClr val="FFFDF8"/>
                    </a:solidFill>
                  </a:tcPr>
                </a:tc>
                <a:tc>
                  <a:txBody>
                    <a:bodyPr/>
                    <a:lstStyle/>
                    <a:p>
                      <a:pPr algn="r"/>
                      <a:r>
                        <a:rPr sz="1150" b="1" i="0" u="none">
                          <a:solidFill>
                            <a:srgbClr val="26231D"/>
                          </a:solidFill>
                          <a:latin typeface="Noto Sans"/>
                        </a:rPr>
                        <a:t>2.1%</a:t>
                      </a:r>
                    </a:p>
                  </a:txBody>
                  <a:tcPr anchor="ctr" marL="73152" marR="73152">
                    <a:solidFill>
                      <a:srgbClr val="FFFDF8"/>
                    </a:solidFill>
                  </a:tcPr>
                </a:tc>
                <a:tc>
                  <a:txBody>
                    <a:bodyPr/>
                    <a:lstStyle/>
                    <a:p>
                      <a:pPr algn="r"/>
                      <a:r>
                        <a:rPr sz="1150" b="1" i="0" u="none">
                          <a:solidFill>
                            <a:srgbClr val="26231D"/>
                          </a:solidFill>
                          <a:latin typeface="Noto Sans"/>
                        </a:rPr>
                        <a:t>5.7%</a:t>
                      </a:r>
                    </a:p>
                  </a:txBody>
                  <a:tcPr anchor="ctr" marL="73152" marR="73152">
                    <a:solidFill>
                      <a:srgbClr val="FFFDF8"/>
                    </a:solidFill>
                  </a:tcPr>
                </a:tc>
                <a:tc>
                  <a:txBody>
                    <a:bodyPr/>
                    <a:lstStyle/>
                    <a:p>
                      <a:pPr algn="r"/>
                      <a:r>
                        <a:rPr sz="1150" b="0" i="0" u="none">
                          <a:solidFill>
                            <a:srgbClr val="33302A"/>
                          </a:solidFill>
                          <a:latin typeface="Noto Sans"/>
                        </a:rPr>
                        <a:t>15.4%</a:t>
                      </a:r>
                    </a:p>
                  </a:txBody>
                  <a:tcPr anchor="ctr" marL="73152" marR="73152">
                    <a:solidFill>
                      <a:srgbClr val="FFFDF8"/>
                    </a:solidFill>
                  </a:tcPr>
                </a:tc>
                <a:tc>
                  <a:txBody>
                    <a:bodyPr/>
                    <a:lstStyle/>
                    <a:p>
                      <a:pPr algn="r"/>
                      <a:r>
                        <a:rPr sz="1150" b="1" i="0" u="none">
                          <a:solidFill>
                            <a:srgbClr val="26231D"/>
                          </a:solidFill>
                          <a:latin typeface="Noto Sans"/>
                        </a:rPr>
                        <a:t>7.1%</a:t>
                      </a:r>
                    </a:p>
                  </a:txBody>
                  <a:tcPr anchor="ctr" marL="73152" marR="73152">
                    <a:solidFill>
                      <a:srgbClr val="FFFDF8"/>
                    </a:solidFill>
                  </a:tcPr>
                </a:tc>
                <a:tc>
                  <a:txBody>
                    <a:bodyPr/>
                    <a:lstStyle/>
                    <a:p>
                      <a:pPr algn="r"/>
                      <a:r>
                        <a:rPr sz="1150" b="1" i="0" u="none">
                          <a:solidFill>
                            <a:srgbClr val="26231D"/>
                          </a:solidFill>
                          <a:latin typeface="Noto Sans"/>
                        </a:rPr>
                        <a:t>16.7%</a:t>
                      </a:r>
                    </a:p>
                  </a:txBody>
                  <a:tcPr anchor="ctr" marL="73152" marR="73152">
                    <a:solidFill>
                      <a:srgbClr val="FFFDF8"/>
                    </a:solidFill>
                  </a:tcPr>
                </a:tc>
                <a:tc>
                  <a:txBody>
                    <a:bodyPr/>
                    <a:lstStyle/>
                    <a:p>
                      <a:pPr algn="r"/>
                      <a:r>
                        <a:rPr sz="1150" b="1" i="0" u="none">
                          <a:solidFill>
                            <a:srgbClr val="26231D"/>
                          </a:solidFill>
                          <a:latin typeface="Noto Sans"/>
                        </a:rPr>
                        <a:t>7.6%</a:t>
                      </a:r>
                    </a:p>
                  </a:txBody>
                  <a:tcPr anchor="ctr" marL="73152" marR="73152">
                    <a:solidFill>
                      <a:srgbClr val="FFFDF8"/>
                    </a:solidFill>
                  </a:tcPr>
                </a:tc>
                <a:tc>
                  <a:txBody>
                    <a:bodyPr/>
                    <a:lstStyle/>
                    <a:p>
                      <a:pPr algn="r"/>
                      <a:r>
                        <a:rPr sz="1150" b="0" i="0" u="none">
                          <a:solidFill>
                            <a:srgbClr val="33302A"/>
                          </a:solidFill>
                          <a:latin typeface="Noto Sans"/>
                        </a:rPr>
                        <a:t>$0.22</a:t>
                      </a:r>
                    </a:p>
                  </a:txBody>
                  <a:tcPr anchor="ctr" marL="73152" marR="73152">
                    <a:solidFill>
                      <a:srgbClr val="FFFDF8"/>
                    </a:solidFill>
                  </a:tcPr>
                </a:tc>
              </a:tr>
              <a:tr h="404948">
                <a:tc>
                  <a:txBody>
                    <a:bodyPr/>
                    <a:lstStyle/>
                    <a:p>
                      <a:pPr algn="l"/>
                      <a:r>
                        <a:rPr sz="1150" b="0" i="0" u="none">
                          <a:solidFill>
                            <a:srgbClr val="33302A"/>
                          </a:solidFill>
                          <a:latin typeface="Noto Sans"/>
                        </a:rPr>
                        <a:t>Gemini 3 Flash (preview)</a:t>
                      </a:r>
                    </a:p>
                  </a:txBody>
                  <a:tcPr anchor="ctr" marL="73152" marR="73152">
                    <a:solidFill>
                      <a:srgbClr val="FFFDF8"/>
                    </a:solidFill>
                  </a:tcPr>
                </a:tc>
                <a:tc>
                  <a:txBody>
                    <a:bodyPr/>
                    <a:lstStyle/>
                    <a:p>
                      <a:pPr algn="r"/>
                      <a:r>
                        <a:rPr sz="1150" b="1" i="0" u="none">
                          <a:solidFill>
                            <a:srgbClr val="26231D"/>
                          </a:solidFill>
                          <a:latin typeface="Noto Sans"/>
                        </a:rPr>
                        <a:t>2.1%</a:t>
                      </a:r>
                    </a:p>
                  </a:txBody>
                  <a:tcPr anchor="ctr" marL="73152" marR="73152">
                    <a:solidFill>
                      <a:srgbClr val="FFFDF8"/>
                    </a:solidFill>
                  </a:tcPr>
                </a:tc>
                <a:tc>
                  <a:txBody>
                    <a:bodyPr/>
                    <a:lstStyle/>
                    <a:p>
                      <a:pPr algn="r"/>
                      <a:r>
                        <a:rPr sz="1150" b="0" i="0" u="none">
                          <a:solidFill>
                            <a:srgbClr val="33302A"/>
                          </a:solidFill>
                          <a:latin typeface="Noto Sans"/>
                        </a:rPr>
                        <a:t>11.3%</a:t>
                      </a:r>
                    </a:p>
                  </a:txBody>
                  <a:tcPr anchor="ctr" marL="73152" marR="73152">
                    <a:solidFill>
                      <a:srgbClr val="FFFDF8"/>
                    </a:solidFill>
                  </a:tcPr>
                </a:tc>
                <a:tc>
                  <a:txBody>
                    <a:bodyPr/>
                    <a:lstStyle/>
                    <a:p>
                      <a:pPr algn="r"/>
                      <a:r>
                        <a:rPr sz="1150" b="1" i="0" u="none">
                          <a:solidFill>
                            <a:srgbClr val="26231D"/>
                          </a:solidFill>
                          <a:latin typeface="Noto Sans"/>
                        </a:rPr>
                        <a:t>12.8%</a:t>
                      </a:r>
                    </a:p>
                  </a:txBody>
                  <a:tcPr anchor="ctr" marL="73152" marR="73152">
                    <a:solidFill>
                      <a:srgbClr val="FFFDF8"/>
                    </a:solidFill>
                  </a:tcPr>
                </a:tc>
                <a:tc>
                  <a:txBody>
                    <a:bodyPr/>
                    <a:lstStyle/>
                    <a:p>
                      <a:pPr algn="r"/>
                      <a:r>
                        <a:rPr sz="1150" b="0" i="0" u="none">
                          <a:solidFill>
                            <a:srgbClr val="33302A"/>
                          </a:solidFill>
                          <a:latin typeface="Noto Sans"/>
                        </a:rPr>
                        <a:t>16.1%</a:t>
                      </a:r>
                    </a:p>
                  </a:txBody>
                  <a:tcPr anchor="ctr" marL="73152" marR="73152">
                    <a:solidFill>
                      <a:srgbClr val="FFFDF8"/>
                    </a:solidFill>
                  </a:tcPr>
                </a:tc>
                <a:tc>
                  <a:txBody>
                    <a:bodyPr/>
                    <a:lstStyle/>
                    <a:p>
                      <a:pPr algn="r"/>
                      <a:r>
                        <a:rPr sz="1150" b="0" i="0" u="none">
                          <a:solidFill>
                            <a:srgbClr val="33302A"/>
                          </a:solidFill>
                          <a:latin typeface="Noto Sans"/>
                        </a:rPr>
                        <a:t>19.4%</a:t>
                      </a:r>
                    </a:p>
                  </a:txBody>
                  <a:tcPr anchor="ctr" marL="73152" marR="73152">
                    <a:solidFill>
                      <a:srgbClr val="FFFDF8"/>
                    </a:solidFill>
                  </a:tcPr>
                </a:tc>
                <a:tc>
                  <a:txBody>
                    <a:bodyPr/>
                    <a:lstStyle/>
                    <a:p>
                      <a:pPr algn="r"/>
                      <a:r>
                        <a:rPr sz="1150" b="0" i="0" u="none">
                          <a:solidFill>
                            <a:srgbClr val="33302A"/>
                          </a:solidFill>
                          <a:latin typeface="Noto Sans"/>
                        </a:rPr>
                        <a:t>10.4%</a:t>
                      </a:r>
                    </a:p>
                  </a:txBody>
                  <a:tcPr anchor="ctr" marL="73152" marR="73152">
                    <a:solidFill>
                      <a:srgbClr val="FFFDF8"/>
                    </a:solidFill>
                  </a:tcPr>
                </a:tc>
                <a:tc>
                  <a:txBody>
                    <a:bodyPr/>
                    <a:lstStyle/>
                    <a:p>
                      <a:pPr algn="r"/>
                      <a:r>
                        <a:rPr sz="1150" b="1" i="0" u="none">
                          <a:solidFill>
                            <a:srgbClr val="26231D"/>
                          </a:solidFill>
                          <a:latin typeface="Noto Sans"/>
                        </a:rPr>
                        <a:t>$0.12</a:t>
                      </a:r>
                    </a:p>
                  </a:txBody>
                  <a:tcPr anchor="ctr" marL="73152" marR="73152">
                    <a:solidFill>
                      <a:srgbClr val="FFFDF8"/>
                    </a:solidFill>
                  </a:tcPr>
                </a:tc>
              </a:tr>
              <a:tr h="404948">
                <a:tc>
                  <a:txBody>
                    <a:bodyPr/>
                    <a:lstStyle/>
                    <a:p>
                      <a:pPr algn="l"/>
                      <a:r>
                        <a:rPr sz="1150" b="0" i="0" u="none">
                          <a:solidFill>
                            <a:srgbClr val="33302A"/>
                          </a:solidFill>
                          <a:latin typeface="Noto Sans"/>
                        </a:rPr>
                        <a:t>Gemini 3.6 Flash</a:t>
                      </a:r>
                    </a:p>
                  </a:txBody>
                  <a:tcPr anchor="ctr" marL="73152" marR="73152">
                    <a:solidFill>
                      <a:srgbClr val="FFFDF8"/>
                    </a:solidFill>
                  </a:tcPr>
                </a:tc>
                <a:tc>
                  <a:txBody>
                    <a:bodyPr/>
                    <a:lstStyle/>
                    <a:p>
                      <a:pPr algn="r"/>
                      <a:r>
                        <a:rPr sz="1150" b="0" i="0" u="none">
                          <a:solidFill>
                            <a:srgbClr val="33302A"/>
                          </a:solidFill>
                          <a:latin typeface="Noto Sans"/>
                        </a:rPr>
                        <a:t>3.2%</a:t>
                      </a:r>
                    </a:p>
                  </a:txBody>
                  <a:tcPr anchor="ctr" marL="73152" marR="73152">
                    <a:solidFill>
                      <a:srgbClr val="FFFDF8"/>
                    </a:solidFill>
                  </a:tcPr>
                </a:tc>
                <a:tc>
                  <a:txBody>
                    <a:bodyPr/>
                    <a:lstStyle/>
                    <a:p>
                      <a:pPr algn="r"/>
                      <a:r>
                        <a:rPr sz="1150" b="0" i="0" u="none">
                          <a:solidFill>
                            <a:srgbClr val="33302A"/>
                          </a:solidFill>
                          <a:latin typeface="Noto Sans"/>
                        </a:rPr>
                        <a:t>20.8%</a:t>
                      </a:r>
                    </a:p>
                  </a:txBody>
                  <a:tcPr anchor="ctr" marL="73152" marR="73152">
                    <a:solidFill>
                      <a:srgbClr val="FFFDF8"/>
                    </a:solidFill>
                  </a:tcPr>
                </a:tc>
                <a:tc>
                  <a:txBody>
                    <a:bodyPr/>
                    <a:lstStyle/>
                    <a:p>
                      <a:pPr algn="r"/>
                      <a:r>
                        <a:rPr sz="1150" b="0" i="0" u="none">
                          <a:solidFill>
                            <a:srgbClr val="33302A"/>
                          </a:solidFill>
                          <a:latin typeface="Noto Sans"/>
                        </a:rPr>
                        <a:t>20.5%</a:t>
                      </a:r>
                    </a:p>
                  </a:txBody>
                  <a:tcPr anchor="ctr" marL="73152" marR="73152">
                    <a:solidFill>
                      <a:srgbClr val="FFFDF8"/>
                    </a:solidFill>
                  </a:tcPr>
                </a:tc>
                <a:tc>
                  <a:txBody>
                    <a:bodyPr/>
                    <a:lstStyle/>
                    <a:p>
                      <a:pPr algn="r"/>
                      <a:r>
                        <a:rPr sz="1150" b="0" i="0" u="none">
                          <a:solidFill>
                            <a:srgbClr val="33302A"/>
                          </a:solidFill>
                          <a:latin typeface="Noto Sans"/>
                        </a:rPr>
                        <a:t>26.8%</a:t>
                      </a:r>
                    </a:p>
                  </a:txBody>
                  <a:tcPr anchor="ctr" marL="73152" marR="73152">
                    <a:solidFill>
                      <a:srgbClr val="FFFDF8"/>
                    </a:solidFill>
                  </a:tcPr>
                </a:tc>
                <a:tc>
                  <a:txBody>
                    <a:bodyPr/>
                    <a:lstStyle/>
                    <a:p>
                      <a:pPr algn="r"/>
                      <a:r>
                        <a:rPr sz="1150" b="0" i="0" u="none">
                          <a:solidFill>
                            <a:srgbClr val="33302A"/>
                          </a:solidFill>
                          <a:latin typeface="Noto Sans"/>
                        </a:rPr>
                        <a:t>19.4%</a:t>
                      </a:r>
                    </a:p>
                  </a:txBody>
                  <a:tcPr anchor="ctr" marL="73152" marR="73152">
                    <a:solidFill>
                      <a:srgbClr val="FFFDF8"/>
                    </a:solidFill>
                  </a:tcPr>
                </a:tc>
                <a:tc>
                  <a:txBody>
                    <a:bodyPr/>
                    <a:lstStyle/>
                    <a:p>
                      <a:pPr algn="r"/>
                      <a:r>
                        <a:rPr sz="1150" b="0" i="0" u="none">
                          <a:solidFill>
                            <a:srgbClr val="33302A"/>
                          </a:solidFill>
                          <a:latin typeface="Noto Sans"/>
                        </a:rPr>
                        <a:t>15.8%</a:t>
                      </a:r>
                    </a:p>
                  </a:txBody>
                  <a:tcPr anchor="ctr" marL="73152" marR="73152">
                    <a:solidFill>
                      <a:srgbClr val="FFFDF8"/>
                    </a:solidFill>
                  </a:tcPr>
                </a:tc>
                <a:tc>
                  <a:txBody>
                    <a:bodyPr/>
                    <a:lstStyle/>
                    <a:p>
                      <a:pPr algn="r"/>
                      <a:r>
                        <a:rPr sz="1150" b="0" i="0" u="none">
                          <a:solidFill>
                            <a:srgbClr val="33302A"/>
                          </a:solidFill>
                          <a:latin typeface="Noto Sans"/>
                        </a:rPr>
                        <a:t>$0.17</a:t>
                      </a:r>
                    </a:p>
                  </a:txBody>
                  <a:tcPr anchor="ctr" marL="73152" marR="73152">
                    <a:solidFill>
                      <a:srgbClr val="FFFDF8"/>
                    </a:solidFill>
                  </a:tcPr>
                </a:tc>
              </a:tr>
              <a:tr h="404948">
                <a:tc>
                  <a:txBody>
                    <a:bodyPr/>
                    <a:lstStyle/>
                    <a:p>
                      <a:pPr algn="l"/>
                      <a:r>
                        <a:rPr sz="1150" b="0" i="0" u="none">
                          <a:solidFill>
                            <a:srgbClr val="33302A"/>
                          </a:solidFill>
                          <a:latin typeface="Noto Sans"/>
                        </a:rPr>
                        <a:t>OpenAI gpt-transcribe</a:t>
                      </a:r>
                    </a:p>
                  </a:txBody>
                  <a:tcPr anchor="ctr" marL="73152" marR="73152">
                    <a:solidFill>
                      <a:srgbClr val="FFFDF8"/>
                    </a:solidFill>
                  </a:tcPr>
                </a:tc>
                <a:tc>
                  <a:txBody>
                    <a:bodyPr/>
                    <a:lstStyle/>
                    <a:p>
                      <a:pPr algn="r"/>
                      <a:r>
                        <a:rPr sz="1150" b="0" i="0" u="none">
                          <a:solidFill>
                            <a:srgbClr val="33302A"/>
                          </a:solidFill>
                          <a:latin typeface="Noto Sans"/>
                        </a:rPr>
                        <a:t>3.2%</a:t>
                      </a:r>
                    </a:p>
                  </a:txBody>
                  <a:tcPr anchor="ctr" marL="73152" marR="73152">
                    <a:solidFill>
                      <a:srgbClr val="FFFDF8"/>
                    </a:solidFill>
                  </a:tcPr>
                </a:tc>
                <a:tc>
                  <a:txBody>
                    <a:bodyPr/>
                    <a:lstStyle/>
                    <a:p>
                      <a:pPr algn="r"/>
                      <a:r>
                        <a:rPr sz="1150" b="0" i="0" u="none">
                          <a:solidFill>
                            <a:srgbClr val="33302A"/>
                          </a:solidFill>
                          <a:latin typeface="Noto Sans"/>
                        </a:rPr>
                        <a:t>20.8%</a:t>
                      </a:r>
                    </a:p>
                  </a:txBody>
                  <a:tcPr anchor="ctr" marL="73152" marR="73152">
                    <a:solidFill>
                      <a:srgbClr val="FFFDF8"/>
                    </a:solidFill>
                  </a:tcPr>
                </a:tc>
                <a:tc>
                  <a:txBody>
                    <a:bodyPr/>
                    <a:lstStyle/>
                    <a:p>
                      <a:pPr algn="r"/>
                      <a:r>
                        <a:rPr sz="1150" b="0" i="0" u="none">
                          <a:solidFill>
                            <a:srgbClr val="33302A"/>
                          </a:solidFill>
                          <a:latin typeface="Noto Sans"/>
                        </a:rPr>
                        <a:t>28.2%</a:t>
                      </a:r>
                    </a:p>
                  </a:txBody>
                  <a:tcPr anchor="ctr" marL="73152" marR="73152">
                    <a:solidFill>
                      <a:srgbClr val="FFFDF8"/>
                    </a:solidFill>
                  </a:tcPr>
                </a:tc>
                <a:tc>
                  <a:txBody>
                    <a:bodyPr/>
                    <a:lstStyle/>
                    <a:p>
                      <a:pPr algn="r"/>
                      <a:r>
                        <a:rPr sz="1150" b="0" i="0" u="none">
                          <a:solidFill>
                            <a:srgbClr val="33302A"/>
                          </a:solidFill>
                          <a:latin typeface="Noto Sans"/>
                        </a:rPr>
                        <a:t>21.4%</a:t>
                      </a:r>
                    </a:p>
                  </a:txBody>
                  <a:tcPr anchor="ctr" marL="73152" marR="73152">
                    <a:solidFill>
                      <a:srgbClr val="FFFDF8"/>
                    </a:solidFill>
                  </a:tcPr>
                </a:tc>
                <a:tc>
                  <a:txBody>
                    <a:bodyPr/>
                    <a:lstStyle/>
                    <a:p>
                      <a:pPr algn="r"/>
                      <a:r>
                        <a:rPr sz="1150" b="0" i="0" u="none">
                          <a:solidFill>
                            <a:srgbClr val="33302A"/>
                          </a:solidFill>
                          <a:latin typeface="Noto Sans"/>
                        </a:rPr>
                        <a:t>47.2%</a:t>
                      </a:r>
                    </a:p>
                  </a:txBody>
                  <a:tcPr anchor="ctr" marL="73152" marR="73152">
                    <a:solidFill>
                      <a:srgbClr val="FFFDF8"/>
                    </a:solidFill>
                  </a:tcPr>
                </a:tc>
                <a:tc>
                  <a:txBody>
                    <a:bodyPr/>
                    <a:lstStyle/>
                    <a:p>
                      <a:pPr algn="r"/>
                      <a:r>
                        <a:rPr sz="1150" b="0" i="0" u="none">
                          <a:solidFill>
                            <a:srgbClr val="33302A"/>
                          </a:solidFill>
                          <a:latin typeface="Noto Sans"/>
                        </a:rPr>
                        <a:t>19.4%</a:t>
                      </a:r>
                    </a:p>
                  </a:txBody>
                  <a:tcPr anchor="ctr" marL="73152" marR="73152">
                    <a:solidFill>
                      <a:srgbClr val="FFFDF8"/>
                    </a:solidFill>
                  </a:tcPr>
                </a:tc>
                <a:tc>
                  <a:txBody>
                    <a:bodyPr/>
                    <a:lstStyle/>
                    <a:p>
                      <a:pPr algn="r"/>
                      <a:r>
                        <a:rPr sz="1150" b="0" i="0" u="none">
                          <a:solidFill>
                            <a:srgbClr val="33302A"/>
                          </a:solidFill>
                          <a:latin typeface="Noto Sans"/>
                        </a:rPr>
                        <a:t>$0.27</a:t>
                      </a:r>
                    </a:p>
                  </a:txBody>
                  <a:tcPr anchor="ctr" marL="73152" marR="73152">
                    <a:solidFill>
                      <a:srgbClr val="FFFDF8"/>
                    </a:solidFill>
                  </a:tcPr>
                </a:tc>
              </a:tr>
              <a:tr h="404948">
                <a:tc>
                  <a:txBody>
                    <a:bodyPr/>
                    <a:lstStyle/>
                    <a:p>
                      <a:pPr algn="l"/>
                      <a:r>
                        <a:rPr sz="1150" b="0" i="0" u="none">
                          <a:solidFill>
                            <a:srgbClr val="33302A"/>
                          </a:solidFill>
                          <a:latin typeface="Noto Sans"/>
                        </a:rPr>
                        <a:t>OpenAI Whisper-1</a:t>
                      </a:r>
                    </a:p>
                  </a:txBody>
                  <a:tcPr anchor="ctr" marL="73152" marR="73152">
                    <a:solidFill>
                      <a:srgbClr val="FFFDF8"/>
                    </a:solidFill>
                  </a:tcPr>
                </a:tc>
                <a:tc>
                  <a:txBody>
                    <a:bodyPr/>
                    <a:lstStyle/>
                    <a:p>
                      <a:pPr algn="r"/>
                      <a:r>
                        <a:rPr sz="1150" b="0" i="0" u="none">
                          <a:solidFill>
                            <a:srgbClr val="33302A"/>
                          </a:solidFill>
                          <a:latin typeface="Noto Sans"/>
                        </a:rPr>
                        <a:t>35.1%</a:t>
                      </a:r>
                    </a:p>
                  </a:txBody>
                  <a:tcPr anchor="ctr" marL="73152" marR="73152">
                    <a:solidFill>
                      <a:srgbClr val="FFFDF8"/>
                    </a:solidFill>
                  </a:tcPr>
                </a:tc>
                <a:tc>
                  <a:txBody>
                    <a:bodyPr/>
                    <a:lstStyle/>
                    <a:p>
                      <a:pPr algn="r"/>
                      <a:r>
                        <a:rPr sz="1150" b="0" i="0" u="none">
                          <a:solidFill>
                            <a:srgbClr val="33302A"/>
                          </a:solidFill>
                          <a:latin typeface="Noto Sans"/>
                        </a:rPr>
                        <a:t>71.7%</a:t>
                      </a:r>
                    </a:p>
                  </a:txBody>
                  <a:tcPr anchor="ctr" marL="73152" marR="73152">
                    <a:solidFill>
                      <a:srgbClr val="FFFDF8"/>
                    </a:solidFill>
                  </a:tcPr>
                </a:tc>
                <a:tc>
                  <a:txBody>
                    <a:bodyPr/>
                    <a:lstStyle/>
                    <a:p>
                      <a:pPr algn="r"/>
                      <a:r>
                        <a:rPr sz="1150" b="0" i="0" u="none">
                          <a:solidFill>
                            <a:srgbClr val="33302A"/>
                          </a:solidFill>
                          <a:latin typeface="Noto Sans"/>
                        </a:rPr>
                        <a:t>74.4%</a:t>
                      </a:r>
                    </a:p>
                  </a:txBody>
                  <a:tcPr anchor="ctr" marL="73152" marR="73152">
                    <a:solidFill>
                      <a:srgbClr val="FFFDF8"/>
                    </a:solidFill>
                  </a:tcPr>
                </a:tc>
                <a:tc>
                  <a:txBody>
                    <a:bodyPr/>
                    <a:lstStyle/>
                    <a:p>
                      <a:pPr algn="r"/>
                      <a:r>
                        <a:rPr sz="1150" b="0" i="0" u="none">
                          <a:solidFill>
                            <a:srgbClr val="33302A"/>
                          </a:solidFill>
                          <a:latin typeface="Noto Sans"/>
                        </a:rPr>
                        <a:t>44.6%</a:t>
                      </a:r>
                    </a:p>
                  </a:txBody>
                  <a:tcPr anchor="ctr" marL="73152" marR="73152">
                    <a:solidFill>
                      <a:srgbClr val="FFFDF8"/>
                    </a:solidFill>
                  </a:tcPr>
                </a:tc>
                <a:tc>
                  <a:txBody>
                    <a:bodyPr/>
                    <a:lstStyle/>
                    <a:p>
                      <a:pPr algn="r"/>
                      <a:r>
                        <a:rPr sz="1150" b="0" i="0" u="none">
                          <a:solidFill>
                            <a:srgbClr val="33302A"/>
                          </a:solidFill>
                          <a:latin typeface="Noto Sans"/>
                        </a:rPr>
                        <a:t>61.1%</a:t>
                      </a:r>
                    </a:p>
                  </a:txBody>
                  <a:tcPr anchor="ctr" marL="73152" marR="73152">
                    <a:solidFill>
                      <a:srgbClr val="FFFDF8"/>
                    </a:solidFill>
                  </a:tcPr>
                </a:tc>
                <a:tc>
                  <a:txBody>
                    <a:bodyPr/>
                    <a:lstStyle/>
                    <a:p>
                      <a:pPr algn="r"/>
                      <a:r>
                        <a:rPr sz="1150" b="0" i="0" u="none">
                          <a:solidFill>
                            <a:srgbClr val="33302A"/>
                          </a:solidFill>
                          <a:latin typeface="Noto Sans"/>
                        </a:rPr>
                        <a:t>52.9%</a:t>
                      </a:r>
                    </a:p>
                  </a:txBody>
                  <a:tcPr anchor="ctr" marL="73152" marR="73152">
                    <a:solidFill>
                      <a:srgbClr val="FFFDF8"/>
                    </a:solidFill>
                  </a:tcPr>
                </a:tc>
                <a:tc>
                  <a:txBody>
                    <a:bodyPr/>
                    <a:lstStyle/>
                    <a:p>
                      <a:pPr algn="r"/>
                      <a:r>
                        <a:rPr sz="1150" b="0" i="0" u="none">
                          <a:solidFill>
                            <a:srgbClr val="33302A"/>
                          </a:solidFill>
                          <a:latin typeface="Noto Sans"/>
                        </a:rPr>
                        <a:t>$0.36</a:t>
                      </a:r>
                    </a:p>
                  </a:txBody>
                  <a:tcPr anchor="ctr" marL="73152" marR="73152">
                    <a:solidFill>
                      <a:srgbClr val="FFFDF8"/>
                    </a:solidFill>
                  </a:tcPr>
                </a:tc>
              </a:tr>
              <a:tr h="404952">
                <a:tc gridSpan="8">
                  <a:txBody>
                    <a:bodyPr/>
                    <a:lstStyle/>
                    <a:p>
                      <a:r>
                        <a:rPr sz="1150" b="0" i="0" u="none">
                          <a:solidFill>
                            <a:srgbClr val="837A68"/>
                          </a:solidFill>
                          <a:latin typeface="Noto Sans"/>
                        </a:rPr>
                        <a:t>…28 more in the repo: </a:t>
                      </a:r>
                      <a:r>
                        <a:rPr sz="1150" b="0" i="0" u="sng">
                          <a:solidFill>
                            <a:srgbClr val="837A68"/>
                          </a:solidFill>
                          <a:latin typeface="Noto Sans"/>
                          <a:hlinkClick r:id="rId2"/>
                        </a:rPr>
                        <a:t>github.com/SilviAvayan/Armenian.cc/blob/main/ASR_EVALUATION.md</a:t>
                      </a:r>
                    </a:p>
                  </a:txBody>
                  <a:tcPr>
                    <a:solidFill>
                      <a:srgbClr val="FFFDF8"/>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bl>
          </a:graphicData>
        </a:graphic>
      </p:graphicFrame>
      <p:sp>
        <p:nvSpPr>
          <p:cNvPr id="6" name="TextBox 5"/>
          <p:cNvSpPr txBox="1"/>
          <p:nvPr/>
        </p:nvSpPr>
        <p:spPr>
          <a:xfrm>
            <a:off x="822960" y="5623560"/>
            <a:ext cx="10515600" cy="548640"/>
          </a:xfrm>
          <a:prstGeom prst="rect">
            <a:avLst/>
          </a:prstGeom>
          <a:noFill/>
        </p:spPr>
        <p:txBody>
          <a:bodyPr wrap="square" anchor="t">
            <a:spAutoFit/>
          </a:bodyPr>
          <a:lstStyle/>
          <a:p>
            <a:pPr algn="l">
              <a:spcAft>
                <a:spcPts val="400"/>
              </a:spcAft>
            </a:pPr>
            <a:r>
              <a:rPr sz="1200" b="0" i="0" u="none">
                <a:solidFill>
                  <a:srgbClr val="837A68"/>
                </a:solidFill>
                <a:latin typeface="Noto Sans"/>
              </a:rPr>
              <a:t>Cost is per hour of audio (from OpenRouter pricing). We ship the winner: best on real speech, plus the per-word timestamps and recognition confidence our platform needs.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square" anchor="t">
            <a:spAutoFit/>
          </a:bodyPr>
          <a:lstStyle/>
          <a:p>
            <a:pPr algn="l">
              <a:spcAft>
                <a:spcPts val="400"/>
              </a:spcAft>
            </a:pPr>
            <a:r>
              <a:rPr sz="1200" b="1" i="0" u="none">
                <a:solidFill>
                  <a:srgbClr val="0F766E"/>
                </a:solidFill>
                <a:latin typeface="Noto Sans"/>
              </a:rPr>
              <a:t>BUILT AT THE HACKATHON · TRANSLATION</a:t>
            </a:r>
          </a:p>
        </p:txBody>
      </p:sp>
      <p:sp>
        <p:nvSpPr>
          <p:cNvPr id="3" name="TextBox 2"/>
          <p:cNvSpPr txBox="1"/>
          <p:nvPr/>
        </p:nvSpPr>
        <p:spPr>
          <a:xfrm>
            <a:off x="822960" y="868680"/>
            <a:ext cx="10698480" cy="731520"/>
          </a:xfrm>
          <a:prstGeom prst="rect">
            <a:avLst/>
          </a:prstGeom>
          <a:noFill/>
        </p:spPr>
        <p:txBody>
          <a:bodyPr wrap="square" anchor="t">
            <a:spAutoFit/>
          </a:bodyPr>
          <a:lstStyle/>
          <a:p>
            <a:pPr algn="l">
              <a:spcAft>
                <a:spcPts val="400"/>
              </a:spcAft>
            </a:pPr>
            <a:r>
              <a:rPr sz="3200" b="1" i="0" u="none">
                <a:solidFill>
                  <a:srgbClr val="26231D"/>
                </a:solidFill>
                <a:latin typeface="Noto Sans"/>
              </a:rPr>
              <a:t>Can you trust what it says the words </a:t>
            </a:r>
            <a:r>
              <a:rPr sz="3200" b="1" i="0" u="sng">
                <a:solidFill>
                  <a:srgbClr val="0F766E"/>
                </a:solidFill>
                <a:latin typeface="Noto Sans"/>
              </a:rPr>
              <a:t>mean</a:t>
            </a:r>
            <a:r>
              <a:rPr sz="3200" b="1" i="0" u="none">
                <a:solidFill>
                  <a:srgbClr val="26231D"/>
                </a:solidFill>
                <a:latin typeface="Noto Sans"/>
              </a:rPr>
              <a:t>?</a:t>
            </a:r>
          </a:p>
        </p:txBody>
      </p:sp>
      <p:sp>
        <p:nvSpPr>
          <p:cNvPr id="4" name="Rounded Rectangle 3"/>
          <p:cNvSpPr/>
          <p:nvPr/>
        </p:nvSpPr>
        <p:spPr>
          <a:xfrm>
            <a:off x="822960" y="2011680"/>
            <a:ext cx="10515600" cy="182880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TBD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square" anchor="t">
            <a:spAutoFit/>
          </a:bodyPr>
          <a:lstStyle/>
          <a:p>
            <a:pPr algn="l">
              <a:spcAft>
                <a:spcPts val="400"/>
              </a:spcAft>
            </a:pPr>
            <a:r>
              <a:rPr sz="1200" b="1" i="0" u="none">
                <a:solidFill>
                  <a:srgbClr val="0F766E"/>
                </a:solidFill>
                <a:latin typeface="Noto Sans"/>
              </a:rPr>
              <a:t>LIMITATIONS · FAILURE MODES · SAFETY</a:t>
            </a:r>
          </a:p>
        </p:txBody>
      </p:sp>
      <p:sp>
        <p:nvSpPr>
          <p:cNvPr id="3" name="TextBox 2"/>
          <p:cNvSpPr txBox="1"/>
          <p:nvPr/>
        </p:nvSpPr>
        <p:spPr>
          <a:xfrm>
            <a:off x="822960" y="868680"/>
            <a:ext cx="10698480" cy="731520"/>
          </a:xfrm>
          <a:prstGeom prst="rect">
            <a:avLst/>
          </a:prstGeom>
          <a:noFill/>
        </p:spPr>
        <p:txBody>
          <a:bodyPr wrap="square" anchor="t">
            <a:spAutoFit/>
          </a:bodyPr>
          <a:lstStyle/>
          <a:p>
            <a:pPr algn="l">
              <a:spcAft>
                <a:spcPts val="400"/>
              </a:spcAft>
            </a:pPr>
            <a:r>
              <a:rPr sz="3200" b="1" i="0" u="none">
                <a:solidFill>
                  <a:srgbClr val="26231D"/>
                </a:solidFill>
                <a:latin typeface="Noto Sans"/>
              </a:rPr>
              <a:t>We know </a:t>
            </a:r>
            <a:r>
              <a:rPr sz="3200" b="1" i="0" u="sng">
                <a:solidFill>
                  <a:srgbClr val="0F766E"/>
                </a:solidFill>
                <a:latin typeface="Noto Sans"/>
              </a:rPr>
              <a:t>where it breaks</a:t>
            </a:r>
            <a:r>
              <a:rPr sz="3200" b="1" i="0" u="none">
                <a:solidFill>
                  <a:srgbClr val="26231D"/>
                </a:solidFill>
                <a:latin typeface="Noto Sans"/>
              </a:rPr>
              <a:t>, and what stops it</a:t>
            </a:r>
          </a:p>
        </p:txBody>
      </p:sp>
      <p:sp>
        <p:nvSpPr>
          <p:cNvPr id="4" name="Rounded Rectangle 3"/>
          <p:cNvSpPr/>
          <p:nvPr/>
        </p:nvSpPr>
        <p:spPr>
          <a:xfrm>
            <a:off x="822960" y="2103120"/>
            <a:ext cx="3401568" cy="201168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TBD</a:t>
            </a:r>
          </a:p>
        </p:txBody>
      </p:sp>
      <p:sp>
        <p:nvSpPr>
          <p:cNvPr id="5" name="Rounded Rectangle 4"/>
          <p:cNvSpPr/>
          <p:nvPr/>
        </p:nvSpPr>
        <p:spPr>
          <a:xfrm>
            <a:off x="4379976" y="2103120"/>
            <a:ext cx="3401568" cy="201168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TBD</a:t>
            </a:r>
          </a:p>
        </p:txBody>
      </p:sp>
      <p:sp>
        <p:nvSpPr>
          <p:cNvPr id="6" name="Rounded Rectangle 5"/>
          <p:cNvSpPr/>
          <p:nvPr/>
        </p:nvSpPr>
        <p:spPr>
          <a:xfrm>
            <a:off x="7936992" y="2103120"/>
            <a:ext cx="3401568" cy="2011680"/>
          </a:xfrm>
          <a:prstGeom prst="roundRect">
            <a:avLst>
              <a:gd name="adj" fmla="val 6000"/>
            </a:avLst>
          </a:prstGeom>
          <a:solidFill>
            <a:srgbClr val="EEF7F4"/>
          </a:solidFill>
          <a:ln w="12700">
            <a:solidFill>
              <a:srgbClr val="5FB3A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Guardrails in production</a:t>
            </a:r>
          </a:p>
          <a:p>
            <a:pPr algn="l"/>
            <a:r>
              <a:rPr sz="1200" b="0" i="0" u="none">
                <a:solidFill>
                  <a:srgbClr val="7D7462"/>
                </a:solidFill>
                <a:latin typeface="Noto Sans"/>
              </a:rPr>
              <a:t>Videos that fail checks never publish: low confidence in speech recognition, no speech, non-Armenian, prohibited content. Errors we find are corrected by hand.</a:t>
            </a:r>
          </a:p>
        </p:txBody>
      </p:sp>
      <p:sp>
        <p:nvSpPr>
          <p:cNvPr id="7" name="TextBox 6"/>
          <p:cNvSpPr txBox="1"/>
          <p:nvPr/>
        </p:nvSpPr>
        <p:spPr>
          <a:xfrm>
            <a:off x="822960" y="4434840"/>
            <a:ext cx="10515600" cy="548640"/>
          </a:xfrm>
          <a:prstGeom prst="rect">
            <a:avLst/>
          </a:prstGeom>
          <a:noFill/>
        </p:spPr>
        <p:txBody>
          <a:bodyPr wrap="square" anchor="t">
            <a:spAutoFit/>
          </a:bodyPr>
          <a:lstStyle/>
          <a:p>
            <a:pPr algn="l">
              <a:spcAft>
                <a:spcPts val="400"/>
              </a:spcAft>
            </a:pPr>
            <a:r>
              <a:rPr sz="1300" b="0" i="0" u="none">
                <a:solidFill>
                  <a:srgbClr val="837A68"/>
                </a:solidFill>
                <a:latin typeface="Noto Sans"/>
              </a:rPr>
              <a:t>Who could it harm? A learner memorizing a wrong meaning. Every layer above exists to prevent exactly that.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square" anchor="t">
            <a:spAutoFit/>
          </a:bodyPr>
          <a:lstStyle/>
          <a:p>
            <a:pPr algn="l">
              <a:spcAft>
                <a:spcPts val="400"/>
              </a:spcAft>
            </a:pPr>
            <a:r>
              <a:rPr sz="1200" b="1" i="0" u="none">
                <a:solidFill>
                  <a:srgbClr val="0F766E"/>
                </a:solidFill>
                <a:latin typeface="Noto Sans"/>
              </a:rPr>
              <a:t>REAL-WORLD FEASIBILITY · REPRODUCIBILITY</a:t>
            </a:r>
          </a:p>
        </p:txBody>
      </p:sp>
      <p:sp>
        <p:nvSpPr>
          <p:cNvPr id="3" name="TextBox 2"/>
          <p:cNvSpPr txBox="1"/>
          <p:nvPr/>
        </p:nvSpPr>
        <p:spPr>
          <a:xfrm>
            <a:off x="822960" y="868680"/>
            <a:ext cx="10698480" cy="731520"/>
          </a:xfrm>
          <a:prstGeom prst="rect">
            <a:avLst/>
          </a:prstGeom>
          <a:noFill/>
        </p:spPr>
        <p:txBody>
          <a:bodyPr wrap="square" anchor="t">
            <a:spAutoFit/>
          </a:bodyPr>
          <a:lstStyle/>
          <a:p>
            <a:pPr algn="l">
              <a:spcAft>
                <a:spcPts val="400"/>
              </a:spcAft>
            </a:pPr>
            <a:r>
              <a:rPr sz="3200" b="1" i="0" u="none">
                <a:solidFill>
                  <a:srgbClr val="26231D"/>
                </a:solidFill>
                <a:latin typeface="Noto Sans"/>
              </a:rPr>
              <a:t>Not a demo — </a:t>
            </a:r>
            <a:r>
              <a:rPr sz="3200" b="1" i="0" u="sng">
                <a:solidFill>
                  <a:srgbClr val="0F766E"/>
                </a:solidFill>
                <a:latin typeface="Noto Sans"/>
              </a:rPr>
              <a:t>running every day</a:t>
            </a:r>
            <a:r>
              <a:rPr sz="3200" b="1" i="0" u="none">
                <a:solidFill>
                  <a:srgbClr val="26231D"/>
                </a:solidFill>
                <a:latin typeface="Noto Sans"/>
              </a:rPr>
              <a:t> on real data</a:t>
            </a:r>
          </a:p>
        </p:txBody>
      </p:sp>
      <p:sp>
        <p:nvSpPr>
          <p:cNvPr id="4" name="Rounded Rectangle 3"/>
          <p:cNvSpPr/>
          <p:nvPr/>
        </p:nvSpPr>
        <p:spPr>
          <a:xfrm>
            <a:off x="822960" y="2103120"/>
            <a:ext cx="3401568" cy="169164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Live and automatic</a:t>
            </a:r>
          </a:p>
          <a:p>
            <a:pPr algn="l"/>
            <a:r>
              <a:rPr sz="1200" b="0" i="0" u="none">
                <a:solidFill>
                  <a:srgbClr val="7D7462"/>
                </a:solidFill>
                <a:latin typeface="Noto Sans"/>
              </a:rPr>
              <a:t>Deployed at armenian.cc. New trending videos become lessons on a daily schedule, with no humans in the loop.</a:t>
            </a:r>
          </a:p>
        </p:txBody>
      </p:sp>
      <p:sp>
        <p:nvSpPr>
          <p:cNvPr id="5" name="Rounded Rectangle 4"/>
          <p:cNvSpPr/>
          <p:nvPr/>
        </p:nvSpPr>
        <p:spPr>
          <a:xfrm>
            <a:off x="4379976" y="2103120"/>
            <a:ext cx="3401568" cy="169164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Cost and latency</a:t>
            </a:r>
          </a:p>
          <a:p>
            <a:pPr algn="l"/>
            <a:r>
              <a:rPr sz="1200" b="0" i="0" u="none">
                <a:solidFill>
                  <a:srgbClr val="7D7462"/>
                </a:solidFill>
                <a:latin typeface="Noto Sans"/>
              </a:rPr>
              <a:t>One new video: $0.005 in API costs and 1 minute of processing, end to end.</a:t>
            </a:r>
          </a:p>
        </p:txBody>
      </p:sp>
      <p:sp>
        <p:nvSpPr>
          <p:cNvPr id="6" name="Rounded Rectangle 5"/>
          <p:cNvSpPr/>
          <p:nvPr/>
        </p:nvSpPr>
        <p:spPr>
          <a:xfrm>
            <a:off x="7936992" y="2103120"/>
            <a:ext cx="3401568" cy="1691640"/>
          </a:xfrm>
          <a:prstGeom prst="roundRect">
            <a:avLst>
              <a:gd name="adj" fmla="val 6000"/>
            </a:avLst>
          </a:prstGeom>
          <a:solidFill>
            <a:srgbClr val="FFFDF8"/>
          </a:solidFill>
          <a:ln w="12700">
            <a:solidFill>
              <a:srgbClr val="E8E0D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l">
              <a:spcAft>
                <a:spcPts val="400"/>
              </a:spcAft>
            </a:pPr>
            <a:r>
              <a:rPr sz="1400" b="1" i="0" u="none">
                <a:solidFill>
                  <a:srgbClr val="26231D"/>
                </a:solidFill>
                <a:latin typeface="Noto Sans"/>
              </a:rPr>
              <a:t>Reproducible</a:t>
            </a:r>
          </a:p>
          <a:p>
            <a:pPr algn="l"/>
            <a:r>
              <a:rPr sz="1200" b="0" i="0" u="none">
                <a:solidFill>
                  <a:srgbClr val="7D7462"/>
                </a:solidFill>
                <a:latin typeface="Noto Sans"/>
              </a:rPr>
              <a:t>The ground-truth dataset and the whole evaluation live in an open repo and rerun with one command.</a:t>
            </a:r>
          </a:p>
        </p:txBody>
      </p:sp>
      <p:sp>
        <p:nvSpPr>
          <p:cNvPr id="7" name="TextBox 6"/>
          <p:cNvSpPr txBox="1"/>
          <p:nvPr/>
        </p:nvSpPr>
        <p:spPr>
          <a:xfrm>
            <a:off x="822960" y="4114800"/>
            <a:ext cx="10698480" cy="548640"/>
          </a:xfrm>
          <a:prstGeom prst="rect">
            <a:avLst/>
          </a:prstGeom>
          <a:noFill/>
        </p:spPr>
        <p:txBody>
          <a:bodyPr wrap="square" anchor="t">
            <a:spAutoFit/>
          </a:bodyPr>
          <a:lstStyle/>
          <a:p>
            <a:pPr algn="l">
              <a:spcAft>
                <a:spcPts val="400"/>
              </a:spcAft>
            </a:pPr>
            <a:r>
              <a:rPr sz="1300" b="0" i="0" u="none">
                <a:solidFill>
                  <a:srgbClr val="837A68"/>
                </a:solidFill>
                <a:latin typeface="Noto Sans"/>
              </a:rPr>
              <a:t>Everything we've built during the hackathon: the dataset, the benchmark, and the evaluation code, under the Apache-2.0 license: </a:t>
            </a:r>
            <a:r>
              <a:rPr sz="1300" b="0" i="0" u="sng">
                <a:solidFill>
                  <a:srgbClr val="837A68"/>
                </a:solidFill>
                <a:latin typeface="Noto Sans"/>
                <a:hlinkClick r:id="rId2"/>
              </a:rPr>
              <a:t>github.com/SilviAvayan/Armenian.cc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822960" y="1920240"/>
            <a:ext cx="10515600" cy="365760"/>
          </a:xfrm>
          <a:prstGeom prst="rect">
            <a:avLst/>
          </a:prstGeom>
          <a:noFill/>
        </p:spPr>
        <p:txBody>
          <a:bodyPr wrap="square" anchor="t">
            <a:spAutoFit/>
          </a:bodyPr>
          <a:lstStyle/>
          <a:p>
            <a:pPr algn="l">
              <a:spcAft>
                <a:spcPts val="400"/>
              </a:spcAft>
            </a:pPr>
            <a:r>
              <a:rPr sz="1200" b="1" i="0" u="none">
                <a:solidFill>
                  <a:srgbClr val="0F766E"/>
                </a:solidFill>
                <a:latin typeface="Noto Sans"/>
              </a:rPr>
              <a:t>CONCLUSION</a:t>
            </a:r>
          </a:p>
        </p:txBody>
      </p:sp>
      <p:sp>
        <p:nvSpPr>
          <p:cNvPr id="3" name="TextBox 2"/>
          <p:cNvSpPr txBox="1"/>
          <p:nvPr/>
        </p:nvSpPr>
        <p:spPr>
          <a:xfrm>
            <a:off x="822960" y="2377440"/>
            <a:ext cx="10515600" cy="1828800"/>
          </a:xfrm>
          <a:prstGeom prst="rect">
            <a:avLst/>
          </a:prstGeom>
          <a:noFill/>
        </p:spPr>
        <p:txBody>
          <a:bodyPr wrap="square" anchor="t">
            <a:spAutoFit/>
          </a:bodyPr>
          <a:lstStyle/>
          <a:p>
            <a:pPr algn="l">
              <a:spcAft>
                <a:spcPts val="800"/>
              </a:spcAft>
            </a:pPr>
            <a:r>
              <a:rPr sz="2800" b="1" i="0" u="none">
                <a:solidFill>
                  <a:srgbClr val="26231D"/>
                </a:solidFill>
                <a:latin typeface="Noto Sans"/>
              </a:rPr>
              <a:t>Living in Armenia and belonging to it are different things.</a:t>
            </a:r>
          </a:p>
          <a:p>
            <a:pPr algn="l">
              <a:spcAft>
                <a:spcPts val="800"/>
              </a:spcAft>
            </a:pPr>
            <a:r>
              <a:rPr sz="2800" b="1" i="0" u="sng">
                <a:solidFill>
                  <a:srgbClr val="0F766E"/>
                </a:solidFill>
                <a:latin typeface="Noto Sans"/>
                <a:hlinkClick r:id="rId2"/>
              </a:rPr>
              <a:t>armenian.cc</a:t>
            </a:r>
            <a:r>
              <a:rPr sz="2800" b="1" i="0" u="none">
                <a:solidFill>
                  <a:srgbClr val="26231D"/>
                </a:solidFill>
                <a:latin typeface="Noto Sans"/>
              </a:rPr>
              <a:t> removes the first barrier.</a:t>
            </a:r>
          </a:p>
        </p:txBody>
      </p:sp>
      <p:sp>
        <p:nvSpPr>
          <p:cNvPr id="4" name="TextBox 3"/>
          <p:cNvSpPr txBox="1"/>
          <p:nvPr/>
        </p:nvSpPr>
        <p:spPr>
          <a:xfrm>
            <a:off x="822960" y="4754880"/>
            <a:ext cx="10515600" cy="457200"/>
          </a:xfrm>
          <a:prstGeom prst="rect">
            <a:avLst/>
          </a:prstGeom>
          <a:noFill/>
        </p:spPr>
        <p:txBody>
          <a:bodyPr wrap="square" anchor="t">
            <a:spAutoFit/>
          </a:bodyPr>
          <a:lstStyle/>
          <a:p>
            <a:pPr algn="l">
              <a:spcAft>
                <a:spcPts val="400"/>
              </a:spcAft>
            </a:pPr>
            <a:r>
              <a:rPr sz="1400" b="0" i="0" u="none">
                <a:solidFill>
                  <a:srgbClr val="837A68"/>
                </a:solidFill>
                <a:latin typeface="Noto Sans Armenian"/>
              </a:rPr>
              <a:t>Շնորհակալություն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1554480" y="2468880"/>
            <a:ext cx="9144000" cy="1188720"/>
          </a:xfrm>
          <a:prstGeom prst="rect">
            <a:avLst/>
          </a:prstGeom>
          <a:noFill/>
        </p:spPr>
        <p:txBody>
          <a:bodyPr wrap="square" anchor="t">
            <a:spAutoFit/>
          </a:bodyPr>
          <a:lstStyle/>
          <a:p>
            <a:pPr algn="ctr">
              <a:spcAft>
                <a:spcPts val="400"/>
              </a:spcAft>
            </a:pPr>
            <a:r>
              <a:rPr sz="6000" b="1" i="0" u="none">
                <a:solidFill>
                  <a:srgbClr val="26231D"/>
                </a:solidFill>
                <a:latin typeface="Noto Sans"/>
              </a:rPr>
              <a:t>Q&amp;A</a:t>
            </a:r>
          </a:p>
        </p:txBody>
      </p:sp>
      <p:sp>
        <p:nvSpPr>
          <p:cNvPr id="3" name="TextBox 2"/>
          <p:cNvSpPr txBox="1"/>
          <p:nvPr/>
        </p:nvSpPr>
        <p:spPr>
          <a:xfrm>
            <a:off x="1554480" y="3931920"/>
            <a:ext cx="9144000" cy="457200"/>
          </a:xfrm>
          <a:prstGeom prst="rect">
            <a:avLst/>
          </a:prstGeom>
          <a:noFill/>
        </p:spPr>
        <p:txBody>
          <a:bodyPr wrap="square" anchor="t">
            <a:spAutoFit/>
          </a:bodyPr>
          <a:lstStyle/>
          <a:p>
            <a:pPr algn="ctr">
              <a:spcAft>
                <a:spcPts val="400"/>
              </a:spcAft>
            </a:pPr>
            <a:r>
              <a:rPr sz="1400" b="0" i="0" u="none">
                <a:solidFill>
                  <a:srgbClr val="837A68"/>
                </a:solidFill>
                <a:latin typeface="Noto Sans"/>
              </a:rPr>
              <a:t>armenian.cc · github.com/SilviAvayan/Armenian.cc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square" anchor="t">
            <a:spAutoFit/>
          </a:bodyPr>
          <a:lstStyle/>
          <a:p>
            <a:pPr algn="l">
              <a:spcAft>
                <a:spcPts val="400"/>
              </a:spcAft>
            </a:pPr>
            <a:r>
              <a:rPr sz="1200" b="1" i="0" u="none">
                <a:solidFill>
                  <a:srgbClr val="0F766E"/>
                </a:solidFill>
                <a:latin typeface="Noto Sans"/>
              </a:rPr>
              <a:t>BACKUP · SEARCH DEMAND</a:t>
            </a:r>
          </a:p>
        </p:txBody>
      </p:sp>
      <p:sp>
        <p:nvSpPr>
          <p:cNvPr id="3" name="TextBox 2"/>
          <p:cNvSpPr txBox="1"/>
          <p:nvPr/>
        </p:nvSpPr>
        <p:spPr>
          <a:xfrm>
            <a:off x="822960" y="868680"/>
            <a:ext cx="10698480" cy="731520"/>
          </a:xfrm>
          <a:prstGeom prst="rect">
            <a:avLst/>
          </a:prstGeom>
          <a:noFill/>
        </p:spPr>
        <p:txBody>
          <a:bodyPr wrap="square" anchor="t">
            <a:spAutoFit/>
          </a:bodyPr>
          <a:lstStyle/>
          <a:p>
            <a:pPr algn="l">
              <a:spcAft>
                <a:spcPts val="400"/>
              </a:spcAft>
            </a:pPr>
            <a:r>
              <a:rPr sz="3000" b="1" i="0" u="none">
                <a:solidFill>
                  <a:srgbClr val="26231D"/>
                </a:solidFill>
                <a:latin typeface="Noto Sans"/>
              </a:rPr>
              <a:t>Learning Armenian: searches </a:t>
            </a:r>
            <a:r>
              <a:rPr sz="3000" b="1" i="0" u="sng">
                <a:solidFill>
                  <a:srgbClr val="0F766E"/>
                </a:solidFill>
                <a:latin typeface="Noto Sans"/>
              </a:rPr>
              <a:t>×5</a:t>
            </a:r>
            <a:r>
              <a:rPr sz="3000" b="1" i="0" u="none">
                <a:solidFill>
                  <a:srgbClr val="26231D"/>
                </a:solidFill>
                <a:latin typeface="Noto Sans"/>
              </a:rPr>
              <a:t> in a decade</a:t>
            </a:r>
          </a:p>
        </p:txBody>
      </p:sp>
      <p:sp>
        <p:nvSpPr>
          <p:cNvPr id="4" name="TextBox 3"/>
          <p:cNvSpPr txBox="1"/>
          <p:nvPr/>
        </p:nvSpPr>
        <p:spPr>
          <a:xfrm>
            <a:off x="822960" y="1600200"/>
            <a:ext cx="10332720" cy="685800"/>
          </a:xfrm>
          <a:prstGeom prst="rect">
            <a:avLst/>
          </a:prstGeom>
          <a:noFill/>
        </p:spPr>
        <p:txBody>
          <a:bodyPr wrap="square" anchor="t">
            <a:spAutoFit/>
          </a:bodyPr>
          <a:lstStyle/>
          <a:p>
            <a:pPr algn="l">
              <a:spcAft>
                <a:spcPts val="400"/>
              </a:spcAft>
            </a:pPr>
            <a:r>
              <a:rPr sz="1400" b="0" i="0" u="none">
                <a:solidFill>
                  <a:srgbClr val="33302A"/>
                </a:solidFill>
                <a:latin typeface="Noto Sans"/>
              </a:rPr>
              <a:t>Google Trends: monthly search interest in Armenia, queries in Russian, six-month average. «Армянский язык» has led «английский язык» since mid-2021.</a:t>
            </a:r>
          </a:p>
        </p:txBody>
      </p:sp>
      <p:pic>
        <p:nvPicPr>
          <p:cNvPr id="5" name="Picture 4" descr="chart_trends.png"/>
          <p:cNvPicPr>
            <a:picLocks noChangeAspect="1"/>
          </p:cNvPicPr>
          <p:nvPr/>
        </p:nvPicPr>
        <p:blipFill>
          <a:blip r:embed="rId2"/>
          <a:stretch>
            <a:fillRect/>
          </a:stretch>
        </p:blipFill>
        <p:spPr>
          <a:xfrm>
            <a:off x="1097280" y="2423160"/>
            <a:ext cx="9966960" cy="4156222"/>
          </a:xfrm>
          <a:prstGeom prst="rect">
            <a:avLst/>
          </a:prstGeom>
        </p:spPr>
      </p:pic>
      <p:sp>
        <p:nvSpPr>
          <p:cNvPr id="6" name="TextBox 5"/>
          <p:cNvSpPr txBox="1"/>
          <p:nvPr/>
        </p:nvSpPr>
        <p:spPr>
          <a:xfrm>
            <a:off x="822960" y="6446520"/>
            <a:ext cx="10515600" cy="320040"/>
          </a:xfrm>
          <a:prstGeom prst="rect">
            <a:avLst/>
          </a:prstGeom>
          <a:noFill/>
        </p:spPr>
        <p:txBody>
          <a:bodyPr wrap="square" anchor="t">
            <a:spAutoFit/>
          </a:bodyPr>
          <a:lstStyle/>
          <a:p>
            <a:pPr algn="l">
              <a:spcAft>
                <a:spcPts val="400"/>
              </a:spcAft>
            </a:pPr>
            <a:r>
              <a:rPr sz="1100" b="0" i="0" u="none">
                <a:solidFill>
                  <a:srgbClr val="837A68"/>
                </a:solidFill>
                <a:latin typeface="Noto Sans"/>
              </a:rPr>
              <a:t>Source: Google Trends, region Armenia, 2016–2026. 100 = peak search interest.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4EC"/>
        </a:solidFill>
        <a:effectLst/>
      </p:bgPr>
    </p:bg>
    <p:spTree>
      <p:nvGrpSpPr>
        <p:cNvPr id="1" name=""/>
        <p:cNvGrpSpPr/>
        <p:nvPr/>
      </p:nvGrpSpPr>
      <p:grpSpPr/>
      <p:sp>
        <p:nvSpPr>
          <p:cNvPr id="2" name="TextBox 1"/>
          <p:cNvSpPr txBox="1"/>
          <p:nvPr/>
        </p:nvSpPr>
        <p:spPr>
          <a:xfrm>
            <a:off x="822960" y="502920"/>
            <a:ext cx="10515600" cy="365760"/>
          </a:xfrm>
          <a:prstGeom prst="rect">
            <a:avLst/>
          </a:prstGeom>
          <a:noFill/>
        </p:spPr>
        <p:txBody>
          <a:bodyPr wrap="square" anchor="t">
            <a:spAutoFit/>
          </a:bodyPr>
          <a:lstStyle/>
          <a:p>
            <a:pPr algn="l">
              <a:spcAft>
                <a:spcPts val="400"/>
              </a:spcAft>
            </a:pPr>
            <a:r>
              <a:rPr sz="1200" b="1" i="0" u="none">
                <a:solidFill>
                  <a:srgbClr val="0F766E"/>
                </a:solidFill>
                <a:latin typeface="Noto Sans"/>
              </a:rPr>
              <a:t>BACKUP · SEARCH DEMAND · YANDEX</a:t>
            </a:r>
          </a:p>
        </p:txBody>
      </p:sp>
      <p:sp>
        <p:nvSpPr>
          <p:cNvPr id="3" name="TextBox 2"/>
          <p:cNvSpPr txBox="1"/>
          <p:nvPr/>
        </p:nvSpPr>
        <p:spPr>
          <a:xfrm>
            <a:off x="822960" y="868680"/>
            <a:ext cx="10698480" cy="731520"/>
          </a:xfrm>
          <a:prstGeom prst="rect">
            <a:avLst/>
          </a:prstGeom>
          <a:noFill/>
        </p:spPr>
        <p:txBody>
          <a:bodyPr wrap="square" anchor="t">
            <a:spAutoFit/>
          </a:bodyPr>
          <a:lstStyle/>
          <a:p>
            <a:pPr algn="l">
              <a:spcAft>
                <a:spcPts val="400"/>
              </a:spcAft>
            </a:pPr>
            <a:r>
              <a:rPr sz="3000" b="1" i="0" u="none">
                <a:solidFill>
                  <a:srgbClr val="26231D"/>
                </a:solidFill>
                <a:latin typeface="Noto Sans"/>
              </a:rPr>
              <a:t>Yandex agrees: </a:t>
            </a:r>
            <a:r>
              <a:rPr sz="3000" b="1" i="0" u="sng">
                <a:solidFill>
                  <a:srgbClr val="0F766E"/>
                </a:solidFill>
                <a:latin typeface="Noto Sans"/>
              </a:rPr>
              <a:t>×4</a:t>
            </a:r>
            <a:r>
              <a:rPr sz="3000" b="1" i="0" u="none">
                <a:solidFill>
                  <a:srgbClr val="26231D"/>
                </a:solidFill>
                <a:latin typeface="Noto Sans"/>
              </a:rPr>
              <a:t> after the wave</a:t>
            </a:r>
          </a:p>
        </p:txBody>
      </p:sp>
      <p:sp>
        <p:nvSpPr>
          <p:cNvPr id="4" name="TextBox 3"/>
          <p:cNvSpPr txBox="1"/>
          <p:nvPr/>
        </p:nvSpPr>
        <p:spPr>
          <a:xfrm>
            <a:off x="822960" y="1600200"/>
            <a:ext cx="10332720" cy="685800"/>
          </a:xfrm>
          <a:prstGeom prst="rect">
            <a:avLst/>
          </a:prstGeom>
          <a:noFill/>
        </p:spPr>
        <p:txBody>
          <a:bodyPr wrap="square" anchor="t">
            <a:spAutoFit/>
          </a:bodyPr>
          <a:lstStyle/>
          <a:p>
            <a:pPr algn="l">
              <a:spcAft>
                <a:spcPts val="400"/>
              </a:spcAft>
            </a:pPr>
            <a:r>
              <a:rPr sz="1400" b="0" i="0" u="none">
                <a:solidFill>
                  <a:srgbClr val="33302A"/>
                </a:solidFill>
                <a:latin typeface="Noto Sans"/>
              </a:rPr>
              <a:t>Yandex Wordstat: monthly queries «изучение армянского языка» from Armenia, 2020–2026. About 7 per month before 2022, about 29 after; July 2026 is the record.</a:t>
            </a:r>
          </a:p>
        </p:txBody>
      </p:sp>
      <p:pic>
        <p:nvPicPr>
          <p:cNvPr id="5" name="Picture 4" descr="chart_wordstat.png"/>
          <p:cNvPicPr>
            <a:picLocks noChangeAspect="1"/>
          </p:cNvPicPr>
          <p:nvPr/>
        </p:nvPicPr>
        <p:blipFill>
          <a:blip r:embed="rId2"/>
          <a:stretch>
            <a:fillRect/>
          </a:stretch>
        </p:blipFill>
        <p:spPr>
          <a:xfrm>
            <a:off x="1097280" y="2423160"/>
            <a:ext cx="9966960" cy="4156222"/>
          </a:xfrm>
          <a:prstGeom prst="rect">
            <a:avLst/>
          </a:prstGeom>
        </p:spPr>
      </p:pic>
      <p:sp>
        <p:nvSpPr>
          <p:cNvPr id="6" name="TextBox 5"/>
          <p:cNvSpPr txBox="1"/>
          <p:nvPr/>
        </p:nvSpPr>
        <p:spPr>
          <a:xfrm>
            <a:off x="822960" y="6446520"/>
            <a:ext cx="10515600" cy="320040"/>
          </a:xfrm>
          <a:prstGeom prst="rect">
            <a:avLst/>
          </a:prstGeom>
          <a:noFill/>
        </p:spPr>
        <p:txBody>
          <a:bodyPr wrap="square" anchor="t">
            <a:spAutoFit/>
          </a:bodyPr>
          <a:lstStyle/>
          <a:p>
            <a:pPr algn="l">
              <a:spcAft>
                <a:spcPts val="400"/>
              </a:spcAft>
            </a:pPr>
            <a:r>
              <a:rPr sz="1100" b="0" i="0" u="none">
                <a:solidFill>
                  <a:srgbClr val="837A68"/>
                </a:solidFill>
                <a:latin typeface="Noto Sans"/>
              </a:rPr>
              <a:t>Source: Yandex Wordstat, region Armenia, query «изучение армянского языка», all devices.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