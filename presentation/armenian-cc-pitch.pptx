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 id="2147483660" r:id="rId6"/>
    <p:sldMasterId id="2147483671"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Lst>
  <p:sldSz cy="6858000" cx="12191675"/>
  <p:notesSz cx="6858000" cy="9144000"/>
  <p:embeddedFontLst>
    <p:embeddedFont>
      <p:font typeface="Noto Sans"/>
      <p:regular r:id="rId23"/>
      <p:bold r:id="rId24"/>
      <p:italic r:id="rId25"/>
      <p:boldItalic r:id="rId26"/>
    </p:embeddedFont>
    <p:embeddedFont>
      <p:font typeface="Noto Sans Armenian"/>
      <p:regular r:id="rId27"/>
      <p:bold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9" roundtripDataSignature="AMtx7mhs6di/d0E74kJe7k9owXX+XEN0P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894C676-D9A0-449D-9184-6D198B448DEB}">
  <a:tblStyle styleId="{E894C676-D9A0-449D-9184-6D198B448DEB}"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 styleId="{D0EDDF16-4AC9-4E48-B3BB-D5E033B1542B}" styleName="Table_1">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b="off" i="off"/>
      <a:tcStyle>
        <a:fill>
          <a:solidFill>
            <a:srgbClr val="CFD7E7"/>
          </a:solidFill>
        </a:fill>
      </a:tcStyle>
    </a:band1H>
    <a:band2H>
      <a:tcTxStyle b="off" i="off"/>
    </a:band2H>
    <a:band1V>
      <a:tcTxStyle b="off" i="off"/>
      <a:tcStyle>
        <a:fill>
          <a:solidFill>
            <a:srgbClr val="CFD7E7"/>
          </a:solidFill>
        </a:fill>
      </a:tcStyle>
    </a:band1V>
    <a:band2V>
      <a:tcTxStyle b="off" i="off"/>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font" Target="fonts/NotoSans-bold.fntdata"/><Relationship Id="rId23" Type="http://schemas.openxmlformats.org/officeDocument/2006/relationships/font" Target="fonts/NotoSans-regular.fntdata"/><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1.xml"/><Relationship Id="rId26" Type="http://schemas.openxmlformats.org/officeDocument/2006/relationships/font" Target="fonts/NotoSans-boldItalic.fntdata"/><Relationship Id="rId25" Type="http://schemas.openxmlformats.org/officeDocument/2006/relationships/font" Target="fonts/NotoSans-italic.fntdata"/><Relationship Id="rId28" Type="http://schemas.openxmlformats.org/officeDocument/2006/relationships/font" Target="fonts/NotoSansArmenian-bold.fntdata"/><Relationship Id="rId27" Type="http://schemas.openxmlformats.org/officeDocument/2006/relationships/font" Target="fonts/NotoSansArmenian-regular.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29" Type="http://customschemas.google.com/relationships/presentationmetadata" Target="metadata"/><Relationship Id="rId7" Type="http://schemas.openxmlformats.org/officeDocument/2006/relationships/slideMaster" Target="slideMasters/slideMaster3.xml"/><Relationship Id="rId8" Type="http://schemas.openxmlformats.org/officeDocument/2006/relationships/notesMaster" Target="notesMasters/notesMaster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7" name="Shape 257"/>
        <p:cNvGrpSpPr/>
        <p:nvPr/>
      </p:nvGrpSpPr>
      <p:grpSpPr>
        <a:xfrm>
          <a:off x="0" y="0"/>
          <a:ext cx="0" cy="0"/>
          <a:chOff x="0" y="0"/>
          <a:chExt cx="0" cy="0"/>
        </a:xfrm>
      </p:grpSpPr>
      <p:sp>
        <p:nvSpPr>
          <p:cNvPr id="258" name="Google Shape;258;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f3da43a7ba_7_7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76" name="Google Shape;276;g3f3da43a7ba_7_7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3f3da43a7ba_5_6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285" name="Google Shape;285;g3f3da43a7ba_5_69:notes"/>
          <p:cNvSpPr/>
          <p:nvPr>
            <p:ph idx="2" type="sldImg"/>
          </p:nvPr>
        </p:nvSpPr>
        <p:spPr>
          <a:xfrm>
            <a:off x="381081" y="685800"/>
            <a:ext cx="6095838"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f3d9fe8e42_9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g3f3d9fe8e42_9_25: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f3d9fe8e42_9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g3f3d9fe8e42_9_10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5"/>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5"/>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7"/>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7"/>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8"/>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8"/>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9"/>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9"/>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9"/>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9"/>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1"/>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1"/>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1"/>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2"/>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2"/>
          <p:cNvSpPr/>
          <p:nvPr>
            <p:ph idx="2" type="pic"/>
          </p:nvPr>
        </p:nvSpPr>
        <p:spPr>
          <a:xfrm>
            <a:off x="1792288" y="612775"/>
            <a:ext cx="5486400" cy="4114800"/>
          </a:xfrm>
          <a:prstGeom prst="rect">
            <a:avLst/>
          </a:prstGeom>
          <a:noFill/>
          <a:ln>
            <a:noFill/>
          </a:ln>
        </p:spPr>
      </p:sp>
      <p:sp>
        <p:nvSpPr>
          <p:cNvPr id="64" name="Google Shape;64;p22"/>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3"/>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4"/>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4"/>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6" name="Shape 86"/>
        <p:cNvGrpSpPr/>
        <p:nvPr/>
      </p:nvGrpSpPr>
      <p:grpSpPr>
        <a:xfrm>
          <a:off x="0" y="0"/>
          <a:ext cx="0" cy="0"/>
          <a:chOff x="0" y="0"/>
          <a:chExt cx="0" cy="0"/>
        </a:xfrm>
      </p:grpSpPr>
      <p:sp>
        <p:nvSpPr>
          <p:cNvPr id="87" name="Google Shape;87;g3f3da43a7ba_5_6"/>
          <p:cNvSpPr txBox="1"/>
          <p:nvPr>
            <p:ph idx="10" type="dt"/>
          </p:nvPr>
        </p:nvSpPr>
        <p:spPr>
          <a:xfrm>
            <a:off x="457188" y="6356350"/>
            <a:ext cx="2133543"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g3f3da43a7ba_5_6"/>
          <p:cNvSpPr txBox="1"/>
          <p:nvPr>
            <p:ph idx="11" type="ftr"/>
          </p:nvPr>
        </p:nvSpPr>
        <p:spPr>
          <a:xfrm>
            <a:off x="3124117" y="6356350"/>
            <a:ext cx="2895523"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9" name="Google Shape;89;g3f3da43a7ba_5_6"/>
          <p:cNvSpPr txBox="1"/>
          <p:nvPr>
            <p:ph idx="12" type="sldNum"/>
          </p:nvPr>
        </p:nvSpPr>
        <p:spPr>
          <a:xfrm>
            <a:off x="6553025" y="6356350"/>
            <a:ext cx="2133543"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90" name="Shape 90"/>
        <p:cNvGrpSpPr/>
        <p:nvPr/>
      </p:nvGrpSpPr>
      <p:grpSpPr>
        <a:xfrm>
          <a:off x="0" y="0"/>
          <a:ext cx="0" cy="0"/>
          <a:chOff x="0" y="0"/>
          <a:chExt cx="0" cy="0"/>
        </a:xfrm>
      </p:grpSpPr>
      <p:sp>
        <p:nvSpPr>
          <p:cNvPr id="91" name="Google Shape;91;g3f3da43a7ba_5_10"/>
          <p:cNvSpPr txBox="1"/>
          <p:nvPr>
            <p:ph type="title"/>
          </p:nvPr>
        </p:nvSpPr>
        <p:spPr>
          <a:xfrm>
            <a:off x="457188" y="274638"/>
            <a:ext cx="8229381"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2" name="Google Shape;92;g3f3da43a7ba_5_10"/>
          <p:cNvSpPr txBox="1"/>
          <p:nvPr>
            <p:ph idx="1" type="body"/>
          </p:nvPr>
        </p:nvSpPr>
        <p:spPr>
          <a:xfrm>
            <a:off x="457188" y="1600200"/>
            <a:ext cx="8229381"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93" name="Google Shape;93;g3f3da43a7ba_5_10"/>
          <p:cNvSpPr txBox="1"/>
          <p:nvPr>
            <p:ph idx="10" type="dt"/>
          </p:nvPr>
        </p:nvSpPr>
        <p:spPr>
          <a:xfrm>
            <a:off x="457188" y="6356350"/>
            <a:ext cx="2133543"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4" name="Google Shape;94;g3f3da43a7ba_5_10"/>
          <p:cNvSpPr txBox="1"/>
          <p:nvPr>
            <p:ph idx="11" type="ftr"/>
          </p:nvPr>
        </p:nvSpPr>
        <p:spPr>
          <a:xfrm>
            <a:off x="3124117" y="6356350"/>
            <a:ext cx="2895523"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g3f3da43a7ba_5_10"/>
          <p:cNvSpPr txBox="1"/>
          <p:nvPr>
            <p:ph idx="12" type="sldNum"/>
          </p:nvPr>
        </p:nvSpPr>
        <p:spPr>
          <a:xfrm>
            <a:off x="6553025" y="6356350"/>
            <a:ext cx="2133543"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96" name="Shape 96"/>
        <p:cNvGrpSpPr/>
        <p:nvPr/>
      </p:nvGrpSpPr>
      <p:grpSpPr>
        <a:xfrm>
          <a:off x="0" y="0"/>
          <a:ext cx="0" cy="0"/>
          <a:chOff x="0" y="0"/>
          <a:chExt cx="0" cy="0"/>
        </a:xfrm>
      </p:grpSpPr>
      <p:sp>
        <p:nvSpPr>
          <p:cNvPr id="97" name="Google Shape;97;g3f3da43a7ba_5_16"/>
          <p:cNvSpPr txBox="1"/>
          <p:nvPr>
            <p:ph type="title"/>
          </p:nvPr>
        </p:nvSpPr>
        <p:spPr>
          <a:xfrm>
            <a:off x="722294" y="4406900"/>
            <a:ext cx="7772193"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8" name="Google Shape;98;g3f3da43a7ba_5_16"/>
          <p:cNvSpPr txBox="1"/>
          <p:nvPr>
            <p:ph idx="1" type="body"/>
          </p:nvPr>
        </p:nvSpPr>
        <p:spPr>
          <a:xfrm>
            <a:off x="722294" y="2906713"/>
            <a:ext cx="7772193"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99" name="Google Shape;99;g3f3da43a7ba_5_16"/>
          <p:cNvSpPr txBox="1"/>
          <p:nvPr>
            <p:ph idx="10" type="dt"/>
          </p:nvPr>
        </p:nvSpPr>
        <p:spPr>
          <a:xfrm>
            <a:off x="457188" y="6356350"/>
            <a:ext cx="2133543"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0" name="Google Shape;100;g3f3da43a7ba_5_16"/>
          <p:cNvSpPr txBox="1"/>
          <p:nvPr>
            <p:ph idx="11" type="ftr"/>
          </p:nvPr>
        </p:nvSpPr>
        <p:spPr>
          <a:xfrm>
            <a:off x="3124117" y="6356350"/>
            <a:ext cx="2895523"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g3f3da43a7ba_5_16"/>
          <p:cNvSpPr txBox="1"/>
          <p:nvPr>
            <p:ph idx="12" type="sldNum"/>
          </p:nvPr>
        </p:nvSpPr>
        <p:spPr>
          <a:xfrm>
            <a:off x="6553025" y="6356350"/>
            <a:ext cx="2133543"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02" name="Shape 102"/>
        <p:cNvGrpSpPr/>
        <p:nvPr/>
      </p:nvGrpSpPr>
      <p:grpSpPr>
        <a:xfrm>
          <a:off x="0" y="0"/>
          <a:ext cx="0" cy="0"/>
          <a:chOff x="0" y="0"/>
          <a:chExt cx="0" cy="0"/>
        </a:xfrm>
      </p:grpSpPr>
      <p:sp>
        <p:nvSpPr>
          <p:cNvPr id="103" name="Google Shape;103;g3f3da43a7ba_5_22"/>
          <p:cNvSpPr txBox="1"/>
          <p:nvPr>
            <p:ph type="title"/>
          </p:nvPr>
        </p:nvSpPr>
        <p:spPr>
          <a:xfrm>
            <a:off x="457188" y="274638"/>
            <a:ext cx="8229381"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4" name="Google Shape;104;g3f3da43a7ba_5_22"/>
          <p:cNvSpPr txBox="1"/>
          <p:nvPr>
            <p:ph idx="1" type="body"/>
          </p:nvPr>
        </p:nvSpPr>
        <p:spPr>
          <a:xfrm>
            <a:off x="457188" y="1600200"/>
            <a:ext cx="4038492"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05" name="Google Shape;105;g3f3da43a7ba_5_22"/>
          <p:cNvSpPr txBox="1"/>
          <p:nvPr>
            <p:ph idx="2" type="body"/>
          </p:nvPr>
        </p:nvSpPr>
        <p:spPr>
          <a:xfrm>
            <a:off x="4648076" y="1600200"/>
            <a:ext cx="4038492"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06" name="Google Shape;106;g3f3da43a7ba_5_22"/>
          <p:cNvSpPr txBox="1"/>
          <p:nvPr>
            <p:ph idx="10" type="dt"/>
          </p:nvPr>
        </p:nvSpPr>
        <p:spPr>
          <a:xfrm>
            <a:off x="457188" y="6356350"/>
            <a:ext cx="2133543"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7" name="Google Shape;107;g3f3da43a7ba_5_22"/>
          <p:cNvSpPr txBox="1"/>
          <p:nvPr>
            <p:ph idx="11" type="ftr"/>
          </p:nvPr>
        </p:nvSpPr>
        <p:spPr>
          <a:xfrm>
            <a:off x="3124117" y="6356350"/>
            <a:ext cx="2895523"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8" name="Google Shape;108;g3f3da43a7ba_5_22"/>
          <p:cNvSpPr txBox="1"/>
          <p:nvPr>
            <p:ph idx="12" type="sldNum"/>
          </p:nvPr>
        </p:nvSpPr>
        <p:spPr>
          <a:xfrm>
            <a:off x="6553025" y="6356350"/>
            <a:ext cx="2133543"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09" name="Shape 109"/>
        <p:cNvGrpSpPr/>
        <p:nvPr/>
      </p:nvGrpSpPr>
      <p:grpSpPr>
        <a:xfrm>
          <a:off x="0" y="0"/>
          <a:ext cx="0" cy="0"/>
          <a:chOff x="0" y="0"/>
          <a:chExt cx="0" cy="0"/>
        </a:xfrm>
      </p:grpSpPr>
      <p:sp>
        <p:nvSpPr>
          <p:cNvPr id="110" name="Google Shape;110;g3f3da43a7ba_5_29"/>
          <p:cNvSpPr txBox="1"/>
          <p:nvPr>
            <p:ph type="title"/>
          </p:nvPr>
        </p:nvSpPr>
        <p:spPr>
          <a:xfrm>
            <a:off x="457188" y="274638"/>
            <a:ext cx="8229381"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1" name="Google Shape;111;g3f3da43a7ba_5_29"/>
          <p:cNvSpPr txBox="1"/>
          <p:nvPr>
            <p:ph idx="1" type="body"/>
          </p:nvPr>
        </p:nvSpPr>
        <p:spPr>
          <a:xfrm>
            <a:off x="457188" y="1535113"/>
            <a:ext cx="4040080"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12" name="Google Shape;112;g3f3da43a7ba_5_29"/>
          <p:cNvSpPr txBox="1"/>
          <p:nvPr>
            <p:ph idx="2" type="body"/>
          </p:nvPr>
        </p:nvSpPr>
        <p:spPr>
          <a:xfrm>
            <a:off x="457188" y="2174875"/>
            <a:ext cx="4040080"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13" name="Google Shape;113;g3f3da43a7ba_5_29"/>
          <p:cNvSpPr txBox="1"/>
          <p:nvPr>
            <p:ph idx="3" type="body"/>
          </p:nvPr>
        </p:nvSpPr>
        <p:spPr>
          <a:xfrm>
            <a:off x="4644901" y="1535113"/>
            <a:ext cx="4041667"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14" name="Google Shape;114;g3f3da43a7ba_5_29"/>
          <p:cNvSpPr txBox="1"/>
          <p:nvPr>
            <p:ph idx="4" type="body"/>
          </p:nvPr>
        </p:nvSpPr>
        <p:spPr>
          <a:xfrm>
            <a:off x="4644901" y="2174875"/>
            <a:ext cx="4041667"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15" name="Google Shape;115;g3f3da43a7ba_5_29"/>
          <p:cNvSpPr txBox="1"/>
          <p:nvPr>
            <p:ph idx="10" type="dt"/>
          </p:nvPr>
        </p:nvSpPr>
        <p:spPr>
          <a:xfrm>
            <a:off x="457188" y="6356350"/>
            <a:ext cx="2133543"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6" name="Google Shape;116;g3f3da43a7ba_5_29"/>
          <p:cNvSpPr txBox="1"/>
          <p:nvPr>
            <p:ph idx="11" type="ftr"/>
          </p:nvPr>
        </p:nvSpPr>
        <p:spPr>
          <a:xfrm>
            <a:off x="3124117" y="6356350"/>
            <a:ext cx="2895523"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7" name="Google Shape;117;g3f3da43a7ba_5_29"/>
          <p:cNvSpPr txBox="1"/>
          <p:nvPr>
            <p:ph idx="12" type="sldNum"/>
          </p:nvPr>
        </p:nvSpPr>
        <p:spPr>
          <a:xfrm>
            <a:off x="6553025" y="6356350"/>
            <a:ext cx="2133543"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18" name="Shape 118"/>
        <p:cNvGrpSpPr/>
        <p:nvPr/>
      </p:nvGrpSpPr>
      <p:grpSpPr>
        <a:xfrm>
          <a:off x="0" y="0"/>
          <a:ext cx="0" cy="0"/>
          <a:chOff x="0" y="0"/>
          <a:chExt cx="0" cy="0"/>
        </a:xfrm>
      </p:grpSpPr>
      <p:sp>
        <p:nvSpPr>
          <p:cNvPr id="119" name="Google Shape;119;g3f3da43a7ba_5_38"/>
          <p:cNvSpPr txBox="1"/>
          <p:nvPr>
            <p:ph type="title"/>
          </p:nvPr>
        </p:nvSpPr>
        <p:spPr>
          <a:xfrm>
            <a:off x="457188" y="274638"/>
            <a:ext cx="8229381"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0" name="Google Shape;120;g3f3da43a7ba_5_38"/>
          <p:cNvSpPr txBox="1"/>
          <p:nvPr>
            <p:ph idx="10" type="dt"/>
          </p:nvPr>
        </p:nvSpPr>
        <p:spPr>
          <a:xfrm>
            <a:off x="457188" y="6356350"/>
            <a:ext cx="2133543"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1" name="Google Shape;121;g3f3da43a7ba_5_38"/>
          <p:cNvSpPr txBox="1"/>
          <p:nvPr>
            <p:ph idx="11" type="ftr"/>
          </p:nvPr>
        </p:nvSpPr>
        <p:spPr>
          <a:xfrm>
            <a:off x="3124117" y="6356350"/>
            <a:ext cx="2895523"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2" name="Google Shape;122;g3f3da43a7ba_5_38"/>
          <p:cNvSpPr txBox="1"/>
          <p:nvPr>
            <p:ph idx="12" type="sldNum"/>
          </p:nvPr>
        </p:nvSpPr>
        <p:spPr>
          <a:xfrm>
            <a:off x="6553025" y="6356350"/>
            <a:ext cx="2133543"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23" name="Shape 123"/>
        <p:cNvGrpSpPr/>
        <p:nvPr/>
      </p:nvGrpSpPr>
      <p:grpSpPr>
        <a:xfrm>
          <a:off x="0" y="0"/>
          <a:ext cx="0" cy="0"/>
          <a:chOff x="0" y="0"/>
          <a:chExt cx="0" cy="0"/>
        </a:xfrm>
      </p:grpSpPr>
      <p:sp>
        <p:nvSpPr>
          <p:cNvPr id="124" name="Google Shape;124;g3f3da43a7ba_5_43"/>
          <p:cNvSpPr txBox="1"/>
          <p:nvPr>
            <p:ph type="title"/>
          </p:nvPr>
        </p:nvSpPr>
        <p:spPr>
          <a:xfrm>
            <a:off x="457188" y="273050"/>
            <a:ext cx="300823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5" name="Google Shape;125;g3f3da43a7ba_5_43"/>
          <p:cNvSpPr txBox="1"/>
          <p:nvPr>
            <p:ph idx="1" type="body"/>
          </p:nvPr>
        </p:nvSpPr>
        <p:spPr>
          <a:xfrm>
            <a:off x="3574955" y="273050"/>
            <a:ext cx="5111614"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126" name="Google Shape;126;g3f3da43a7ba_5_43"/>
          <p:cNvSpPr txBox="1"/>
          <p:nvPr>
            <p:ph idx="2" type="body"/>
          </p:nvPr>
        </p:nvSpPr>
        <p:spPr>
          <a:xfrm>
            <a:off x="457188" y="1435100"/>
            <a:ext cx="300823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27" name="Google Shape;127;g3f3da43a7ba_5_43"/>
          <p:cNvSpPr txBox="1"/>
          <p:nvPr>
            <p:ph idx="10" type="dt"/>
          </p:nvPr>
        </p:nvSpPr>
        <p:spPr>
          <a:xfrm>
            <a:off x="457188" y="6356350"/>
            <a:ext cx="2133543"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8" name="Google Shape;128;g3f3da43a7ba_5_43"/>
          <p:cNvSpPr txBox="1"/>
          <p:nvPr>
            <p:ph idx="11" type="ftr"/>
          </p:nvPr>
        </p:nvSpPr>
        <p:spPr>
          <a:xfrm>
            <a:off x="3124117" y="6356350"/>
            <a:ext cx="2895523"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9" name="Google Shape;129;g3f3da43a7ba_5_43"/>
          <p:cNvSpPr txBox="1"/>
          <p:nvPr>
            <p:ph idx="12" type="sldNum"/>
          </p:nvPr>
        </p:nvSpPr>
        <p:spPr>
          <a:xfrm>
            <a:off x="6553025" y="6356350"/>
            <a:ext cx="2133543"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30" name="Shape 130"/>
        <p:cNvGrpSpPr/>
        <p:nvPr/>
      </p:nvGrpSpPr>
      <p:grpSpPr>
        <a:xfrm>
          <a:off x="0" y="0"/>
          <a:ext cx="0" cy="0"/>
          <a:chOff x="0" y="0"/>
          <a:chExt cx="0" cy="0"/>
        </a:xfrm>
      </p:grpSpPr>
      <p:sp>
        <p:nvSpPr>
          <p:cNvPr id="131" name="Google Shape;131;g3f3da43a7ba_5_50"/>
          <p:cNvSpPr txBox="1"/>
          <p:nvPr>
            <p:ph type="title"/>
          </p:nvPr>
        </p:nvSpPr>
        <p:spPr>
          <a:xfrm>
            <a:off x="1792240" y="4800600"/>
            <a:ext cx="5486254"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2" name="Google Shape;132;g3f3da43a7ba_5_50"/>
          <p:cNvSpPr/>
          <p:nvPr>
            <p:ph idx="2" type="pic"/>
          </p:nvPr>
        </p:nvSpPr>
        <p:spPr>
          <a:xfrm>
            <a:off x="1792240" y="612775"/>
            <a:ext cx="5486254" cy="4114800"/>
          </a:xfrm>
          <a:prstGeom prst="rect">
            <a:avLst/>
          </a:prstGeom>
          <a:noFill/>
          <a:ln>
            <a:noFill/>
          </a:ln>
        </p:spPr>
      </p:sp>
      <p:sp>
        <p:nvSpPr>
          <p:cNvPr id="133" name="Google Shape;133;g3f3da43a7ba_5_50"/>
          <p:cNvSpPr txBox="1"/>
          <p:nvPr>
            <p:ph idx="1" type="body"/>
          </p:nvPr>
        </p:nvSpPr>
        <p:spPr>
          <a:xfrm>
            <a:off x="1792240" y="5367338"/>
            <a:ext cx="5486254"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34" name="Google Shape;134;g3f3da43a7ba_5_50"/>
          <p:cNvSpPr txBox="1"/>
          <p:nvPr>
            <p:ph idx="10" type="dt"/>
          </p:nvPr>
        </p:nvSpPr>
        <p:spPr>
          <a:xfrm>
            <a:off x="457188" y="6356350"/>
            <a:ext cx="2133543"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5" name="Google Shape;135;g3f3da43a7ba_5_50"/>
          <p:cNvSpPr txBox="1"/>
          <p:nvPr>
            <p:ph idx="11" type="ftr"/>
          </p:nvPr>
        </p:nvSpPr>
        <p:spPr>
          <a:xfrm>
            <a:off x="3124117" y="6356350"/>
            <a:ext cx="2895523"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6" name="Google Shape;136;g3f3da43a7ba_5_50"/>
          <p:cNvSpPr txBox="1"/>
          <p:nvPr>
            <p:ph idx="12" type="sldNum"/>
          </p:nvPr>
        </p:nvSpPr>
        <p:spPr>
          <a:xfrm>
            <a:off x="6553025" y="6356350"/>
            <a:ext cx="2133543"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37" name="Shape 137"/>
        <p:cNvGrpSpPr/>
        <p:nvPr/>
      </p:nvGrpSpPr>
      <p:grpSpPr>
        <a:xfrm>
          <a:off x="0" y="0"/>
          <a:ext cx="0" cy="0"/>
          <a:chOff x="0" y="0"/>
          <a:chExt cx="0" cy="0"/>
        </a:xfrm>
      </p:grpSpPr>
      <p:sp>
        <p:nvSpPr>
          <p:cNvPr id="138" name="Google Shape;138;g3f3da43a7ba_5_57"/>
          <p:cNvSpPr txBox="1"/>
          <p:nvPr>
            <p:ph type="title"/>
          </p:nvPr>
        </p:nvSpPr>
        <p:spPr>
          <a:xfrm>
            <a:off x="457188" y="274638"/>
            <a:ext cx="8229381"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9" name="Google Shape;139;g3f3da43a7ba_5_57"/>
          <p:cNvSpPr txBox="1"/>
          <p:nvPr>
            <p:ph idx="1" type="body"/>
          </p:nvPr>
        </p:nvSpPr>
        <p:spPr>
          <a:xfrm rot="5400000">
            <a:off x="2308897" y="-251508"/>
            <a:ext cx="4525963" cy="8229381"/>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40" name="Google Shape;140;g3f3da43a7ba_5_57"/>
          <p:cNvSpPr txBox="1"/>
          <p:nvPr>
            <p:ph idx="10" type="dt"/>
          </p:nvPr>
        </p:nvSpPr>
        <p:spPr>
          <a:xfrm>
            <a:off x="457188" y="6356350"/>
            <a:ext cx="2133543"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1" name="Google Shape;141;g3f3da43a7ba_5_57"/>
          <p:cNvSpPr txBox="1"/>
          <p:nvPr>
            <p:ph idx="11" type="ftr"/>
          </p:nvPr>
        </p:nvSpPr>
        <p:spPr>
          <a:xfrm>
            <a:off x="3124117" y="6356350"/>
            <a:ext cx="2895523"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g3f3da43a7ba_5_57"/>
          <p:cNvSpPr txBox="1"/>
          <p:nvPr>
            <p:ph idx="12" type="sldNum"/>
          </p:nvPr>
        </p:nvSpPr>
        <p:spPr>
          <a:xfrm>
            <a:off x="6553025" y="6356350"/>
            <a:ext cx="2133543"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43" name="Shape 143"/>
        <p:cNvGrpSpPr/>
        <p:nvPr/>
      </p:nvGrpSpPr>
      <p:grpSpPr>
        <a:xfrm>
          <a:off x="0" y="0"/>
          <a:ext cx="0" cy="0"/>
          <a:chOff x="0" y="0"/>
          <a:chExt cx="0" cy="0"/>
        </a:xfrm>
      </p:grpSpPr>
      <p:sp>
        <p:nvSpPr>
          <p:cNvPr id="144" name="Google Shape;144;g3f3da43a7ba_5_63"/>
          <p:cNvSpPr txBox="1"/>
          <p:nvPr>
            <p:ph type="title"/>
          </p:nvPr>
        </p:nvSpPr>
        <p:spPr>
          <a:xfrm rot="5400000">
            <a:off x="4732134" y="2171728"/>
            <a:ext cx="5851525" cy="205734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5" name="Google Shape;145;g3f3da43a7ba_5_63"/>
          <p:cNvSpPr txBox="1"/>
          <p:nvPr>
            <p:ph idx="1" type="body"/>
          </p:nvPr>
        </p:nvSpPr>
        <p:spPr>
          <a:xfrm rot="5400000">
            <a:off x="541246" y="190580"/>
            <a:ext cx="5851525" cy="601964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46" name="Google Shape;146;g3f3da43a7ba_5_63"/>
          <p:cNvSpPr txBox="1"/>
          <p:nvPr>
            <p:ph idx="10" type="dt"/>
          </p:nvPr>
        </p:nvSpPr>
        <p:spPr>
          <a:xfrm>
            <a:off x="457188" y="6356350"/>
            <a:ext cx="2133543"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7" name="Google Shape;147;g3f3da43a7ba_5_63"/>
          <p:cNvSpPr txBox="1"/>
          <p:nvPr>
            <p:ph idx="11" type="ftr"/>
          </p:nvPr>
        </p:nvSpPr>
        <p:spPr>
          <a:xfrm>
            <a:off x="3124117" y="6356350"/>
            <a:ext cx="2895523"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8" name="Google Shape;148;g3f3da43a7ba_5_63"/>
          <p:cNvSpPr txBox="1"/>
          <p:nvPr>
            <p:ph idx="12" type="sldNum"/>
          </p:nvPr>
        </p:nvSpPr>
        <p:spPr>
          <a:xfrm>
            <a:off x="6553025" y="6356350"/>
            <a:ext cx="2133543"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5" name="Shape 155"/>
        <p:cNvGrpSpPr/>
        <p:nvPr/>
      </p:nvGrpSpPr>
      <p:grpSpPr>
        <a:xfrm>
          <a:off x="0" y="0"/>
          <a:ext cx="0" cy="0"/>
          <a:chOff x="0" y="0"/>
          <a:chExt cx="0" cy="0"/>
        </a:xfrm>
      </p:grpSpPr>
      <p:sp>
        <p:nvSpPr>
          <p:cNvPr id="156" name="Google Shape;156;g3f3da43a7ba_7_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7" name="Google Shape;157;g3f3da43a7ba_7_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8" name="Google Shape;158;g3f3da43a7ba_7_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9" name="Shape 159"/>
        <p:cNvGrpSpPr/>
        <p:nvPr/>
      </p:nvGrpSpPr>
      <p:grpSpPr>
        <a:xfrm>
          <a:off x="0" y="0"/>
          <a:ext cx="0" cy="0"/>
          <a:chOff x="0" y="0"/>
          <a:chExt cx="0" cy="0"/>
        </a:xfrm>
      </p:grpSpPr>
      <p:sp>
        <p:nvSpPr>
          <p:cNvPr id="160" name="Google Shape;160;g3f3da43a7ba_7_10"/>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1" name="Google Shape;161;g3f3da43a7ba_7_10"/>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162" name="Google Shape;162;g3f3da43a7ba_7_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3" name="Google Shape;163;g3f3da43a7ba_7_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4" name="Google Shape;164;g3f3da43a7ba_7_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65" name="Shape 165"/>
        <p:cNvGrpSpPr/>
        <p:nvPr/>
      </p:nvGrpSpPr>
      <p:grpSpPr>
        <a:xfrm>
          <a:off x="0" y="0"/>
          <a:ext cx="0" cy="0"/>
          <a:chOff x="0" y="0"/>
          <a:chExt cx="0" cy="0"/>
        </a:xfrm>
      </p:grpSpPr>
      <p:sp>
        <p:nvSpPr>
          <p:cNvPr id="166" name="Google Shape;166;g3f3da43a7ba_7_1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7" name="Google Shape;167;g3f3da43a7ba_7_1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68" name="Google Shape;168;g3f3da43a7ba_7_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69" name="Google Shape;169;g3f3da43a7ba_7_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0" name="Google Shape;170;g3f3da43a7ba_7_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71" name="Shape 171"/>
        <p:cNvGrpSpPr/>
        <p:nvPr/>
      </p:nvGrpSpPr>
      <p:grpSpPr>
        <a:xfrm>
          <a:off x="0" y="0"/>
          <a:ext cx="0" cy="0"/>
          <a:chOff x="0" y="0"/>
          <a:chExt cx="0" cy="0"/>
        </a:xfrm>
      </p:grpSpPr>
      <p:sp>
        <p:nvSpPr>
          <p:cNvPr id="172" name="Google Shape;172;g3f3da43a7ba_7_22"/>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3" name="Google Shape;173;g3f3da43a7ba_7_22"/>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174" name="Google Shape;174;g3f3da43a7ba_7_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5" name="Google Shape;175;g3f3da43a7ba_7_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6" name="Google Shape;176;g3f3da43a7ba_7_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77" name="Shape 177"/>
        <p:cNvGrpSpPr/>
        <p:nvPr/>
      </p:nvGrpSpPr>
      <p:grpSpPr>
        <a:xfrm>
          <a:off x="0" y="0"/>
          <a:ext cx="0" cy="0"/>
          <a:chOff x="0" y="0"/>
          <a:chExt cx="0" cy="0"/>
        </a:xfrm>
      </p:grpSpPr>
      <p:sp>
        <p:nvSpPr>
          <p:cNvPr id="178" name="Google Shape;178;g3f3da43a7ba_7_2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9" name="Google Shape;179;g3f3da43a7ba_7_28"/>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80" name="Google Shape;180;g3f3da43a7ba_7_28"/>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81" name="Google Shape;181;g3f3da43a7ba_7_2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2" name="Google Shape;182;g3f3da43a7ba_7_2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g3f3da43a7ba_7_2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84" name="Shape 184"/>
        <p:cNvGrpSpPr/>
        <p:nvPr/>
      </p:nvGrpSpPr>
      <p:grpSpPr>
        <a:xfrm>
          <a:off x="0" y="0"/>
          <a:ext cx="0" cy="0"/>
          <a:chOff x="0" y="0"/>
          <a:chExt cx="0" cy="0"/>
        </a:xfrm>
      </p:grpSpPr>
      <p:sp>
        <p:nvSpPr>
          <p:cNvPr id="185" name="Google Shape;185;g3f3da43a7ba_7_3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6" name="Google Shape;186;g3f3da43a7ba_7_35"/>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87" name="Google Shape;187;g3f3da43a7ba_7_35"/>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88" name="Google Shape;188;g3f3da43a7ba_7_35"/>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89" name="Google Shape;189;g3f3da43a7ba_7_35"/>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90" name="Google Shape;190;g3f3da43a7ba_7_3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1" name="Google Shape;191;g3f3da43a7ba_7_3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2" name="Google Shape;192;g3f3da43a7ba_7_3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93" name="Shape 193"/>
        <p:cNvGrpSpPr/>
        <p:nvPr/>
      </p:nvGrpSpPr>
      <p:grpSpPr>
        <a:xfrm>
          <a:off x="0" y="0"/>
          <a:ext cx="0" cy="0"/>
          <a:chOff x="0" y="0"/>
          <a:chExt cx="0" cy="0"/>
        </a:xfrm>
      </p:grpSpPr>
      <p:sp>
        <p:nvSpPr>
          <p:cNvPr id="194" name="Google Shape;194;g3f3da43a7ba_7_4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5" name="Google Shape;195;g3f3da43a7ba_7_4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6" name="Google Shape;196;g3f3da43a7ba_7_4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7" name="Google Shape;197;g3f3da43a7ba_7_4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98" name="Shape 198"/>
        <p:cNvGrpSpPr/>
        <p:nvPr/>
      </p:nvGrpSpPr>
      <p:grpSpPr>
        <a:xfrm>
          <a:off x="0" y="0"/>
          <a:ext cx="0" cy="0"/>
          <a:chOff x="0" y="0"/>
          <a:chExt cx="0" cy="0"/>
        </a:xfrm>
      </p:grpSpPr>
      <p:sp>
        <p:nvSpPr>
          <p:cNvPr id="199" name="Google Shape;199;g3f3da43a7ba_7_4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0" name="Google Shape;200;g3f3da43a7ba_7_4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201" name="Google Shape;201;g3f3da43a7ba_7_4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202" name="Google Shape;202;g3f3da43a7ba_7_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3" name="Google Shape;203;g3f3da43a7ba_7_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4" name="Google Shape;204;g3f3da43a7ba_7_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205" name="Shape 205"/>
        <p:cNvGrpSpPr/>
        <p:nvPr/>
      </p:nvGrpSpPr>
      <p:grpSpPr>
        <a:xfrm>
          <a:off x="0" y="0"/>
          <a:ext cx="0" cy="0"/>
          <a:chOff x="0" y="0"/>
          <a:chExt cx="0" cy="0"/>
        </a:xfrm>
      </p:grpSpPr>
      <p:sp>
        <p:nvSpPr>
          <p:cNvPr id="206" name="Google Shape;206;g3f3da43a7ba_7_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7" name="Google Shape;207;g3f3da43a7ba_7_56"/>
          <p:cNvSpPr/>
          <p:nvPr>
            <p:ph idx="2" type="pic"/>
          </p:nvPr>
        </p:nvSpPr>
        <p:spPr>
          <a:xfrm>
            <a:off x="1792288" y="612775"/>
            <a:ext cx="5486400" cy="4114800"/>
          </a:xfrm>
          <a:prstGeom prst="rect">
            <a:avLst/>
          </a:prstGeom>
          <a:noFill/>
          <a:ln>
            <a:noFill/>
          </a:ln>
        </p:spPr>
      </p:sp>
      <p:sp>
        <p:nvSpPr>
          <p:cNvPr id="208" name="Google Shape;208;g3f3da43a7ba_7_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209" name="Google Shape;209;g3f3da43a7ba_7_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0" name="Google Shape;210;g3f3da43a7ba_7_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1" name="Google Shape;211;g3f3da43a7ba_7_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212" name="Shape 212"/>
        <p:cNvGrpSpPr/>
        <p:nvPr/>
      </p:nvGrpSpPr>
      <p:grpSpPr>
        <a:xfrm>
          <a:off x="0" y="0"/>
          <a:ext cx="0" cy="0"/>
          <a:chOff x="0" y="0"/>
          <a:chExt cx="0" cy="0"/>
        </a:xfrm>
      </p:grpSpPr>
      <p:sp>
        <p:nvSpPr>
          <p:cNvPr id="213" name="Google Shape;213;g3f3da43a7ba_7_6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4" name="Google Shape;214;g3f3da43a7ba_7_63"/>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15" name="Google Shape;215;g3f3da43a7ba_7_6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6" name="Google Shape;216;g3f3da43a7ba_7_6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7" name="Google Shape;217;g3f3da43a7ba_7_6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218" name="Shape 218"/>
        <p:cNvGrpSpPr/>
        <p:nvPr/>
      </p:nvGrpSpPr>
      <p:grpSpPr>
        <a:xfrm>
          <a:off x="0" y="0"/>
          <a:ext cx="0" cy="0"/>
          <a:chOff x="0" y="0"/>
          <a:chExt cx="0" cy="0"/>
        </a:xfrm>
      </p:grpSpPr>
      <p:sp>
        <p:nvSpPr>
          <p:cNvPr id="219" name="Google Shape;219;g3f3da43a7ba_7_69"/>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0" name="Google Shape;220;g3f3da43a7ba_7_69"/>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21" name="Google Shape;221;g3f3da43a7ba_7_6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2" name="Google Shape;222;g3f3da43a7ba_7_6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3" name="Google Shape;223;g3f3da43a7ba_7_6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11" Type="http://schemas.openxmlformats.org/officeDocument/2006/relationships/theme" Target="../theme/theme1.xml"/><Relationship Id="rId10" Type="http://schemas.openxmlformats.org/officeDocument/2006/relationships/slideLayout" Target="../slideLayouts/slideLayout21.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slideLayout" Target="../slideLayouts/slideLayout23.xml"/><Relationship Id="rId3" Type="http://schemas.openxmlformats.org/officeDocument/2006/relationships/slideLayout" Target="../slideLayouts/slideLayout24.xml"/><Relationship Id="rId4" Type="http://schemas.openxmlformats.org/officeDocument/2006/relationships/slideLayout" Target="../slideLayouts/slideLayout25.xml"/><Relationship Id="rId11" Type="http://schemas.openxmlformats.org/officeDocument/2006/relationships/slideLayout" Target="../slideLayouts/slideLayout32.xml"/><Relationship Id="rId10" Type="http://schemas.openxmlformats.org/officeDocument/2006/relationships/slideLayout" Target="../slideLayouts/slideLayout31.xml"/><Relationship Id="rId12" Type="http://schemas.openxmlformats.org/officeDocument/2006/relationships/theme" Target="../theme/theme4.xml"/><Relationship Id="rId9" Type="http://schemas.openxmlformats.org/officeDocument/2006/relationships/slideLayout" Target="../slideLayouts/slideLayout30.xml"/><Relationship Id="rId5" Type="http://schemas.openxmlformats.org/officeDocument/2006/relationships/slideLayout" Target="../slideLayouts/slideLayout26.xml"/><Relationship Id="rId6" Type="http://schemas.openxmlformats.org/officeDocument/2006/relationships/slideLayout" Target="../slideLayouts/slideLayout27.xml"/><Relationship Id="rId7" Type="http://schemas.openxmlformats.org/officeDocument/2006/relationships/slideLayout" Target="../slideLayouts/slideLayout28.xml"/><Relationship Id="rId8"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0" name="Shape 80"/>
        <p:cNvGrpSpPr/>
        <p:nvPr/>
      </p:nvGrpSpPr>
      <p:grpSpPr>
        <a:xfrm>
          <a:off x="0" y="0"/>
          <a:ext cx="0" cy="0"/>
          <a:chOff x="0" y="0"/>
          <a:chExt cx="0" cy="0"/>
        </a:xfrm>
      </p:grpSpPr>
      <p:sp>
        <p:nvSpPr>
          <p:cNvPr id="81" name="Google Shape;81;g3f3da43a7ba_5_0"/>
          <p:cNvSpPr txBox="1"/>
          <p:nvPr>
            <p:ph type="title"/>
          </p:nvPr>
        </p:nvSpPr>
        <p:spPr>
          <a:xfrm>
            <a:off x="457188" y="274638"/>
            <a:ext cx="8229381"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2" name="Google Shape;82;g3f3da43a7ba_5_0"/>
          <p:cNvSpPr txBox="1"/>
          <p:nvPr>
            <p:ph idx="1" type="body"/>
          </p:nvPr>
        </p:nvSpPr>
        <p:spPr>
          <a:xfrm>
            <a:off x="457188" y="1600200"/>
            <a:ext cx="8229381"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3" name="Google Shape;83;g3f3da43a7ba_5_0"/>
          <p:cNvSpPr txBox="1"/>
          <p:nvPr>
            <p:ph idx="10" type="dt"/>
          </p:nvPr>
        </p:nvSpPr>
        <p:spPr>
          <a:xfrm>
            <a:off x="457188" y="6356350"/>
            <a:ext cx="2133543"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4" name="Google Shape;84;g3f3da43a7ba_5_0"/>
          <p:cNvSpPr txBox="1"/>
          <p:nvPr>
            <p:ph idx="11" type="ftr"/>
          </p:nvPr>
        </p:nvSpPr>
        <p:spPr>
          <a:xfrm>
            <a:off x="3124117" y="6356350"/>
            <a:ext cx="2895523"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5" name="Google Shape;85;g3f3da43a7ba_5_0"/>
          <p:cNvSpPr txBox="1"/>
          <p:nvPr>
            <p:ph idx="12" type="sldNum"/>
          </p:nvPr>
        </p:nvSpPr>
        <p:spPr>
          <a:xfrm>
            <a:off x="6553025" y="6356350"/>
            <a:ext cx="2133543"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9" name="Shape 149"/>
        <p:cNvGrpSpPr/>
        <p:nvPr/>
      </p:nvGrpSpPr>
      <p:grpSpPr>
        <a:xfrm>
          <a:off x="0" y="0"/>
          <a:ext cx="0" cy="0"/>
          <a:chOff x="0" y="0"/>
          <a:chExt cx="0" cy="0"/>
        </a:xfrm>
      </p:grpSpPr>
      <p:sp>
        <p:nvSpPr>
          <p:cNvPr id="150" name="Google Shape;150;g3f3da43a7ba_7_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51" name="Google Shape;151;g3f3da43a7ba_7_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2" name="Google Shape;152;g3f3da43a7ba_7_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53" name="Google Shape;153;g3f3da43a7ba_7_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54" name="Google Shape;154;g3f3da43a7ba_7_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www.hetq.am/en/article/176048" TargetMode="External"/><Relationship Id="rId4" Type="http://schemas.openxmlformats.org/officeDocument/2006/relationships/hyperlink" Target="https://www.youtube.com/watch?v=JKMR-kUEn_8"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https://armenian.cc"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hyperlink" Target="https://github.com/SilviAvayan/Armenian.cc/blob/main/ASR_EVALUATION.md"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github.com/SilviAvayan/Armenian.cc"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armenian.cc"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227" name="Shape 227"/>
        <p:cNvGrpSpPr/>
        <p:nvPr/>
      </p:nvGrpSpPr>
      <p:grpSpPr>
        <a:xfrm>
          <a:off x="0" y="0"/>
          <a:ext cx="0" cy="0"/>
          <a:chOff x="0" y="0"/>
          <a:chExt cx="0" cy="0"/>
        </a:xfrm>
      </p:grpSpPr>
      <p:sp>
        <p:nvSpPr>
          <p:cNvPr id="228" name="Google Shape;228;p1"/>
          <p:cNvSpPr txBox="1"/>
          <p:nvPr/>
        </p:nvSpPr>
        <p:spPr>
          <a:xfrm>
            <a:off x="1554480" y="1417320"/>
            <a:ext cx="9144000" cy="36576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200" u="none" cap="none" strike="noStrike">
                <a:solidFill>
                  <a:srgbClr val="0F766E"/>
                </a:solidFill>
                <a:latin typeface="Noto Sans"/>
                <a:ea typeface="Noto Sans"/>
                <a:cs typeface="Noto Sans"/>
                <a:sym typeface="Noto Sans"/>
              </a:rPr>
              <a:t>HACK ARMENIA · DEMO DAY · AUGUST 9, 2026</a:t>
            </a:r>
            <a:endParaRPr/>
          </a:p>
        </p:txBody>
      </p:sp>
      <p:sp>
        <p:nvSpPr>
          <p:cNvPr id="229" name="Google Shape;229;p1"/>
          <p:cNvSpPr txBox="1"/>
          <p:nvPr/>
        </p:nvSpPr>
        <p:spPr>
          <a:xfrm>
            <a:off x="1554480" y="2011680"/>
            <a:ext cx="9144000" cy="11887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000" u="none" cap="none" strike="noStrike">
                <a:solidFill>
                  <a:srgbClr val="26231D"/>
                </a:solidFill>
                <a:latin typeface="Noto Sans"/>
                <a:ea typeface="Noto Sans"/>
                <a:cs typeface="Noto Sans"/>
                <a:sym typeface="Noto Sans"/>
              </a:rPr>
              <a:t>armenian</a:t>
            </a:r>
            <a:r>
              <a:rPr b="1" i="0" lang="en-US" sz="6000" u="none" cap="none" strike="noStrike">
                <a:solidFill>
                  <a:srgbClr val="0F766E"/>
                </a:solidFill>
                <a:latin typeface="Noto Sans"/>
                <a:ea typeface="Noto Sans"/>
                <a:cs typeface="Noto Sans"/>
                <a:sym typeface="Noto Sans"/>
              </a:rPr>
              <a:t>.cc</a:t>
            </a:r>
            <a:endParaRPr/>
          </a:p>
        </p:txBody>
      </p:sp>
      <p:sp>
        <p:nvSpPr>
          <p:cNvPr id="230" name="Google Shape;230;p1"/>
          <p:cNvSpPr txBox="1"/>
          <p:nvPr/>
        </p:nvSpPr>
        <p:spPr>
          <a:xfrm>
            <a:off x="2194560" y="3383280"/>
            <a:ext cx="7863840" cy="10972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900" u="none" cap="none" strike="noStrike">
                <a:solidFill>
                  <a:srgbClr val="7D7462"/>
                </a:solidFill>
                <a:latin typeface="Noto Sans"/>
                <a:ea typeface="Noto Sans"/>
                <a:cs typeface="Noto Sans"/>
                <a:sym typeface="Noto Sans"/>
              </a:rPr>
              <a:t>Learn the Armenian language people </a:t>
            </a:r>
            <a:r>
              <a:rPr b="0" i="1" lang="en-US" sz="1900" u="none" cap="none" strike="noStrike">
                <a:solidFill>
                  <a:srgbClr val="7D7462"/>
                </a:solidFill>
                <a:latin typeface="Noto Sans"/>
                <a:ea typeface="Noto Sans"/>
                <a:cs typeface="Noto Sans"/>
                <a:sym typeface="Noto Sans"/>
              </a:rPr>
              <a:t>actually</a:t>
            </a:r>
            <a:r>
              <a:rPr b="0" i="0" lang="en-US" sz="1900" u="none" cap="none" strike="noStrike">
                <a:solidFill>
                  <a:srgbClr val="7D7462"/>
                </a:solidFill>
                <a:latin typeface="Noto Sans"/>
                <a:ea typeface="Noto Sans"/>
                <a:cs typeface="Noto Sans"/>
                <a:sym typeface="Noto Sans"/>
              </a:rPr>
              <a:t> speak — the missing step between living in Armenia and belonging to it.</a:t>
            </a:r>
            <a:endParaRPr/>
          </a:p>
        </p:txBody>
      </p:sp>
      <p:sp>
        <p:nvSpPr>
          <p:cNvPr id="231" name="Google Shape;231;p1"/>
          <p:cNvSpPr txBox="1"/>
          <p:nvPr/>
        </p:nvSpPr>
        <p:spPr>
          <a:xfrm>
            <a:off x="2194560" y="4892040"/>
            <a:ext cx="7863900" cy="2769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200" u="none" cap="none" strike="noStrike">
                <a:solidFill>
                  <a:srgbClr val="837A68"/>
                </a:solidFill>
                <a:latin typeface="Noto Sans"/>
                <a:ea typeface="Noto Sans"/>
                <a:cs typeface="Noto Sans"/>
                <a:sym typeface="Noto Sans"/>
              </a:rPr>
              <a:t>Tigran Andreasyan · Silvi Avayan · Ilya Lysenkov</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235" name="Shape 235"/>
        <p:cNvGrpSpPr/>
        <p:nvPr/>
      </p:nvGrpSpPr>
      <p:grpSpPr>
        <a:xfrm>
          <a:off x="0" y="0"/>
          <a:ext cx="0" cy="0"/>
          <a:chOff x="0" y="0"/>
          <a:chExt cx="0" cy="0"/>
        </a:xfrm>
      </p:grpSpPr>
      <p:sp>
        <p:nvSpPr>
          <p:cNvPr id="236" name="Google Shape;236;p2"/>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0F766E"/>
                </a:solidFill>
                <a:latin typeface="Noto Sans"/>
                <a:ea typeface="Noto Sans"/>
                <a:cs typeface="Noto Sans"/>
                <a:sym typeface="Noto Sans"/>
              </a:rPr>
              <a:t>THE PROBLEM</a:t>
            </a:r>
            <a:endParaRPr/>
          </a:p>
        </p:txBody>
      </p:sp>
      <p:sp>
        <p:nvSpPr>
          <p:cNvPr id="237" name="Google Shape;237;p2"/>
          <p:cNvSpPr txBox="1"/>
          <p:nvPr/>
        </p:nvSpPr>
        <p:spPr>
          <a:xfrm>
            <a:off x="822960" y="868680"/>
            <a:ext cx="10515600" cy="777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400" u="none" cap="none" strike="noStrike">
                <a:solidFill>
                  <a:srgbClr val="26231D"/>
                </a:solidFill>
                <a:latin typeface="Noto Sans"/>
                <a:ea typeface="Noto Sans"/>
                <a:cs typeface="Noto Sans"/>
                <a:sym typeface="Noto Sans"/>
              </a:rPr>
              <a:t>In Armenia — but not </a:t>
            </a:r>
            <a:r>
              <a:rPr b="1" i="0" lang="en-US" sz="3400" u="sng" cap="none" strike="noStrike">
                <a:solidFill>
                  <a:srgbClr val="0F766E"/>
                </a:solidFill>
                <a:latin typeface="Noto Sans"/>
                <a:ea typeface="Noto Sans"/>
                <a:cs typeface="Noto Sans"/>
                <a:sym typeface="Noto Sans"/>
              </a:rPr>
              <a:t>part</a:t>
            </a:r>
            <a:r>
              <a:rPr b="1" i="0" lang="en-US" sz="3400" u="none" cap="none" strike="noStrike">
                <a:solidFill>
                  <a:srgbClr val="26231D"/>
                </a:solidFill>
                <a:latin typeface="Noto Sans"/>
                <a:ea typeface="Noto Sans"/>
                <a:cs typeface="Noto Sans"/>
                <a:sym typeface="Noto Sans"/>
              </a:rPr>
              <a:t> of it</a:t>
            </a:r>
            <a:endParaRPr/>
          </a:p>
        </p:txBody>
      </p:sp>
      <p:sp>
        <p:nvSpPr>
          <p:cNvPr id="238" name="Google Shape;238;p2"/>
          <p:cNvSpPr txBox="1"/>
          <p:nvPr/>
        </p:nvSpPr>
        <p:spPr>
          <a:xfrm>
            <a:off x="822960" y="1691640"/>
            <a:ext cx="10332720" cy="91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550" u="none" cap="none" strike="noStrike">
                <a:solidFill>
                  <a:srgbClr val="33302A"/>
                </a:solidFill>
                <a:latin typeface="Noto Sans"/>
                <a:ea typeface="Noto Sans"/>
                <a:cs typeface="Noto Sans"/>
                <a:sym typeface="Noto Sans"/>
              </a:rPr>
              <a:t>Newcomers to Armenia, from Russian speakers, Iranians and Indians to returning diaspora, work and rent here for years, yet stay outside the society they live in. The first barrier to integration is language: not the textbook kind, but the one spoken around them every day.</a:t>
            </a:r>
            <a:endParaRPr/>
          </a:p>
        </p:txBody>
      </p:sp>
      <p:sp>
        <p:nvSpPr>
          <p:cNvPr id="239" name="Google Shape;239;p2"/>
          <p:cNvSpPr/>
          <p:nvPr/>
        </p:nvSpPr>
        <p:spPr>
          <a:xfrm>
            <a:off x="822960" y="2834640"/>
            <a:ext cx="3401568" cy="196596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ctr" bIns="45700" lIns="164575" spcFirstLastPara="1" rIns="164575" wrap="square" tIns="91425">
            <a:noAutofit/>
          </a:bodyPr>
          <a:lstStyle/>
          <a:p>
            <a:pPr indent="0" lvl="0" marL="0" marR="0" rtl="0" algn="ctr">
              <a:spcBef>
                <a:spcPts val="0"/>
              </a:spcBef>
              <a:spcAft>
                <a:spcPts val="0"/>
              </a:spcAft>
              <a:buNone/>
            </a:pPr>
            <a:r>
              <a:rPr b="1" i="0" lang="en-US" sz="3000" u="none" cap="none" strike="noStrike">
                <a:solidFill>
                  <a:srgbClr val="0F766E"/>
                </a:solidFill>
                <a:latin typeface="Noto Sans"/>
                <a:ea typeface="Noto Sans"/>
                <a:cs typeface="Noto Sans"/>
                <a:sym typeface="Noto Sans"/>
              </a:rPr>
              <a:t>100K+</a:t>
            </a:r>
            <a:endParaRPr/>
          </a:p>
          <a:p>
            <a:pPr indent="0" lvl="0" marL="0" marR="0" rtl="0" algn="l">
              <a:spcBef>
                <a:spcPts val="0"/>
              </a:spcBef>
              <a:spcAft>
                <a:spcPts val="0"/>
              </a:spcAft>
              <a:buNone/>
            </a:pPr>
            <a:r>
              <a:rPr b="0" i="0" lang="en-US" sz="1200" u="none" cap="none" strike="noStrike">
                <a:solidFill>
                  <a:srgbClr val="7D7462"/>
                </a:solidFill>
                <a:latin typeface="Noto Sans"/>
                <a:ea typeface="Noto Sans"/>
                <a:cs typeface="Noto Sans"/>
                <a:sym typeface="Noto Sans"/>
              </a:rPr>
              <a:t>Russian speakers moved to Armenia since 2022, plus returning diaspora</a:t>
            </a:r>
            <a:endParaRPr/>
          </a:p>
          <a:p>
            <a:pPr indent="0" lvl="0" marL="0" marR="0" rtl="0" algn="l">
              <a:spcBef>
                <a:spcPts val="0"/>
              </a:spcBef>
              <a:spcAft>
                <a:spcPts val="0"/>
              </a:spcAft>
              <a:buNone/>
            </a:pPr>
            <a:r>
              <a:rPr b="0" i="0" lang="en-US" sz="1000" u="sng">
                <a:solidFill>
                  <a:srgbClr val="837A68"/>
                </a:solidFill>
                <a:latin typeface="Noto Sans"/>
                <a:ea typeface="Noto Sans"/>
                <a:cs typeface="Noto Sans"/>
                <a:sym typeface="Noto Sans"/>
                <a:hlinkClick r:id="rId3">
                  <a:extLst>
                    <a:ext uri="{A12FA001-AC4F-418D-AE19-62706E023703}">
                      <ahyp:hlinkClr val="tx"/>
                    </a:ext>
                  </a:extLst>
                </a:hlinkClick>
              </a:rPr>
              <a:t>Ministry of Economy of Armenia, 2022</a:t>
            </a:r>
            <a:endParaRPr/>
          </a:p>
        </p:txBody>
      </p:sp>
      <p:sp>
        <p:nvSpPr>
          <p:cNvPr id="240" name="Google Shape;240;p2"/>
          <p:cNvSpPr/>
          <p:nvPr/>
        </p:nvSpPr>
        <p:spPr>
          <a:xfrm>
            <a:off x="4379976" y="2834640"/>
            <a:ext cx="3401568" cy="196596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ctr" bIns="45700" lIns="164575" spcFirstLastPara="1" rIns="164575" wrap="square" tIns="91425">
            <a:noAutofit/>
          </a:bodyPr>
          <a:lstStyle/>
          <a:p>
            <a:pPr indent="0" lvl="0" marL="0" marR="0" rtl="0" algn="ctr">
              <a:spcBef>
                <a:spcPts val="0"/>
              </a:spcBef>
              <a:spcAft>
                <a:spcPts val="0"/>
              </a:spcAft>
              <a:buNone/>
            </a:pPr>
            <a:r>
              <a:rPr b="1" i="0" lang="en-US" sz="3000" u="none">
                <a:solidFill>
                  <a:srgbClr val="0F766E"/>
                </a:solidFill>
                <a:latin typeface="Noto Sans"/>
                <a:ea typeface="Noto Sans"/>
                <a:cs typeface="Noto Sans"/>
                <a:sym typeface="Noto Sans"/>
              </a:rPr>
              <a:t>500K</a:t>
            </a:r>
            <a:endParaRPr/>
          </a:p>
          <a:p>
            <a:pPr indent="0" lvl="0" marL="0" marR="0" rtl="0" algn="l">
              <a:spcBef>
                <a:spcPts val="0"/>
              </a:spcBef>
              <a:spcAft>
                <a:spcPts val="0"/>
              </a:spcAft>
              <a:buNone/>
            </a:pPr>
            <a:r>
              <a:rPr b="0" i="0" lang="en-US" sz="1200" u="none">
                <a:solidFill>
                  <a:srgbClr val="7D7462"/>
                </a:solidFill>
                <a:latin typeface="Noto Sans"/>
                <a:ea typeface="Noto Sans"/>
                <a:cs typeface="Noto Sans"/>
                <a:sym typeface="Noto Sans"/>
              </a:rPr>
              <a:t>people watched the first lesson of a </a:t>
            </a:r>
            <a:r>
              <a:rPr b="0" i="0" lang="en-US" sz="1200" u="sng">
                <a:solidFill>
                  <a:srgbClr val="7D7462"/>
                </a:solidFill>
                <a:latin typeface="Noto Sans"/>
                <a:ea typeface="Noto Sans"/>
                <a:cs typeface="Noto Sans"/>
                <a:sym typeface="Noto Sans"/>
                <a:hlinkClick r:id="rId4">
                  <a:extLst>
                    <a:ext uri="{A12FA001-AC4F-418D-AE19-62706E023703}">
                      <ahyp:hlinkClr val="tx"/>
                    </a:ext>
                  </a:extLst>
                </a:hlinkClick>
              </a:rPr>
              <a:t>YouTube Armenian course</a:t>
            </a:r>
            <a:r>
              <a:rPr b="0" i="0" lang="en-US" sz="1200" u="none">
                <a:solidFill>
                  <a:srgbClr val="7D7462"/>
                </a:solidFill>
                <a:latin typeface="Noto Sans"/>
                <a:ea typeface="Noto Sans"/>
                <a:cs typeface="Noto Sans"/>
                <a:sym typeface="Noto Sans"/>
              </a:rPr>
              <a:t>; only 40K reached the last</a:t>
            </a:r>
            <a:endParaRPr/>
          </a:p>
        </p:txBody>
      </p:sp>
      <p:sp>
        <p:nvSpPr>
          <p:cNvPr id="241" name="Google Shape;241;p2"/>
          <p:cNvSpPr/>
          <p:nvPr/>
        </p:nvSpPr>
        <p:spPr>
          <a:xfrm>
            <a:off x="7936992" y="2834640"/>
            <a:ext cx="3401568" cy="196596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ctr" bIns="45700" lIns="164575" spcFirstLastPara="1" rIns="164575" wrap="square" tIns="91425">
            <a:noAutofit/>
          </a:bodyPr>
          <a:lstStyle/>
          <a:p>
            <a:pPr indent="457200" lvl="0" marL="914400" marR="0" rtl="0" algn="l">
              <a:spcBef>
                <a:spcPts val="0"/>
              </a:spcBef>
              <a:spcAft>
                <a:spcPts val="0"/>
              </a:spcAft>
              <a:buNone/>
            </a:pPr>
            <a:r>
              <a:rPr b="1" i="0" lang="en-US" sz="3000" u="none">
                <a:solidFill>
                  <a:srgbClr val="0F766E"/>
                </a:solidFill>
                <a:latin typeface="Noto Sans"/>
                <a:ea typeface="Noto Sans"/>
                <a:cs typeface="Noto Sans"/>
                <a:sym typeface="Noto Sans"/>
              </a:rPr>
              <a:t>0</a:t>
            </a:r>
            <a:endParaRPr/>
          </a:p>
          <a:p>
            <a:pPr indent="0" lvl="0" marL="0" marR="0" rtl="0" algn="l">
              <a:spcBef>
                <a:spcPts val="0"/>
              </a:spcBef>
              <a:spcAft>
                <a:spcPts val="0"/>
              </a:spcAft>
              <a:buNone/>
            </a:pPr>
            <a:r>
              <a:rPr b="0" i="0" lang="en-US" sz="1200" u="none">
                <a:solidFill>
                  <a:srgbClr val="7D7462"/>
                </a:solidFill>
                <a:latin typeface="Noto Sans"/>
                <a:ea typeface="Noto Sans"/>
                <a:cs typeface="Noto Sans"/>
                <a:sym typeface="Noto Sans"/>
              </a:rPr>
              <a:t>big language apps teach Armenian (Duolingo, Babbel, Rosetta Stone, Busuu)</a:t>
            </a:r>
            <a:endParaRPr/>
          </a:p>
        </p:txBody>
      </p:sp>
      <p:sp>
        <p:nvSpPr>
          <p:cNvPr id="242" name="Google Shape;242;p2"/>
          <p:cNvSpPr txBox="1"/>
          <p:nvPr/>
        </p:nvSpPr>
        <p:spPr>
          <a:xfrm>
            <a:off x="822960" y="5029200"/>
            <a:ext cx="10515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a:solidFill>
                  <a:srgbClr val="837A68"/>
                </a:solidFill>
                <a:latin typeface="Noto Sans"/>
                <a:ea typeface="Noto Sans"/>
                <a:cs typeface="Noto Sans"/>
                <a:sym typeface="Noto Sans"/>
              </a:rPr>
              <a:t>People start learning Armenian, then quit: lessons have to be engaging. And the street language already lives in the most engaging format ever invented, short viral video.</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246" name="Shape 246"/>
        <p:cNvGrpSpPr/>
        <p:nvPr/>
      </p:nvGrpSpPr>
      <p:grpSpPr>
        <a:xfrm>
          <a:off x="0" y="0"/>
          <a:ext cx="0" cy="0"/>
          <a:chOff x="0" y="0"/>
          <a:chExt cx="0" cy="0"/>
        </a:xfrm>
      </p:grpSpPr>
      <p:sp>
        <p:nvSpPr>
          <p:cNvPr id="247" name="Google Shape;247;p3"/>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WHAT WE BUILT — LIVE DEMO</a:t>
            </a:r>
            <a:endParaRPr/>
          </a:p>
        </p:txBody>
      </p:sp>
      <p:sp>
        <p:nvSpPr>
          <p:cNvPr id="248" name="Google Shape;248;p3"/>
          <p:cNvSpPr txBox="1"/>
          <p:nvPr/>
        </p:nvSpPr>
        <p:spPr>
          <a:xfrm>
            <a:off x="822960" y="868680"/>
            <a:ext cx="10515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a:solidFill>
                  <a:srgbClr val="26231D"/>
                </a:solidFill>
                <a:latin typeface="Noto Sans"/>
                <a:ea typeface="Noto Sans"/>
                <a:cs typeface="Noto Sans"/>
                <a:sym typeface="Noto Sans"/>
              </a:rPr>
              <a:t>Viral TikToks become </a:t>
            </a:r>
            <a:r>
              <a:rPr b="1" i="0" lang="en-US" sz="3200" u="sng">
                <a:solidFill>
                  <a:srgbClr val="0F766E"/>
                </a:solidFill>
                <a:latin typeface="Noto Sans"/>
                <a:ea typeface="Noto Sans"/>
                <a:cs typeface="Noto Sans"/>
                <a:sym typeface="Noto Sans"/>
              </a:rPr>
              <a:t>lessons</a:t>
            </a:r>
            <a:endParaRPr/>
          </a:p>
        </p:txBody>
      </p:sp>
      <p:sp>
        <p:nvSpPr>
          <p:cNvPr id="249" name="Google Shape;249;p3"/>
          <p:cNvSpPr txBox="1"/>
          <p:nvPr/>
        </p:nvSpPr>
        <p:spPr>
          <a:xfrm>
            <a:off x="822960" y="1645920"/>
            <a:ext cx="1033272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550" u="none">
                <a:solidFill>
                  <a:srgbClr val="33302A"/>
                </a:solidFill>
                <a:latin typeface="Noto Sans"/>
                <a:ea typeface="Noto Sans"/>
                <a:cs typeface="Noto Sans"/>
                <a:sym typeface="Noto Sans"/>
              </a:rPr>
              <a:t>armenian.cc turns trending Armenian TikToks into interactive lessons for Russian speakers.</a:t>
            </a:r>
            <a:endParaRPr/>
          </a:p>
        </p:txBody>
      </p:sp>
      <p:sp>
        <p:nvSpPr>
          <p:cNvPr id="250" name="Google Shape;250;p3"/>
          <p:cNvSpPr/>
          <p:nvPr/>
        </p:nvSpPr>
        <p:spPr>
          <a:xfrm>
            <a:off x="822960" y="2286000"/>
            <a:ext cx="3401568" cy="160020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l">
              <a:spcBef>
                <a:spcPts val="0"/>
              </a:spcBef>
              <a:spcAft>
                <a:spcPts val="0"/>
              </a:spcAft>
              <a:buNone/>
            </a:pPr>
            <a:r>
              <a:rPr b="1" i="0" lang="en-US" sz="1400" u="none">
                <a:solidFill>
                  <a:srgbClr val="26231D"/>
                </a:solidFill>
                <a:latin typeface="Noto Sans"/>
                <a:ea typeface="Noto Sans"/>
                <a:cs typeface="Noto Sans"/>
                <a:sym typeface="Noto Sans"/>
              </a:rPr>
              <a:t>Watch real life</a:t>
            </a:r>
            <a:endParaRPr/>
          </a:p>
          <a:p>
            <a:pPr indent="0" lvl="0" marL="0" marR="0" rtl="0" algn="l">
              <a:spcBef>
                <a:spcPts val="400"/>
              </a:spcBef>
              <a:spcAft>
                <a:spcPts val="0"/>
              </a:spcAft>
              <a:buNone/>
            </a:pPr>
            <a:r>
              <a:rPr b="0" i="0" lang="en-US" sz="1200" u="none">
                <a:solidFill>
                  <a:srgbClr val="7D7462"/>
                </a:solidFill>
                <a:latin typeface="Noto Sans"/>
                <a:ea typeface="Noto Sans"/>
                <a:cs typeface="Noto Sans"/>
                <a:sym typeface="Noto Sans"/>
              </a:rPr>
              <a:t>Fresh viral videos from Armenian TikTok: jokes, street interviews, kitchens. The language exactly as people speak it.</a:t>
            </a:r>
            <a:endParaRPr/>
          </a:p>
        </p:txBody>
      </p:sp>
      <p:sp>
        <p:nvSpPr>
          <p:cNvPr id="251" name="Google Shape;251;p3"/>
          <p:cNvSpPr/>
          <p:nvPr/>
        </p:nvSpPr>
        <p:spPr>
          <a:xfrm>
            <a:off x="4379976" y="2286000"/>
            <a:ext cx="3401568" cy="160020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rtl="0" algn="l">
              <a:spcBef>
                <a:spcPts val="0"/>
              </a:spcBef>
              <a:spcAft>
                <a:spcPts val="0"/>
              </a:spcAft>
              <a:buClr>
                <a:schemeClr val="dk1"/>
              </a:buClr>
              <a:buSzPts val="1100"/>
              <a:buFont typeface="Arial"/>
              <a:buNone/>
            </a:pPr>
            <a:r>
              <a:rPr b="1" lang="en-US">
                <a:solidFill>
                  <a:srgbClr val="26231D"/>
                </a:solidFill>
                <a:latin typeface="Noto Sans"/>
                <a:ea typeface="Noto Sans"/>
                <a:cs typeface="Noto Sans"/>
                <a:sym typeface="Noto Sans"/>
              </a:rPr>
              <a:t>Understand every word</a:t>
            </a:r>
            <a:endParaRPr>
              <a:solidFill>
                <a:schemeClr val="dk1"/>
              </a:solidFill>
            </a:endParaRPr>
          </a:p>
          <a:p>
            <a:pPr indent="0" lvl="0" marL="0" rtl="0" algn="l">
              <a:spcBef>
                <a:spcPts val="400"/>
              </a:spcBef>
              <a:spcAft>
                <a:spcPts val="0"/>
              </a:spcAft>
              <a:buSzPts val="1100"/>
              <a:buNone/>
            </a:pPr>
            <a:r>
              <a:rPr lang="en-US" sz="1200">
                <a:solidFill>
                  <a:srgbClr val="7D7462"/>
                </a:solidFill>
                <a:latin typeface="Noto Sans"/>
                <a:ea typeface="Noto Sans"/>
                <a:cs typeface="Noto Sans"/>
                <a:sym typeface="Noto Sans"/>
              </a:rPr>
              <a:t>Hover a word for its Russian meaning in this exact context, with grammar notes.</a:t>
            </a:r>
            <a:endParaRPr b="1" sz="1250">
              <a:solidFill>
                <a:schemeClr val="dk1"/>
              </a:solidFill>
              <a:highlight>
                <a:srgbClr val="FFFDF8"/>
              </a:highlight>
              <a:latin typeface="Noto Sans Armenian"/>
              <a:ea typeface="Noto Sans Armenian"/>
              <a:cs typeface="Noto Sans Armenian"/>
              <a:sym typeface="Noto Sans Armenian"/>
            </a:endParaRPr>
          </a:p>
        </p:txBody>
      </p:sp>
      <p:sp>
        <p:nvSpPr>
          <p:cNvPr id="252" name="Google Shape;252;p3"/>
          <p:cNvSpPr/>
          <p:nvPr/>
        </p:nvSpPr>
        <p:spPr>
          <a:xfrm>
            <a:off x="7936992" y="2286000"/>
            <a:ext cx="3401568" cy="160020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rtl="0" algn="l">
              <a:lnSpc>
                <a:spcPct val="115000"/>
              </a:lnSpc>
              <a:spcBef>
                <a:spcPts val="0"/>
              </a:spcBef>
              <a:spcAft>
                <a:spcPts val="0"/>
              </a:spcAft>
              <a:buClr>
                <a:schemeClr val="dk1"/>
              </a:buClr>
              <a:buSzPts val="1100"/>
              <a:buFont typeface="Arial"/>
              <a:buNone/>
            </a:pPr>
            <a:r>
              <a:rPr b="1" lang="en-US" sz="1250">
                <a:solidFill>
                  <a:schemeClr val="dk1"/>
                </a:solidFill>
                <a:highlight>
                  <a:srgbClr val="FFFDF8"/>
                </a:highlight>
                <a:latin typeface="Noto Sans Armenian"/>
                <a:ea typeface="Noto Sans Armenian"/>
                <a:cs typeface="Noto Sans Armenian"/>
                <a:sym typeface="Noto Sans Armenian"/>
              </a:rPr>
              <a:t>Absorb the cultural code</a:t>
            </a:r>
            <a:endParaRPr b="1">
              <a:solidFill>
                <a:srgbClr val="26231D"/>
              </a:solidFill>
              <a:latin typeface="Noto Sans"/>
              <a:ea typeface="Noto Sans"/>
              <a:cs typeface="Noto Sans"/>
              <a:sym typeface="Noto Sans"/>
            </a:endParaRPr>
          </a:p>
          <a:p>
            <a:pPr indent="0" lvl="0" marL="0" rtl="0" algn="l">
              <a:spcBef>
                <a:spcPts val="400"/>
              </a:spcBef>
              <a:spcAft>
                <a:spcPts val="0"/>
              </a:spcAft>
              <a:buClr>
                <a:schemeClr val="dk1"/>
              </a:buClr>
              <a:buFont typeface="Arial"/>
              <a:buNone/>
            </a:pPr>
            <a:r>
              <a:rPr lang="en-US" sz="1250">
                <a:solidFill>
                  <a:srgbClr val="7D7462"/>
                </a:solidFill>
                <a:highlight>
                  <a:srgbClr val="FFFDF8"/>
                </a:highlight>
                <a:latin typeface="Noto Sans Armenian"/>
                <a:ea typeface="Noto Sans Armenian"/>
                <a:cs typeface="Noto Sans Armenian"/>
                <a:sym typeface="Noto Sans Armenian"/>
              </a:rPr>
              <a:t>Lessons are whatever Armenia is watching right now: the memes, the humor, what the country cares about this week. Language plus cultural code is what integration is made of.</a:t>
            </a:r>
            <a:endParaRPr>
              <a:solidFill>
                <a:schemeClr val="dk1"/>
              </a:solidFill>
            </a:endParaRPr>
          </a:p>
          <a:p>
            <a:pPr indent="0" lvl="0" marL="0" marR="0" rtl="0" algn="l">
              <a:spcBef>
                <a:spcPts val="400"/>
              </a:spcBef>
              <a:spcAft>
                <a:spcPts val="0"/>
              </a:spcAft>
              <a:buNone/>
            </a:pPr>
            <a:r>
              <a:t/>
            </a:r>
            <a:endParaRPr b="1">
              <a:solidFill>
                <a:srgbClr val="26231D"/>
              </a:solidFill>
              <a:latin typeface="Noto Sans"/>
              <a:ea typeface="Noto Sans"/>
              <a:cs typeface="Noto Sans"/>
              <a:sym typeface="Noto Sans"/>
            </a:endParaRPr>
          </a:p>
        </p:txBody>
      </p:sp>
      <p:sp>
        <p:nvSpPr>
          <p:cNvPr id="253" name="Google Shape;253;p3"/>
          <p:cNvSpPr/>
          <p:nvPr/>
        </p:nvSpPr>
        <p:spPr>
          <a:xfrm>
            <a:off x="822960" y="4114800"/>
            <a:ext cx="1965960" cy="105156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2000" u="none">
                <a:solidFill>
                  <a:srgbClr val="26231D"/>
                </a:solidFill>
                <a:latin typeface="Noto Sans Armenian"/>
                <a:ea typeface="Noto Sans Armenian"/>
                <a:cs typeface="Noto Sans Armenian"/>
                <a:sym typeface="Noto Sans Armenian"/>
              </a:rPr>
              <a:t>Սիրում</a:t>
            </a:r>
            <a:endParaRPr/>
          </a:p>
          <a:p>
            <a:pPr indent="0" lvl="0" marL="0" marR="0" rtl="0" algn="ctr">
              <a:spcBef>
                <a:spcPts val="0"/>
              </a:spcBef>
              <a:spcAft>
                <a:spcPts val="0"/>
              </a:spcAft>
              <a:buNone/>
            </a:pPr>
            <a:r>
              <a:rPr b="0" i="0" lang="en-US" sz="1200" u="none">
                <a:solidFill>
                  <a:srgbClr val="4A5E57"/>
                </a:solidFill>
                <a:latin typeface="Noto Sans"/>
                <a:ea typeface="Noto Sans"/>
                <a:cs typeface="Noto Sans"/>
                <a:sym typeface="Noto Sans"/>
              </a:rPr>
              <a:t>люблю</a:t>
            </a:r>
            <a:endParaRPr/>
          </a:p>
        </p:txBody>
      </p:sp>
      <p:sp>
        <p:nvSpPr>
          <p:cNvPr id="254" name="Google Shape;254;p3"/>
          <p:cNvSpPr/>
          <p:nvPr/>
        </p:nvSpPr>
        <p:spPr>
          <a:xfrm>
            <a:off x="2926080" y="4114800"/>
            <a:ext cx="1965960" cy="105156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2000" u="none">
                <a:solidFill>
                  <a:srgbClr val="26231D"/>
                </a:solidFill>
                <a:latin typeface="Noto Sans Armenian"/>
                <a:ea typeface="Noto Sans Armenian"/>
                <a:cs typeface="Noto Sans Armenian"/>
                <a:sym typeface="Noto Sans Armenian"/>
              </a:rPr>
              <a:t>եմ</a:t>
            </a:r>
            <a:endParaRPr/>
          </a:p>
          <a:p>
            <a:pPr indent="0" lvl="0" marL="0" marR="0" rtl="0" algn="ctr">
              <a:spcBef>
                <a:spcPts val="0"/>
              </a:spcBef>
              <a:spcAft>
                <a:spcPts val="0"/>
              </a:spcAft>
              <a:buNone/>
            </a:pPr>
            <a:r>
              <a:rPr b="0" i="0" lang="en-US" sz="1200" u="none">
                <a:solidFill>
                  <a:srgbClr val="4A5E57"/>
                </a:solidFill>
                <a:latin typeface="Noto Sans"/>
                <a:ea typeface="Noto Sans"/>
                <a:cs typeface="Noto Sans"/>
                <a:sym typeface="Noto Sans"/>
              </a:rPr>
              <a:t>(вспом. «быть»)</a:t>
            </a:r>
            <a:endParaRPr/>
          </a:p>
        </p:txBody>
      </p:sp>
      <p:sp>
        <p:nvSpPr>
          <p:cNvPr id="255" name="Google Shape;255;p3"/>
          <p:cNvSpPr/>
          <p:nvPr/>
        </p:nvSpPr>
        <p:spPr>
          <a:xfrm>
            <a:off x="5029200" y="4114800"/>
            <a:ext cx="1965960" cy="105156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2000" u="none">
                <a:solidFill>
                  <a:srgbClr val="26231D"/>
                </a:solidFill>
                <a:latin typeface="Noto Sans Armenian"/>
                <a:ea typeface="Noto Sans Armenian"/>
                <a:cs typeface="Noto Sans Armenian"/>
                <a:sym typeface="Noto Sans Armenian"/>
              </a:rPr>
              <a:t>քեզ</a:t>
            </a:r>
            <a:endParaRPr/>
          </a:p>
          <a:p>
            <a:pPr indent="0" lvl="0" marL="0" marR="0" rtl="0" algn="ctr">
              <a:spcBef>
                <a:spcPts val="0"/>
              </a:spcBef>
              <a:spcAft>
                <a:spcPts val="0"/>
              </a:spcAft>
              <a:buNone/>
            </a:pPr>
            <a:r>
              <a:rPr b="0" i="0" lang="en-US" sz="1200" u="none">
                <a:solidFill>
                  <a:srgbClr val="4A5E57"/>
                </a:solidFill>
                <a:latin typeface="Noto Sans"/>
                <a:ea typeface="Noto Sans"/>
                <a:cs typeface="Noto Sans"/>
                <a:sym typeface="Noto Sans"/>
              </a:rPr>
              <a:t>тебя</a:t>
            </a:r>
            <a:endParaRPr/>
          </a:p>
        </p:txBody>
      </p:sp>
      <p:sp>
        <p:nvSpPr>
          <p:cNvPr id="256" name="Google Shape;256;p3"/>
          <p:cNvSpPr txBox="1"/>
          <p:nvPr/>
        </p:nvSpPr>
        <p:spPr>
          <a:xfrm>
            <a:off x="822960" y="5557249"/>
            <a:ext cx="10515600" cy="4617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400" u="sng">
                <a:solidFill>
                  <a:srgbClr val="0F766E"/>
                </a:solidFill>
                <a:latin typeface="Noto Sans"/>
                <a:ea typeface="Noto Sans"/>
                <a:cs typeface="Noto Sans"/>
                <a:sym typeface="Noto Sans"/>
                <a:hlinkClick r:id="rId3">
                  <a:extLst>
                    <a:ext uri="{A12FA001-AC4F-418D-AE19-62706E023703}">
                      <ahyp:hlinkClr val="tx"/>
                    </a:ext>
                  </a:extLst>
                </a:hlinkClick>
              </a:rPr>
              <a:t>armenian.cc</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260" name="Shape 260"/>
        <p:cNvGrpSpPr/>
        <p:nvPr/>
      </p:nvGrpSpPr>
      <p:grpSpPr>
        <a:xfrm>
          <a:off x="0" y="0"/>
          <a:ext cx="0" cy="0"/>
          <a:chOff x="0" y="0"/>
          <a:chExt cx="0" cy="0"/>
        </a:xfrm>
      </p:grpSpPr>
      <p:sp>
        <p:nvSpPr>
          <p:cNvPr id="261" name="Google Shape;261;p4"/>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TO BE CLEAR</a:t>
            </a:r>
            <a:endParaRPr/>
          </a:p>
        </p:txBody>
      </p:sp>
      <p:sp>
        <p:nvSpPr>
          <p:cNvPr id="262" name="Google Shape;262;p4"/>
          <p:cNvSpPr txBox="1"/>
          <p:nvPr/>
        </p:nvSpPr>
        <p:spPr>
          <a:xfrm>
            <a:off x="822960" y="868680"/>
            <a:ext cx="1051560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a:solidFill>
                  <a:srgbClr val="26231D"/>
                </a:solidFill>
                <a:latin typeface="Noto Sans"/>
                <a:ea typeface="Noto Sans"/>
                <a:cs typeface="Noto Sans"/>
                <a:sym typeface="Noto Sans"/>
              </a:rPr>
              <a:t>What we came with, what we built </a:t>
            </a:r>
            <a:r>
              <a:rPr b="1" i="0" lang="en-US" sz="3200" u="sng">
                <a:solidFill>
                  <a:srgbClr val="0F766E"/>
                </a:solidFill>
                <a:latin typeface="Noto Sans"/>
                <a:ea typeface="Noto Sans"/>
                <a:cs typeface="Noto Sans"/>
                <a:sym typeface="Noto Sans"/>
              </a:rPr>
              <a:t>here</a:t>
            </a:r>
            <a:endParaRPr/>
          </a:p>
        </p:txBody>
      </p:sp>
      <p:sp>
        <p:nvSpPr>
          <p:cNvPr id="263" name="Google Shape;263;p4"/>
          <p:cNvSpPr/>
          <p:nvPr/>
        </p:nvSpPr>
        <p:spPr>
          <a:xfrm>
            <a:off x="822960" y="2011680"/>
            <a:ext cx="5166360" cy="173736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l">
              <a:spcBef>
                <a:spcPts val="0"/>
              </a:spcBef>
              <a:spcAft>
                <a:spcPts val="0"/>
              </a:spcAft>
              <a:buNone/>
            </a:pPr>
            <a:r>
              <a:rPr b="1" i="0" lang="en-US" sz="1400" u="none">
                <a:solidFill>
                  <a:srgbClr val="26231D"/>
                </a:solidFill>
                <a:latin typeface="Noto Sans"/>
                <a:ea typeface="Noto Sans"/>
                <a:cs typeface="Noto Sans"/>
                <a:sym typeface="Noto Sans"/>
              </a:rPr>
              <a:t>Before the hackathon</a:t>
            </a:r>
            <a:endParaRPr/>
          </a:p>
          <a:p>
            <a:pPr indent="0" lvl="0" marL="0" marR="0" rtl="0" algn="l">
              <a:spcBef>
                <a:spcPts val="400"/>
              </a:spcBef>
              <a:spcAft>
                <a:spcPts val="0"/>
              </a:spcAft>
              <a:buNone/>
            </a:pPr>
            <a:r>
              <a:t/>
            </a:r>
            <a:endParaRPr sz="1250">
              <a:solidFill>
                <a:srgbClr val="7D7462"/>
              </a:solidFill>
              <a:latin typeface="Noto Sans"/>
              <a:ea typeface="Noto Sans"/>
              <a:cs typeface="Noto Sans"/>
              <a:sym typeface="Noto Sans"/>
            </a:endParaRPr>
          </a:p>
          <a:p>
            <a:pPr indent="0" lvl="0" marL="0" marR="0" rtl="0" algn="l">
              <a:spcBef>
                <a:spcPts val="400"/>
              </a:spcBef>
              <a:spcAft>
                <a:spcPts val="0"/>
              </a:spcAft>
              <a:buNone/>
            </a:pPr>
            <a:r>
              <a:rPr b="0" i="0" lang="en-US" sz="1250" u="none">
                <a:solidFill>
                  <a:srgbClr val="7D7462"/>
                </a:solidFill>
                <a:latin typeface="Noto Sans"/>
                <a:ea typeface="Noto Sans"/>
                <a:cs typeface="Noto Sans"/>
                <a:sym typeface="Noto Sans"/>
              </a:rPr>
              <a:t>armenian.cc itself: the frontend, the backend video pipeline, the live site. An ongoing project.</a:t>
            </a:r>
            <a:endParaRPr/>
          </a:p>
        </p:txBody>
      </p:sp>
      <p:sp>
        <p:nvSpPr>
          <p:cNvPr id="264" name="Google Shape;264;p4"/>
          <p:cNvSpPr/>
          <p:nvPr/>
        </p:nvSpPr>
        <p:spPr>
          <a:xfrm>
            <a:off x="6172200" y="2011680"/>
            <a:ext cx="5166360" cy="1737360"/>
          </a:xfrm>
          <a:prstGeom prst="roundRect">
            <a:avLst>
              <a:gd fmla="val 6000" name="adj"/>
            </a:avLst>
          </a:prstGeom>
          <a:solidFill>
            <a:srgbClr val="EEF7F4"/>
          </a:solidFill>
          <a:ln cap="flat" cmpd="sng" w="12700">
            <a:solidFill>
              <a:srgbClr val="5FB3A6"/>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l">
              <a:spcBef>
                <a:spcPts val="0"/>
              </a:spcBef>
              <a:spcAft>
                <a:spcPts val="0"/>
              </a:spcAft>
              <a:buNone/>
            </a:pPr>
            <a:r>
              <a:rPr b="1" i="0" lang="en-US" sz="1400" u="none">
                <a:solidFill>
                  <a:srgbClr val="26231D"/>
                </a:solidFill>
                <a:latin typeface="Noto Sans"/>
                <a:ea typeface="Noto Sans"/>
                <a:cs typeface="Noto Sans"/>
                <a:sym typeface="Noto Sans"/>
              </a:rPr>
              <a:t>During the 24 hours</a:t>
            </a:r>
            <a:endParaRPr/>
          </a:p>
          <a:p>
            <a:pPr indent="0" lvl="0" marL="0" marR="0" rtl="0" algn="l">
              <a:spcBef>
                <a:spcPts val="400"/>
              </a:spcBef>
              <a:spcAft>
                <a:spcPts val="0"/>
              </a:spcAft>
              <a:buNone/>
            </a:pPr>
            <a:r>
              <a:rPr b="0" i="0" lang="en-US" sz="1250" u="none">
                <a:solidFill>
                  <a:srgbClr val="7D7462"/>
                </a:solidFill>
                <a:latin typeface="Noto Sans"/>
                <a:ea typeface="Noto Sans"/>
                <a:cs typeface="Noto Sans"/>
                <a:sym typeface="Noto Sans"/>
              </a:rPr>
              <a:t>Everything that makes it trustworthy: a ground-truth dataset of real Armenian speech, a 33-model speech recognition benchmark, and an evaluation of Armenian translation. The next two slides.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268" name="Shape 268"/>
        <p:cNvGrpSpPr/>
        <p:nvPr/>
      </p:nvGrpSpPr>
      <p:grpSpPr>
        <a:xfrm>
          <a:off x="0" y="0"/>
          <a:ext cx="0" cy="0"/>
          <a:chOff x="0" y="0"/>
          <a:chExt cx="0" cy="0"/>
        </a:xfrm>
      </p:grpSpPr>
      <p:sp>
        <p:nvSpPr>
          <p:cNvPr id="269" name="Google Shape;269;p5"/>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BUILT AT THE HACKATHON · SPEECH RECOGNITION</a:t>
            </a:r>
            <a:endParaRPr/>
          </a:p>
        </p:txBody>
      </p:sp>
      <p:sp>
        <p:nvSpPr>
          <p:cNvPr id="270" name="Google Shape;270;p5"/>
          <p:cNvSpPr txBox="1"/>
          <p:nvPr/>
        </p:nvSpPr>
        <p:spPr>
          <a:xfrm>
            <a:off x="822960" y="868680"/>
            <a:ext cx="1069848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000" u="none">
                <a:solidFill>
                  <a:srgbClr val="26231D"/>
                </a:solidFill>
                <a:latin typeface="Noto Sans"/>
                <a:ea typeface="Noto Sans"/>
                <a:cs typeface="Noto Sans"/>
                <a:sym typeface="Noto Sans"/>
              </a:rPr>
              <a:t>Can AI hear Armenian? We measured </a:t>
            </a:r>
            <a:r>
              <a:rPr b="1" i="0" lang="en-US" sz="3000" u="sng">
                <a:solidFill>
                  <a:srgbClr val="0F766E"/>
                </a:solidFill>
                <a:latin typeface="Noto Sans"/>
                <a:ea typeface="Noto Sans"/>
                <a:cs typeface="Noto Sans"/>
                <a:sym typeface="Noto Sans"/>
              </a:rPr>
              <a:t>33 models</a:t>
            </a:r>
            <a:endParaRPr/>
          </a:p>
        </p:txBody>
      </p:sp>
      <p:sp>
        <p:nvSpPr>
          <p:cNvPr id="271" name="Google Shape;271;p5"/>
          <p:cNvSpPr txBox="1"/>
          <p:nvPr/>
        </p:nvSpPr>
        <p:spPr>
          <a:xfrm>
            <a:off x="822960" y="1600200"/>
            <a:ext cx="10515600" cy="8686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u="none">
                <a:solidFill>
                  <a:srgbClr val="33302A"/>
                </a:solidFill>
                <a:latin typeface="Noto Sans"/>
                <a:ea typeface="Noto Sans"/>
                <a:cs typeface="Noto Sans"/>
                <a:sym typeface="Noto Sans"/>
              </a:rPr>
              <a:t>TikTok speech is its own world: noisy, informal, nothing like the read speech in existing Armenian datasets. So we built the ground truth ourselves: real TikTok audio, hand-corrected, split into five categories from formal speech to songs. Then we ran 33 ASR models against it.</a:t>
            </a:r>
            <a:endParaRPr/>
          </a:p>
        </p:txBody>
      </p:sp>
      <p:graphicFrame>
        <p:nvGraphicFramePr>
          <p:cNvPr id="272" name="Google Shape;272;p5"/>
          <p:cNvGraphicFramePr/>
          <p:nvPr/>
        </p:nvGraphicFramePr>
        <p:xfrm>
          <a:off x="822960" y="2606040"/>
          <a:ext cx="3000000" cy="3000000"/>
        </p:xfrm>
        <a:graphic>
          <a:graphicData uri="http://schemas.openxmlformats.org/drawingml/2006/table">
            <a:tbl>
              <a:tblPr>
                <a:noFill/>
                <a:tableStyleId>{E894C676-D9A0-449D-9184-6D198B448DEB}</a:tableStyleId>
              </a:tblPr>
              <a:tblGrid>
                <a:gridCol w="3017525"/>
                <a:gridCol w="868675"/>
                <a:gridCol w="1234450"/>
                <a:gridCol w="1234450"/>
                <a:gridCol w="868675"/>
                <a:gridCol w="1371600"/>
                <a:gridCol w="960125"/>
                <a:gridCol w="960125"/>
              </a:tblGrid>
              <a:tr h="404950">
                <a:tc>
                  <a:txBody>
                    <a:bodyPr/>
                    <a:lstStyle/>
                    <a:p>
                      <a:pPr indent="0" lvl="0" marL="0" marR="0" rtl="0" algn="l">
                        <a:spcBef>
                          <a:spcPts val="0"/>
                        </a:spcBef>
                        <a:spcAft>
                          <a:spcPts val="0"/>
                        </a:spcAft>
                        <a:buNone/>
                      </a:pPr>
                      <a:r>
                        <a:rPr b="1" i="0" lang="en-US" sz="1150" u="none" cap="none" strike="noStrike">
                          <a:solidFill>
                            <a:srgbClr val="26231D"/>
                          </a:solidFill>
                          <a:latin typeface="Noto Sans"/>
                          <a:ea typeface="Noto Sans"/>
                          <a:cs typeface="Noto Sans"/>
                          <a:sym typeface="Noto Sans"/>
                        </a:rPr>
                        <a:t>Model · word error rate</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Formal</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Single speaker</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Multi speaker</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Songs</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Difficult speech</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Overall</a:t>
                      </a:r>
                      <a:endParaRPr/>
                    </a:p>
                  </a:txBody>
                  <a:tcPr marT="45725" marB="45725" marR="73150" marL="73150" anchor="ctr">
                    <a:solidFill>
                      <a:srgbClr val="F1ECE0"/>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Cost / hr</a:t>
                      </a:r>
                      <a:endParaRPr/>
                    </a:p>
                  </a:txBody>
                  <a:tcPr marT="45725" marB="45725" marR="73150" marL="73150" anchor="ctr">
                    <a:solidFill>
                      <a:srgbClr val="F1ECE0"/>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ElevenLabs Scribe v2  (what we ship)</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2.1%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5.7%</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15.4%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7.1%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16.7%</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7.6%</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$0.22</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Gemini 3 Flash (preview)</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2.1%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11.3%</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12.8%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16.1%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19.4%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10.4%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1" i="0" lang="en-US" sz="1150" u="none" cap="none" strike="noStrike">
                          <a:solidFill>
                            <a:srgbClr val="26231D"/>
                          </a:solidFill>
                          <a:latin typeface="Noto Sans"/>
                          <a:ea typeface="Noto Sans"/>
                          <a:cs typeface="Noto Sans"/>
                          <a:sym typeface="Noto Sans"/>
                        </a:rPr>
                        <a:t>$0.12</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Gemini 3.6 Flash</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3.2%</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20.8%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20.5%</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26.8%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19.4%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15.8%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$0.17</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OpenAI gpt-transcribe</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3.2%</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20.8%</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a:t>
                      </a:r>
                      <a:r>
                        <a:rPr lang="en-US" sz="1150">
                          <a:solidFill>
                            <a:srgbClr val="33302A"/>
                          </a:solidFill>
                          <a:latin typeface="Noto Sans"/>
                          <a:ea typeface="Noto Sans"/>
                          <a:cs typeface="Noto Sans"/>
                          <a:sym typeface="Noto Sans"/>
                        </a:rPr>
                        <a:t>5</a:t>
                      </a:r>
                      <a:r>
                        <a:rPr b="0" i="0" lang="en-US" sz="1150" u="none" cap="none" strike="noStrike">
                          <a:solidFill>
                            <a:srgbClr val="33302A"/>
                          </a:solidFill>
                          <a:latin typeface="Noto Sans"/>
                          <a:ea typeface="Noto Sans"/>
                          <a:cs typeface="Noto Sans"/>
                          <a:sym typeface="Noto Sans"/>
                        </a:rPr>
                        <a:t>.</a:t>
                      </a:r>
                      <a:r>
                        <a:rPr lang="en-US" sz="1150">
                          <a:solidFill>
                            <a:srgbClr val="33302A"/>
                          </a:solidFill>
                          <a:latin typeface="Noto Sans"/>
                          <a:ea typeface="Noto Sans"/>
                          <a:cs typeface="Noto Sans"/>
                          <a:sym typeface="Noto Sans"/>
                        </a:rPr>
                        <a:t>6</a:t>
                      </a:r>
                      <a:r>
                        <a:rPr b="0" i="0" lang="en-US" sz="1150" u="none" cap="none" strike="noStrike">
                          <a:solidFill>
                            <a:srgbClr val="33302A"/>
                          </a:solidFill>
                          <a:latin typeface="Noto Sans"/>
                          <a:ea typeface="Noto Sans"/>
                          <a:cs typeface="Noto Sans"/>
                          <a:sym typeface="Noto Sans"/>
                        </a:rPr>
                        <a:t>%</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21.4%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47.2%</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19.</a:t>
                      </a:r>
                      <a:r>
                        <a:rPr lang="en-US" sz="1150">
                          <a:solidFill>
                            <a:srgbClr val="33302A"/>
                          </a:solidFill>
                          <a:latin typeface="Noto Sans"/>
                          <a:ea typeface="Noto Sans"/>
                          <a:cs typeface="Noto Sans"/>
                          <a:sym typeface="Noto Sans"/>
                        </a:rPr>
                        <a:t>1</a:t>
                      </a:r>
                      <a:r>
                        <a:rPr b="0" i="0" lang="en-US" sz="1150" u="none" cap="none" strike="noStrike">
                          <a:solidFill>
                            <a:srgbClr val="33302A"/>
                          </a:solidFill>
                          <a:latin typeface="Noto Sans"/>
                          <a:ea typeface="Noto Sans"/>
                          <a:cs typeface="Noto Sans"/>
                          <a:sym typeface="Noto Sans"/>
                        </a:rPr>
                        <a:t>%</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$0.27</a:t>
                      </a:r>
                      <a:endParaRPr/>
                    </a:p>
                  </a:txBody>
                  <a:tcPr marT="45725" marB="45725" marR="73150" marL="73150" anchor="ctr">
                    <a:solidFill>
                      <a:srgbClr val="FFFDF8"/>
                    </a:solidFill>
                  </a:tcPr>
                </a:tc>
              </a:tr>
              <a:tr h="404950">
                <a:tc>
                  <a:txBody>
                    <a:bodyPr/>
                    <a:lstStyle/>
                    <a:p>
                      <a:pPr indent="0" lvl="0" marL="0" marR="0" rtl="0" algn="l">
                        <a:spcBef>
                          <a:spcPts val="0"/>
                        </a:spcBef>
                        <a:spcAft>
                          <a:spcPts val="0"/>
                        </a:spcAft>
                        <a:buNone/>
                      </a:pPr>
                      <a:r>
                        <a:rPr b="0" i="0" lang="en-US" sz="1150" u="none" cap="none" strike="noStrike">
                          <a:solidFill>
                            <a:srgbClr val="33302A"/>
                          </a:solidFill>
                          <a:latin typeface="Noto Sans"/>
                          <a:ea typeface="Noto Sans"/>
                          <a:cs typeface="Noto Sans"/>
                          <a:sym typeface="Noto Sans"/>
                        </a:rPr>
                        <a:t>OpenAI Whisper-1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35.1%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71.7%</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74.4%</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44.6%</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61.1%</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52.9%</a:t>
                      </a:r>
                      <a:endParaRPr/>
                    </a:p>
                  </a:txBody>
                  <a:tcPr marT="45725" marB="45725" marR="73150" marL="73150" anchor="ctr">
                    <a:solidFill>
                      <a:srgbClr val="FFFDF8"/>
                    </a:solidFill>
                  </a:tcPr>
                </a:tc>
                <a:tc>
                  <a:txBody>
                    <a:bodyPr/>
                    <a:lstStyle/>
                    <a:p>
                      <a:pPr indent="0" lvl="0" marL="0" marR="0" rtl="0" algn="r">
                        <a:spcBef>
                          <a:spcPts val="0"/>
                        </a:spcBef>
                        <a:spcAft>
                          <a:spcPts val="0"/>
                        </a:spcAft>
                        <a:buNone/>
                      </a:pPr>
                      <a:r>
                        <a:rPr b="0" i="0" lang="en-US" sz="1150" u="none" cap="none" strike="noStrike">
                          <a:solidFill>
                            <a:srgbClr val="33302A"/>
                          </a:solidFill>
                          <a:latin typeface="Noto Sans"/>
                          <a:ea typeface="Noto Sans"/>
                          <a:cs typeface="Noto Sans"/>
                          <a:sym typeface="Noto Sans"/>
                        </a:rPr>
                        <a:t>$0.36</a:t>
                      </a:r>
                      <a:endParaRPr/>
                    </a:p>
                  </a:txBody>
                  <a:tcPr marT="45725" marB="45725" marR="73150" marL="73150" anchor="ctr">
                    <a:solidFill>
                      <a:srgbClr val="FFFDF8"/>
                    </a:solidFill>
                  </a:tcPr>
                </a:tc>
              </a:tr>
              <a:tr h="404950">
                <a:tc gridSpan="8">
                  <a:txBody>
                    <a:bodyPr/>
                    <a:lstStyle/>
                    <a:p>
                      <a:pPr indent="0" lvl="0" marL="0" marR="0" rtl="0" algn="l">
                        <a:spcBef>
                          <a:spcPts val="0"/>
                        </a:spcBef>
                        <a:spcAft>
                          <a:spcPts val="0"/>
                        </a:spcAft>
                        <a:buNone/>
                      </a:pPr>
                      <a:r>
                        <a:rPr b="0" i="0" lang="en-US" sz="1150" u="none" cap="none" strike="noStrike">
                          <a:solidFill>
                            <a:srgbClr val="837A68"/>
                          </a:solidFill>
                          <a:latin typeface="Noto Sans"/>
                          <a:ea typeface="Noto Sans"/>
                          <a:cs typeface="Noto Sans"/>
                          <a:sym typeface="Noto Sans"/>
                        </a:rPr>
                        <a:t>…28 more in the repo: </a:t>
                      </a:r>
                      <a:r>
                        <a:rPr b="0" i="0" lang="en-US" sz="1150" u="sng" cap="none" strike="noStrike">
                          <a:solidFill>
                            <a:srgbClr val="837A68"/>
                          </a:solidFill>
                          <a:latin typeface="Noto Sans"/>
                          <a:ea typeface="Noto Sans"/>
                          <a:cs typeface="Noto Sans"/>
                          <a:sym typeface="Noto Sans"/>
                          <a:hlinkClick r:id="rId3">
                            <a:extLst>
                              <a:ext uri="{A12FA001-AC4F-418D-AE19-62706E023703}">
                                <ahyp:hlinkClr val="tx"/>
                              </a:ext>
                            </a:extLst>
                          </a:hlinkClick>
                        </a:rPr>
                        <a:t>github.com/SilviAvayan/Armenian.cc/blob/main/ASR_EVALUATION.md</a:t>
                      </a:r>
                      <a:endParaRPr/>
                    </a:p>
                  </a:txBody>
                  <a:tcPr marT="45725" marB="45725" marR="91450" marL="91450">
                    <a:solidFill>
                      <a:srgbClr val="FFFDF8"/>
                    </a:solidFill>
                  </a:tcPr>
                </a:tc>
                <a:tc hMerge="1"/>
                <a:tc hMerge="1"/>
                <a:tc hMerge="1"/>
                <a:tc hMerge="1"/>
                <a:tc hMerge="1"/>
                <a:tc hMerge="1"/>
                <a:tc hMerge="1"/>
              </a:tr>
            </a:tbl>
          </a:graphicData>
        </a:graphic>
      </p:graphicFrame>
      <p:sp>
        <p:nvSpPr>
          <p:cNvPr id="273" name="Google Shape;273;p5"/>
          <p:cNvSpPr txBox="1"/>
          <p:nvPr/>
        </p:nvSpPr>
        <p:spPr>
          <a:xfrm>
            <a:off x="822960" y="5623560"/>
            <a:ext cx="1051560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200" u="none">
                <a:solidFill>
                  <a:srgbClr val="837A68"/>
                </a:solidFill>
                <a:latin typeface="Noto Sans"/>
                <a:ea typeface="Noto Sans"/>
                <a:cs typeface="Noto Sans"/>
                <a:sym typeface="Noto Sans"/>
              </a:rPr>
              <a:t>Cost is per hour of audio (from OpenRouter pricing). We ship the winner: best on real speech, plus the per-word timestamps and recognition confidence our platform needs.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277" name="Shape 277"/>
        <p:cNvGrpSpPr/>
        <p:nvPr/>
      </p:nvGrpSpPr>
      <p:grpSpPr>
        <a:xfrm>
          <a:off x="0" y="0"/>
          <a:ext cx="0" cy="0"/>
          <a:chOff x="0" y="0"/>
          <a:chExt cx="0" cy="0"/>
        </a:xfrm>
      </p:grpSpPr>
      <p:sp>
        <p:nvSpPr>
          <p:cNvPr id="278" name="Google Shape;278;g3f3da43a7ba_7_75"/>
          <p:cNvSpPr txBox="1"/>
          <p:nvPr/>
        </p:nvSpPr>
        <p:spPr>
          <a:xfrm>
            <a:off x="822960" y="502920"/>
            <a:ext cx="105156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F766E"/>
                </a:solidFill>
                <a:latin typeface="Noto Sans"/>
                <a:ea typeface="Noto Sans"/>
                <a:cs typeface="Noto Sans"/>
                <a:sym typeface="Noto Sans"/>
              </a:rPr>
              <a:t>BUILT AT THE HACKATHON · TRANSLATION</a:t>
            </a:r>
            <a:endParaRPr b="0" i="0" sz="1400" u="none" cap="none" strike="noStrike">
              <a:solidFill>
                <a:srgbClr val="000000"/>
              </a:solidFill>
              <a:latin typeface="Arial"/>
              <a:ea typeface="Arial"/>
              <a:cs typeface="Arial"/>
              <a:sym typeface="Arial"/>
            </a:endParaRPr>
          </a:p>
        </p:txBody>
      </p:sp>
      <p:sp>
        <p:nvSpPr>
          <p:cNvPr id="279" name="Google Shape;279;g3f3da43a7ba_7_75"/>
          <p:cNvSpPr txBox="1"/>
          <p:nvPr/>
        </p:nvSpPr>
        <p:spPr>
          <a:xfrm>
            <a:off x="822960" y="868680"/>
            <a:ext cx="10698600" cy="1046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3200"/>
              <a:buFont typeface="Arial"/>
              <a:buNone/>
            </a:pPr>
            <a:r>
              <a:rPr b="1" i="0" lang="en-US" sz="3200" u="none" cap="none" strike="noStrike">
                <a:solidFill>
                  <a:srgbClr val="26231D"/>
                </a:solidFill>
                <a:latin typeface="Noto Sans"/>
                <a:ea typeface="Noto Sans"/>
                <a:cs typeface="Noto Sans"/>
                <a:sym typeface="Noto Sans"/>
              </a:rPr>
              <a:t>Are the word meanings actually </a:t>
            </a:r>
            <a:r>
              <a:rPr b="1" i="0" lang="en-US" sz="3200" u="sng" cap="none" strike="noStrike">
                <a:solidFill>
                  <a:srgbClr val="0F766E"/>
                </a:solidFill>
                <a:latin typeface="Noto Sans"/>
                <a:ea typeface="Noto Sans"/>
                <a:cs typeface="Noto Sans"/>
                <a:sym typeface="Noto Sans"/>
              </a:rPr>
              <a:t>right</a:t>
            </a:r>
            <a:r>
              <a:rPr b="1" i="0" lang="en-US" sz="3200" u="none" cap="none" strike="noStrike">
                <a:solidFill>
                  <a:srgbClr val="26231D"/>
                </a:solidFill>
                <a:latin typeface="Noto Sans"/>
                <a:ea typeface="Noto Sans"/>
                <a:cs typeface="Noto Sans"/>
                <a:sym typeface="Noto Sans"/>
              </a:rPr>
              <a:t>?</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3000"/>
              <a:buFont typeface="Arial"/>
              <a:buNone/>
            </a:pPr>
            <a:r>
              <a:t/>
            </a:r>
            <a:endParaRPr b="1" i="0" sz="3000" u="none" cap="none" strike="noStrike">
              <a:solidFill>
                <a:srgbClr val="26231D"/>
              </a:solidFill>
              <a:latin typeface="Noto Sans"/>
              <a:ea typeface="Noto Sans"/>
              <a:cs typeface="Noto Sans"/>
              <a:sym typeface="Noto Sans"/>
            </a:endParaRPr>
          </a:p>
        </p:txBody>
      </p:sp>
      <p:sp>
        <p:nvSpPr>
          <p:cNvPr id="280" name="Google Shape;280;g3f3da43a7ba_7_75"/>
          <p:cNvSpPr txBox="1"/>
          <p:nvPr/>
        </p:nvSpPr>
        <p:spPr>
          <a:xfrm>
            <a:off x="822960" y="1600200"/>
            <a:ext cx="105156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33302A"/>
                </a:solidFill>
                <a:latin typeface="Noto Sans"/>
                <a:ea typeface="Noto Sans"/>
                <a:cs typeface="Noto Sans"/>
                <a:sym typeface="Noto Sans"/>
              </a:rPr>
              <a:t>A fluent speaker hand-checked the app’s word meanings </a:t>
            </a:r>
            <a:r>
              <a:rPr lang="en-US">
                <a:solidFill>
                  <a:srgbClr val="33302A"/>
                </a:solidFill>
                <a:latin typeface="Noto Sans"/>
                <a:ea typeface="Noto Sans"/>
                <a:cs typeface="Noto Sans"/>
                <a:sym typeface="Noto Sans"/>
              </a:rPr>
              <a:t>(gloss)</a:t>
            </a:r>
            <a:r>
              <a:rPr b="0" i="0" lang="en-US" sz="1400" u="none" cap="none" strike="noStrike">
                <a:solidFill>
                  <a:srgbClr val="33302A"/>
                </a:solidFill>
                <a:latin typeface="Noto Sans"/>
                <a:ea typeface="Noto Sans"/>
                <a:cs typeface="Noto Sans"/>
                <a:sym typeface="Noto Sans"/>
              </a:rPr>
              <a:t>: 88% correct in context, 90% of sentences faithful. We benchmarked a dozen translation models in the same way. </a:t>
            </a:r>
            <a:endParaRPr b="0" i="0" sz="1400" u="none" cap="none" strike="noStrike">
              <a:solidFill>
                <a:srgbClr val="000000"/>
              </a:solidFill>
              <a:latin typeface="Arial"/>
              <a:ea typeface="Arial"/>
              <a:cs typeface="Arial"/>
              <a:sym typeface="Arial"/>
            </a:endParaRPr>
          </a:p>
        </p:txBody>
      </p:sp>
      <p:graphicFrame>
        <p:nvGraphicFramePr>
          <p:cNvPr id="281" name="Google Shape;281;g3f3da43a7ba_7_75"/>
          <p:cNvGraphicFramePr/>
          <p:nvPr/>
        </p:nvGraphicFramePr>
        <p:xfrm>
          <a:off x="822960" y="2606040"/>
          <a:ext cx="3000000" cy="3000000"/>
        </p:xfrm>
        <a:graphic>
          <a:graphicData uri="http://schemas.openxmlformats.org/drawingml/2006/table">
            <a:tbl>
              <a:tblPr>
                <a:noFill/>
                <a:tableStyleId>{D0EDDF16-4AC9-4E48-B3BB-D5E033B1542B}</a:tableStyleId>
              </a:tblPr>
              <a:tblGrid>
                <a:gridCol w="4114800"/>
                <a:gridCol w="1600200"/>
                <a:gridCol w="1600200"/>
                <a:gridCol w="1600200"/>
                <a:gridCol w="1600200"/>
              </a:tblGrid>
              <a:tr h="404950">
                <a:tc>
                  <a:txBody>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26231D"/>
                          </a:solidFill>
                          <a:latin typeface="Noto Sans"/>
                          <a:ea typeface="Noto Sans"/>
                          <a:cs typeface="Noto Sans"/>
                          <a:sym typeface="Noto Sans"/>
                        </a:rPr>
                        <a:t>Model · translation quality</a:t>
                      </a:r>
                      <a:endParaRPr sz="1400" u="none" cap="none" strike="noStrike"/>
                    </a:p>
                  </a:txBody>
                  <a:tcPr marT="45725" marB="45725" marR="73150" marL="73150" anchor="ctr">
                    <a:solidFill>
                      <a:srgbClr val="F1ECE0"/>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1" lang="en-US" sz="1150">
                          <a:solidFill>
                            <a:srgbClr val="26231D"/>
                          </a:solidFill>
                          <a:latin typeface="Noto Sans"/>
                          <a:ea typeface="Noto Sans"/>
                          <a:cs typeface="Noto Sans"/>
                          <a:sym typeface="Noto Sans"/>
                        </a:rPr>
                        <a:t>Gloss</a:t>
                      </a:r>
                      <a:r>
                        <a:rPr b="1" i="0" lang="en-US" sz="1150" u="none" cap="none" strike="noStrike">
                          <a:solidFill>
                            <a:srgbClr val="26231D"/>
                          </a:solidFill>
                          <a:latin typeface="Noto Sans"/>
                          <a:ea typeface="Noto Sans"/>
                          <a:cs typeface="Noto Sans"/>
                          <a:sym typeface="Noto Sans"/>
                        </a:rPr>
                        <a:t> (chrF++)</a:t>
                      </a:r>
                      <a:endParaRPr sz="1400" u="none" cap="none" strike="noStrike"/>
                    </a:p>
                  </a:txBody>
                  <a:tcPr marT="45725" marB="45725" marR="73150" marL="73150" anchor="ctr">
                    <a:solidFill>
                      <a:srgbClr val="F1ECE0"/>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1" i="0" lang="en-US" sz="1150" u="none" cap="none" strike="noStrike">
                          <a:solidFill>
                            <a:srgbClr val="26231D"/>
                          </a:solidFill>
                          <a:latin typeface="Noto Sans"/>
                          <a:ea typeface="Noto Sans"/>
                          <a:cs typeface="Noto Sans"/>
                          <a:sym typeface="Noto Sans"/>
                        </a:rPr>
                        <a:t>Sentence (chrF++)</a:t>
                      </a:r>
                      <a:endParaRPr sz="1400" u="none" cap="none" strike="noStrike"/>
                    </a:p>
                  </a:txBody>
                  <a:tcPr marT="45725" marB="45725" marR="73150" marL="73150" anchor="ctr">
                    <a:solidFill>
                      <a:srgbClr val="F1ECE0"/>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1" i="0" lang="en-US" sz="1150" u="none" cap="none" strike="noStrike">
                          <a:solidFill>
                            <a:srgbClr val="26231D"/>
                          </a:solidFill>
                          <a:latin typeface="Noto Sans"/>
                          <a:ea typeface="Noto Sans"/>
                          <a:cs typeface="Noto Sans"/>
                          <a:sym typeface="Noto Sans"/>
                        </a:rPr>
                        <a:t>Valid</a:t>
                      </a:r>
                      <a:endParaRPr sz="1400" u="none" cap="none" strike="noStrike"/>
                    </a:p>
                  </a:txBody>
                  <a:tcPr marT="45725" marB="45725" marR="73150" marL="73150" anchor="ctr">
                    <a:solidFill>
                      <a:srgbClr val="F1ECE0"/>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1" i="0" lang="en-US" sz="1150" u="none" cap="none" strike="noStrike">
                          <a:solidFill>
                            <a:srgbClr val="26231D"/>
                          </a:solidFill>
                          <a:latin typeface="Noto Sans"/>
                          <a:ea typeface="Noto Sans"/>
                          <a:cs typeface="Noto Sans"/>
                          <a:sym typeface="Noto Sans"/>
                        </a:rPr>
                        <a:t>Latency</a:t>
                      </a:r>
                      <a:endParaRPr sz="1400" u="none" cap="none" strike="noStrike"/>
                    </a:p>
                  </a:txBody>
                  <a:tcPr marT="45725" marB="45725" marR="73150" marL="73150" anchor="ctr">
                    <a:solidFill>
                      <a:srgbClr val="F1ECE0"/>
                    </a:solidFill>
                  </a:tcPr>
                </a:tc>
              </a:tr>
              <a:tr h="404950">
                <a:tc>
                  <a:txBody>
                    <a:bodyPr/>
                    <a:lstStyle/>
                    <a:p>
                      <a:pPr indent="0" lvl="0" marL="0" marR="0" rtl="0" algn="l">
                        <a:lnSpc>
                          <a:spcPct val="100000"/>
                        </a:lnSpc>
                        <a:spcBef>
                          <a:spcPts val="0"/>
                        </a:spcBef>
                        <a:spcAft>
                          <a:spcPts val="0"/>
                        </a:spcAft>
                        <a:buClr>
                          <a:srgbClr val="000000"/>
                        </a:buClr>
                        <a:buSzPts val="1150"/>
                        <a:buFont typeface="Arial"/>
                        <a:buNone/>
                      </a:pPr>
                      <a:r>
                        <a:rPr b="1" i="0" lang="en-US" sz="1150" u="none" cap="none" strike="noStrike">
                          <a:solidFill>
                            <a:srgbClr val="0F766E"/>
                          </a:solidFill>
                          <a:latin typeface="Noto Sans"/>
                          <a:ea typeface="Noto Sans"/>
                          <a:cs typeface="Noto Sans"/>
                          <a:sym typeface="Noto Sans"/>
                        </a:rPr>
                        <a:t>Gemini 3.1 Flash-Lite  (what we ship)</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1" i="0" lang="en-US" sz="1150" u="none" cap="none" strike="noStrike">
                          <a:solidFill>
                            <a:srgbClr val="26231D"/>
                          </a:solidFill>
                          <a:latin typeface="Noto Sans"/>
                          <a:ea typeface="Noto Sans"/>
                          <a:cs typeface="Noto Sans"/>
                          <a:sym typeface="Noto Sans"/>
                        </a:rPr>
                        <a:t>71.7</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1" i="0" lang="en-US" sz="1150" u="none" cap="none" strike="noStrike">
                          <a:solidFill>
                            <a:srgbClr val="26231D"/>
                          </a:solidFill>
                          <a:latin typeface="Noto Sans"/>
                          <a:ea typeface="Noto Sans"/>
                          <a:cs typeface="Noto Sans"/>
                          <a:sym typeface="Noto Sans"/>
                        </a:rPr>
                        <a:t>74.1</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100%</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1.5s</a:t>
                      </a:r>
                      <a:endParaRPr sz="1400" u="none" cap="none" strike="noStrike"/>
                    </a:p>
                  </a:txBody>
                  <a:tcPr marT="45725" marB="45725" marR="73150" marL="73150" anchor="ctr">
                    <a:solidFill>
                      <a:srgbClr val="FFFDF8"/>
                    </a:solidFill>
                  </a:tcPr>
                </a:tc>
              </a:tr>
              <a:tr h="404950">
                <a:tc>
                  <a:txBody>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Gemini 3 Flash (preview)</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69.0</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73.0</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99%</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2.9s</a:t>
                      </a:r>
                      <a:endParaRPr sz="1400" u="none" cap="none" strike="noStrike"/>
                    </a:p>
                  </a:txBody>
                  <a:tcPr marT="45725" marB="45725" marR="73150" marL="73150" anchor="ctr">
                    <a:solidFill>
                      <a:srgbClr val="FFFDF8"/>
                    </a:solidFill>
                  </a:tcPr>
                </a:tc>
              </a:tr>
              <a:tr h="404950">
                <a:tc>
                  <a:txBody>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Gemini 3.1 Pro</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63.4</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67.2</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98%</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14.6s</a:t>
                      </a:r>
                      <a:endParaRPr sz="1400" u="none" cap="none" strike="noStrike"/>
                    </a:p>
                  </a:txBody>
                  <a:tcPr marT="45725" marB="45725" marR="73150" marL="73150" anchor="ctr">
                    <a:solidFill>
                      <a:srgbClr val="FFFDF8"/>
                    </a:solidFill>
                  </a:tcPr>
                </a:tc>
              </a:tr>
              <a:tr h="404950">
                <a:tc>
                  <a:txBody>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Gemini 2.5 Flash</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63.2</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65.2</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100%</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1.4s</a:t>
                      </a:r>
                      <a:endParaRPr sz="1400" u="none" cap="none" strike="noStrike"/>
                    </a:p>
                  </a:txBody>
                  <a:tcPr marT="45725" marB="45725" marR="73150" marL="73150" anchor="ctr">
                    <a:solidFill>
                      <a:srgbClr val="FFFDF8"/>
                    </a:solidFill>
                  </a:tcPr>
                </a:tc>
              </a:tr>
              <a:tr h="404950">
                <a:tc>
                  <a:txBody>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GPT-4.1-mini</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58.7</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55.4</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100%</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3.4s</a:t>
                      </a:r>
                      <a:endParaRPr sz="1400" u="none" cap="none" strike="noStrike"/>
                    </a:p>
                  </a:txBody>
                  <a:tcPr marT="45725" marB="45725" marR="73150" marL="73150" anchor="ctr">
                    <a:solidFill>
                      <a:srgbClr val="FFFDF8"/>
                    </a:solidFill>
                  </a:tcPr>
                </a:tc>
              </a:tr>
              <a:tr h="404950">
                <a:tc>
                  <a:txBody>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DeepSeek v3.1</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55.8</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57.6</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100%</a:t>
                      </a:r>
                      <a:endParaRPr sz="1400" u="none" cap="none" strike="noStrike"/>
                    </a:p>
                  </a:txBody>
                  <a:tcPr marT="45725" marB="45725" marR="73150" marL="73150" anchor="ctr">
                    <a:solidFill>
                      <a:srgbClr val="FFFDF8"/>
                    </a:solidFill>
                  </a:tcPr>
                </a:tc>
                <a:tc>
                  <a:txBody>
                    <a:bodyPr/>
                    <a:lstStyle/>
                    <a:p>
                      <a:pPr indent="0" lvl="0" marL="0" marR="0" rtl="0" algn="r">
                        <a:lnSpc>
                          <a:spcPct val="100000"/>
                        </a:lnSpc>
                        <a:spcBef>
                          <a:spcPts val="0"/>
                        </a:spcBef>
                        <a:spcAft>
                          <a:spcPts val="0"/>
                        </a:spcAft>
                        <a:buClr>
                          <a:srgbClr val="000000"/>
                        </a:buClr>
                        <a:buSzPts val="1150"/>
                        <a:buFont typeface="Arial"/>
                        <a:buNone/>
                      </a:pPr>
                      <a:r>
                        <a:rPr b="0" i="0" lang="en-US" sz="1150" u="none" cap="none" strike="noStrike">
                          <a:solidFill>
                            <a:srgbClr val="33302A"/>
                          </a:solidFill>
                          <a:latin typeface="Noto Sans"/>
                          <a:ea typeface="Noto Sans"/>
                          <a:cs typeface="Noto Sans"/>
                          <a:sym typeface="Noto Sans"/>
                        </a:rPr>
                        <a:t>10.6s</a:t>
                      </a:r>
                      <a:endParaRPr sz="1400" u="none" cap="none" strike="noStrike"/>
                    </a:p>
                  </a:txBody>
                  <a:tcPr marT="45725" marB="45725" marR="73150" marL="73150" anchor="ctr">
                    <a:solidFill>
                      <a:srgbClr val="FFFDF8"/>
                    </a:solidFill>
                  </a:tcPr>
                </a:tc>
              </a:tr>
              <a:tr h="380000">
                <a:tc gridSpan="5">
                  <a:txBody>
                    <a:bodyPr/>
                    <a:lstStyle/>
                    <a:p>
                      <a:pPr indent="0" lvl="0" marL="0" marR="0" rtl="0" algn="l">
                        <a:lnSpc>
                          <a:spcPct val="100000"/>
                        </a:lnSpc>
                        <a:spcBef>
                          <a:spcPts val="0"/>
                        </a:spcBef>
                        <a:spcAft>
                          <a:spcPts val="0"/>
                        </a:spcAft>
                        <a:buClr>
                          <a:srgbClr val="000000"/>
                        </a:buClr>
                        <a:buSzPts val="1050"/>
                        <a:buFont typeface="Arial"/>
                        <a:buNone/>
                      </a:pPr>
                      <a:r>
                        <a:rPr b="0" i="0" lang="en-US" sz="1050" u="none" cap="none" strike="noStrike">
                          <a:solidFill>
                            <a:srgbClr val="837A68"/>
                          </a:solidFill>
                          <a:latin typeface="Noto Sans"/>
                          <a:ea typeface="Noto Sans"/>
                          <a:cs typeface="Noto Sans"/>
                          <a:sym typeface="Noto Sans"/>
                        </a:rPr>
                        <a:t>…Gemini 3.5 / 3.6 Flash, 2.5 Flash-Lite, GPT-4o-mini, DeepSeek v4 — full board in the repo</a:t>
                      </a:r>
                      <a:endParaRPr sz="1400" u="none" cap="none" strike="noStrike"/>
                    </a:p>
                  </a:txBody>
                  <a:tcPr marT="45725" marB="45725" marR="73150" marL="73150" anchor="ctr">
                    <a:solidFill>
                      <a:srgbClr val="FFFDF8"/>
                    </a:solidFill>
                  </a:tcPr>
                </a:tc>
                <a:tc hMerge="1"/>
                <a:tc hMerge="1"/>
                <a:tc hMerge="1"/>
                <a:tc hMerge="1"/>
              </a:tr>
            </a:tbl>
          </a:graphicData>
        </a:graphic>
      </p:graphicFrame>
      <p:sp>
        <p:nvSpPr>
          <p:cNvPr id="282" name="Google Shape;282;g3f3da43a7ba_7_75"/>
          <p:cNvSpPr txBox="1"/>
          <p:nvPr/>
        </p:nvSpPr>
        <p:spPr>
          <a:xfrm>
            <a:off x="822960" y="5900000"/>
            <a:ext cx="10515600" cy="82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150"/>
              <a:buFont typeface="Arial"/>
              <a:buNone/>
            </a:pPr>
            <a:r>
              <a:rPr b="0" i="0" lang="en-US" sz="1150" u="none" cap="none" strike="noStrike">
                <a:solidFill>
                  <a:srgbClr val="837A68"/>
                </a:solidFill>
                <a:latin typeface="Noto Sans"/>
                <a:ea typeface="Noto Sans"/>
                <a:cs typeface="Noto Sans"/>
                <a:sym typeface="Noto Sans"/>
              </a:rPr>
              <a:t>chrF++ = character match to a human translation (0–100). Flash-Lite wins on quality AND speed; the bigger reasoning tiers match quality but cost 4–10× the latency. And we don’t let AI grade itself — a self-check grader is trusted only after it matches the human (κ 0.66).</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286" name="Shape 286"/>
        <p:cNvGrpSpPr/>
        <p:nvPr/>
      </p:nvGrpSpPr>
      <p:grpSpPr>
        <a:xfrm>
          <a:off x="0" y="0"/>
          <a:ext cx="0" cy="0"/>
          <a:chOff x="0" y="0"/>
          <a:chExt cx="0" cy="0"/>
        </a:xfrm>
      </p:grpSpPr>
      <p:sp>
        <p:nvSpPr>
          <p:cNvPr id="287" name="Google Shape;287;g3f3da43a7ba_5_69"/>
          <p:cNvSpPr txBox="1"/>
          <p:nvPr/>
        </p:nvSpPr>
        <p:spPr>
          <a:xfrm>
            <a:off x="822938" y="502920"/>
            <a:ext cx="1051532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1" i="0" lang="en-US" sz="1200" u="none" cap="none" strike="noStrike">
                <a:solidFill>
                  <a:srgbClr val="0F766E"/>
                </a:solidFill>
                <a:latin typeface="Noto Sans"/>
                <a:ea typeface="Noto Sans"/>
                <a:cs typeface="Noto Sans"/>
                <a:sym typeface="Noto Sans"/>
              </a:rPr>
              <a:t>LIMITATIONS · FAILURE MODES · SAFETY</a:t>
            </a:r>
            <a:endParaRPr b="0" i="0" sz="1400" u="none" cap="none" strike="noStrike">
              <a:solidFill>
                <a:srgbClr val="000000"/>
              </a:solidFill>
              <a:latin typeface="Arial"/>
              <a:ea typeface="Arial"/>
              <a:cs typeface="Arial"/>
              <a:sym typeface="Arial"/>
            </a:endParaRPr>
          </a:p>
        </p:txBody>
      </p:sp>
      <p:sp>
        <p:nvSpPr>
          <p:cNvPr id="288" name="Google Shape;288;g3f3da43a7ba_5_69"/>
          <p:cNvSpPr txBox="1"/>
          <p:nvPr/>
        </p:nvSpPr>
        <p:spPr>
          <a:xfrm>
            <a:off x="822938" y="868680"/>
            <a:ext cx="10698315" cy="585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3200"/>
              <a:buFont typeface="Arial"/>
              <a:buNone/>
            </a:pPr>
            <a:r>
              <a:rPr b="1" i="0" lang="en-US" sz="3200" u="none" cap="none" strike="noStrike">
                <a:solidFill>
                  <a:srgbClr val="26231D"/>
                </a:solidFill>
                <a:latin typeface="Noto Sans"/>
                <a:ea typeface="Noto Sans"/>
                <a:cs typeface="Noto Sans"/>
                <a:sym typeface="Noto Sans"/>
              </a:rPr>
              <a:t>We know </a:t>
            </a:r>
            <a:r>
              <a:rPr b="1" i="0" lang="en-US" sz="3200" u="sng" cap="none" strike="noStrike">
                <a:solidFill>
                  <a:srgbClr val="0F766E"/>
                </a:solidFill>
                <a:latin typeface="Noto Sans"/>
                <a:ea typeface="Noto Sans"/>
                <a:cs typeface="Noto Sans"/>
                <a:sym typeface="Noto Sans"/>
              </a:rPr>
              <a:t>where it breaks</a:t>
            </a:r>
            <a:r>
              <a:rPr b="1" i="0" lang="en-US" sz="3200" u="none" cap="none" strike="noStrike">
                <a:solidFill>
                  <a:srgbClr val="26231D"/>
                </a:solidFill>
                <a:latin typeface="Noto Sans"/>
                <a:ea typeface="Noto Sans"/>
                <a:cs typeface="Noto Sans"/>
                <a:sym typeface="Noto Sans"/>
              </a:rPr>
              <a:t>, and what stops it</a:t>
            </a:r>
            <a:endParaRPr b="0" i="0" sz="1400" u="none" cap="none" strike="noStrike">
              <a:solidFill>
                <a:srgbClr val="000000"/>
              </a:solidFill>
              <a:latin typeface="Arial"/>
              <a:ea typeface="Arial"/>
              <a:cs typeface="Arial"/>
              <a:sym typeface="Arial"/>
            </a:endParaRPr>
          </a:p>
        </p:txBody>
      </p:sp>
      <p:sp>
        <p:nvSpPr>
          <p:cNvPr id="289" name="Google Shape;289;g3f3da43a7ba_5_69"/>
          <p:cNvSpPr txBox="1"/>
          <p:nvPr/>
        </p:nvSpPr>
        <p:spPr>
          <a:xfrm>
            <a:off x="1005950" y="5160450"/>
            <a:ext cx="10515300" cy="292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300"/>
              <a:buFont typeface="Arial"/>
              <a:buNone/>
            </a:pPr>
            <a:r>
              <a:rPr b="0" i="0" lang="en-US" sz="1300" u="none" cap="none" strike="noStrike">
                <a:solidFill>
                  <a:srgbClr val="837A68"/>
                </a:solidFill>
                <a:latin typeface="Noto Sans"/>
                <a:ea typeface="Noto Sans"/>
                <a:cs typeface="Noto Sans"/>
                <a:sym typeface="Noto Sans"/>
              </a:rPr>
              <a:t>Who could it harm? A learner memorizing a wrong meaning. The guardrails above exist to make that as rare as possible.</a:t>
            </a:r>
            <a:endParaRPr b="0" i="0" sz="1400" u="none" cap="none" strike="noStrike">
              <a:solidFill>
                <a:srgbClr val="000000"/>
              </a:solidFill>
              <a:latin typeface="Arial"/>
              <a:ea typeface="Arial"/>
              <a:cs typeface="Arial"/>
              <a:sym typeface="Arial"/>
            </a:endParaRPr>
          </a:p>
        </p:txBody>
      </p:sp>
      <p:sp>
        <p:nvSpPr>
          <p:cNvPr id="290" name="Google Shape;290;g3f3da43a7ba_5_69"/>
          <p:cNvSpPr/>
          <p:nvPr/>
        </p:nvSpPr>
        <p:spPr>
          <a:xfrm>
            <a:off x="822938" y="2098163"/>
            <a:ext cx="5166300" cy="2379900"/>
          </a:xfrm>
          <a:prstGeom prst="roundRect">
            <a:avLst>
              <a:gd fmla="val 5000" name="adj"/>
            </a:avLst>
          </a:prstGeom>
          <a:solidFill>
            <a:srgbClr val="FFFDF8"/>
          </a:solidFill>
          <a:ln cap="flat" cmpd="sng" w="12700">
            <a:solidFill>
              <a:srgbClr val="E8E0D0"/>
            </a:solidFill>
            <a:prstDash val="solid"/>
            <a:round/>
            <a:headEnd len="sm" w="sm" type="none"/>
            <a:tailEnd len="sm" w="sm" type="none"/>
          </a:ln>
        </p:spPr>
        <p:txBody>
          <a:bodyPr anchorCtr="0" anchor="t" bIns="128000" lIns="164575" spcFirstLastPara="1" rIns="164575" wrap="square" tIns="146050">
            <a:noAutofit/>
          </a:bodyPr>
          <a:lstStyle/>
          <a:p>
            <a:pPr indent="0" lvl="0" marL="0" marR="0" rtl="0" algn="l">
              <a:lnSpc>
                <a:spcPct val="100000"/>
              </a:lnSpc>
              <a:spcBef>
                <a:spcPts val="0"/>
              </a:spcBef>
              <a:spcAft>
                <a:spcPts val="0"/>
              </a:spcAft>
              <a:buClr>
                <a:srgbClr val="000000"/>
              </a:buClr>
              <a:buSzPts val="1400"/>
              <a:buFont typeface="Arial"/>
              <a:buNone/>
            </a:pPr>
            <a:r>
              <a:t/>
            </a:r>
            <a:endParaRPr>
              <a:solidFill>
                <a:srgbClr val="33302A"/>
              </a:solidFill>
              <a:latin typeface="Noto Sans"/>
              <a:ea typeface="Noto Sans"/>
              <a:cs typeface="Noto Sans"/>
              <a:sym typeface="Noto Sans"/>
            </a:endParaRPr>
          </a:p>
          <a:p>
            <a:pPr indent="0" lvl="0" marL="0" marR="0" rtl="0" algn="l">
              <a:lnSpc>
                <a:spcPct val="100000"/>
              </a:lnSpc>
              <a:spcBef>
                <a:spcPts val="0"/>
              </a:spcBef>
              <a:spcAft>
                <a:spcPts val="0"/>
              </a:spcAft>
              <a:buClr>
                <a:srgbClr val="000000"/>
              </a:buClr>
              <a:buSzPts val="1400"/>
              <a:buFont typeface="Arial"/>
              <a:buNone/>
            </a:pPr>
            <a:r>
              <a:t/>
            </a:r>
            <a:endParaRPr>
              <a:solidFill>
                <a:srgbClr val="33302A"/>
              </a:solidFill>
              <a:latin typeface="Noto Sans"/>
              <a:ea typeface="Noto Sans"/>
              <a:cs typeface="Noto Sans"/>
              <a:sym typeface="Noto Sans"/>
            </a:endParaRPr>
          </a:p>
          <a:p>
            <a:pPr indent="-317500" lvl="0" marL="457200" marR="0" rtl="0" algn="l">
              <a:lnSpc>
                <a:spcPct val="100000"/>
              </a:lnSpc>
              <a:spcBef>
                <a:spcPts val="0"/>
              </a:spcBef>
              <a:spcAft>
                <a:spcPts val="0"/>
              </a:spcAft>
              <a:buClr>
                <a:srgbClr val="33302A"/>
              </a:buClr>
              <a:buSzPts val="1400"/>
              <a:buFont typeface="Noto Sans"/>
              <a:buChar char="●"/>
            </a:pPr>
            <a:r>
              <a:rPr b="0" i="0" lang="en-US" sz="1400" u="none" cap="none" strike="noStrike">
                <a:solidFill>
                  <a:srgbClr val="33302A"/>
                </a:solidFill>
                <a:latin typeface="Noto Sans"/>
                <a:ea typeface="Noto Sans"/>
                <a:cs typeface="Noto Sans"/>
                <a:sym typeface="Noto Sans"/>
              </a:rPr>
              <a:t>Speech recognition still gets about 8% of words wrong.</a:t>
            </a:r>
            <a:endParaRPr b="0" i="0" sz="1400" u="none" cap="none" strike="noStrike">
              <a:solidFill>
                <a:srgbClr val="000000"/>
              </a:solidFill>
              <a:latin typeface="Arial"/>
              <a:ea typeface="Arial"/>
              <a:cs typeface="Arial"/>
              <a:sym typeface="Arial"/>
            </a:endParaRPr>
          </a:p>
          <a:p>
            <a:pPr indent="-317500" lvl="0" marL="457200" marR="0" rtl="0" algn="l">
              <a:lnSpc>
                <a:spcPct val="100000"/>
              </a:lnSpc>
              <a:spcBef>
                <a:spcPts val="0"/>
              </a:spcBef>
              <a:spcAft>
                <a:spcPts val="0"/>
              </a:spcAft>
              <a:buClr>
                <a:srgbClr val="33302A"/>
              </a:buClr>
              <a:buSzPts val="1400"/>
              <a:buFont typeface="Noto Sans"/>
              <a:buChar char="●"/>
            </a:pPr>
            <a:r>
              <a:rPr b="0" i="0" lang="en-US" sz="1400" u="none" cap="none" strike="noStrike">
                <a:solidFill>
                  <a:srgbClr val="33302A"/>
                </a:solidFill>
                <a:latin typeface="Noto Sans"/>
                <a:ea typeface="Noto Sans"/>
                <a:cs typeface="Noto Sans"/>
                <a:sym typeface="Noto Sans"/>
              </a:rPr>
              <a:t>29% of word errors come from mishearing, not translation; the rest are slang, loanwords, and the auxiliary «է/եմ».</a:t>
            </a:r>
            <a:endParaRPr b="0" i="0" sz="1400" u="none" cap="none" strike="noStrike">
              <a:solidFill>
                <a:srgbClr val="000000"/>
              </a:solidFill>
              <a:latin typeface="Arial"/>
              <a:ea typeface="Arial"/>
              <a:cs typeface="Arial"/>
              <a:sym typeface="Arial"/>
            </a:endParaRPr>
          </a:p>
        </p:txBody>
      </p:sp>
      <p:sp>
        <p:nvSpPr>
          <p:cNvPr id="291" name="Google Shape;291;g3f3da43a7ba_5_69"/>
          <p:cNvSpPr/>
          <p:nvPr/>
        </p:nvSpPr>
        <p:spPr>
          <a:xfrm>
            <a:off x="6171960" y="2098150"/>
            <a:ext cx="5166300" cy="2379900"/>
          </a:xfrm>
          <a:prstGeom prst="roundRect">
            <a:avLst>
              <a:gd fmla="val 5000" name="adj"/>
            </a:avLst>
          </a:prstGeom>
          <a:solidFill>
            <a:srgbClr val="F1F7F4"/>
          </a:solidFill>
          <a:ln cap="flat" cmpd="sng" w="12700">
            <a:solidFill>
              <a:srgbClr val="9AD2C7"/>
            </a:solidFill>
            <a:prstDash val="solid"/>
            <a:round/>
            <a:headEnd len="sm" w="sm" type="none"/>
            <a:tailEnd len="sm" w="sm" type="none"/>
          </a:ln>
        </p:spPr>
        <p:txBody>
          <a:bodyPr anchorCtr="0" anchor="t" bIns="128000" lIns="164575" spcFirstLastPara="1" rIns="164575" wrap="square" tIns="146050">
            <a:noAutofit/>
          </a:bodyPr>
          <a:lstStyle/>
          <a:p>
            <a:pPr indent="0" lvl="0" marL="0" marR="0" rtl="0" algn="l">
              <a:lnSpc>
                <a:spcPct val="100000"/>
              </a:lnSpc>
              <a:spcBef>
                <a:spcPts val="0"/>
              </a:spcBef>
              <a:spcAft>
                <a:spcPts val="0"/>
              </a:spcAft>
              <a:buClr>
                <a:srgbClr val="000000"/>
              </a:buClr>
              <a:buSzPts val="1400"/>
              <a:buFont typeface="Arial"/>
              <a:buNone/>
            </a:pPr>
            <a:r>
              <a:t/>
            </a:r>
            <a:endParaRPr b="1">
              <a:solidFill>
                <a:srgbClr val="26231D"/>
              </a:solidFill>
              <a:latin typeface="Noto Sans"/>
              <a:ea typeface="Noto Sans"/>
              <a:cs typeface="Noto Sans"/>
              <a:sym typeface="Noto Sans"/>
            </a:endParaRPr>
          </a:p>
          <a:p>
            <a:pPr indent="0" lvl="0" marL="0" marR="0" rtl="0" algn="l">
              <a:lnSpc>
                <a:spcPct val="100000"/>
              </a:lnSpc>
              <a:spcBef>
                <a:spcPts val="0"/>
              </a:spcBef>
              <a:spcAft>
                <a:spcPts val="0"/>
              </a:spcAft>
              <a:buClr>
                <a:srgbClr val="000000"/>
              </a:buClr>
              <a:buSzPts val="1400"/>
              <a:buFont typeface="Arial"/>
              <a:buNone/>
            </a:pPr>
            <a:r>
              <a:rPr b="1" i="0" lang="en-US" sz="1400" u="none" cap="none" strike="noStrike">
                <a:solidFill>
                  <a:srgbClr val="26231D"/>
                </a:solidFill>
                <a:latin typeface="Noto Sans"/>
                <a:ea typeface="Noto Sans"/>
                <a:cs typeface="Noto Sans"/>
                <a:sym typeface="Noto Sans"/>
              </a:rPr>
              <a:t>Guardrails: </a:t>
            </a:r>
            <a:r>
              <a:rPr b="0" i="0" lang="en-US" sz="1400" u="none" cap="none" strike="noStrike">
                <a:solidFill>
                  <a:srgbClr val="33302A"/>
                </a:solidFill>
                <a:latin typeface="Noto Sans"/>
                <a:ea typeface="Noto Sans"/>
                <a:cs typeface="Noto Sans"/>
                <a:sym typeface="Noto Sans"/>
              </a:rPr>
              <a:t>videos that fail production checks never publish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250"/>
              <a:buFont typeface="Arial"/>
              <a:buNone/>
            </a:pPr>
            <a:r>
              <a:rPr b="1" i="0" lang="en-US" sz="1250" u="none" cap="none" strike="noStrike">
                <a:solidFill>
                  <a:srgbClr val="0F766E"/>
                </a:solidFill>
                <a:latin typeface="Noto Sans"/>
                <a:ea typeface="Noto Sans"/>
                <a:cs typeface="Noto Sans"/>
                <a:sym typeface="Noto Sans"/>
              </a:rPr>
              <a:t>•  </a:t>
            </a:r>
            <a:r>
              <a:rPr b="0" i="0" lang="en-US" sz="1250" u="none" cap="none" strike="noStrike">
                <a:solidFill>
                  <a:srgbClr val="33302A"/>
                </a:solidFill>
                <a:latin typeface="Noto Sans"/>
                <a:ea typeface="Noto Sans"/>
                <a:cs typeface="Noto Sans"/>
                <a:sym typeface="Noto Sans"/>
              </a:rPr>
              <a:t>low confidence in speech recognition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80"/>
              </a:spcBef>
              <a:spcAft>
                <a:spcPts val="0"/>
              </a:spcAft>
              <a:buClr>
                <a:srgbClr val="000000"/>
              </a:buClr>
              <a:buSzPts val="1250"/>
              <a:buFont typeface="Arial"/>
              <a:buNone/>
            </a:pPr>
            <a:r>
              <a:rPr b="1" i="0" lang="en-US" sz="1250" u="none" cap="none" strike="noStrike">
                <a:solidFill>
                  <a:srgbClr val="0F766E"/>
                </a:solidFill>
                <a:latin typeface="Noto Sans"/>
                <a:ea typeface="Noto Sans"/>
                <a:cs typeface="Noto Sans"/>
                <a:sym typeface="Noto Sans"/>
              </a:rPr>
              <a:t>•  </a:t>
            </a:r>
            <a:r>
              <a:rPr b="0" i="0" lang="en-US" sz="1250" u="none" cap="none" strike="noStrike">
                <a:solidFill>
                  <a:srgbClr val="33302A"/>
                </a:solidFill>
                <a:latin typeface="Noto Sans"/>
                <a:ea typeface="Noto Sans"/>
                <a:cs typeface="Noto Sans"/>
                <a:sym typeface="Noto Sans"/>
              </a:rPr>
              <a:t>no speech</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80"/>
              </a:spcBef>
              <a:spcAft>
                <a:spcPts val="0"/>
              </a:spcAft>
              <a:buClr>
                <a:srgbClr val="000000"/>
              </a:buClr>
              <a:buSzPts val="1250"/>
              <a:buFont typeface="Arial"/>
              <a:buNone/>
            </a:pPr>
            <a:r>
              <a:rPr b="1" i="0" lang="en-US" sz="1250" u="none" cap="none" strike="noStrike">
                <a:solidFill>
                  <a:srgbClr val="0F766E"/>
                </a:solidFill>
                <a:latin typeface="Noto Sans"/>
                <a:ea typeface="Noto Sans"/>
                <a:cs typeface="Noto Sans"/>
                <a:sym typeface="Noto Sans"/>
              </a:rPr>
              <a:t>•  </a:t>
            </a:r>
            <a:r>
              <a:rPr b="0" i="0" lang="en-US" sz="1250" u="none" cap="none" strike="noStrike">
                <a:solidFill>
                  <a:srgbClr val="33302A"/>
                </a:solidFill>
                <a:latin typeface="Noto Sans"/>
                <a:ea typeface="Noto Sans"/>
                <a:cs typeface="Noto Sans"/>
                <a:sym typeface="Noto Sans"/>
              </a:rPr>
              <a:t>non-Armenian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80"/>
              </a:spcBef>
              <a:spcAft>
                <a:spcPts val="0"/>
              </a:spcAft>
              <a:buClr>
                <a:srgbClr val="000000"/>
              </a:buClr>
              <a:buSzPts val="1250"/>
              <a:buFont typeface="Arial"/>
              <a:buNone/>
            </a:pPr>
            <a:r>
              <a:rPr b="1" i="0" lang="en-US" sz="1250" u="none" cap="none" strike="noStrike">
                <a:solidFill>
                  <a:srgbClr val="0F766E"/>
                </a:solidFill>
                <a:latin typeface="Noto Sans"/>
                <a:ea typeface="Noto Sans"/>
                <a:cs typeface="Noto Sans"/>
                <a:sym typeface="Noto Sans"/>
              </a:rPr>
              <a:t>•  </a:t>
            </a:r>
            <a:r>
              <a:rPr b="0" i="0" lang="en-US" sz="1250" u="none" cap="none" strike="noStrike">
                <a:solidFill>
                  <a:srgbClr val="33302A"/>
                </a:solidFill>
                <a:latin typeface="Noto Sans"/>
                <a:ea typeface="Noto Sans"/>
                <a:cs typeface="Noto Sans"/>
                <a:sym typeface="Noto Sans"/>
              </a:rPr>
              <a:t>prohibited content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380"/>
              </a:spcBef>
              <a:spcAft>
                <a:spcPts val="0"/>
              </a:spcAft>
              <a:buClr>
                <a:srgbClr val="000000"/>
              </a:buClr>
              <a:buSzPts val="1300"/>
              <a:buFont typeface="Arial"/>
              <a:buNone/>
            </a:pPr>
            <a:r>
              <a:rPr b="0" i="0" lang="en-US" sz="1300" u="none" cap="none" strike="noStrike">
                <a:solidFill>
                  <a:srgbClr val="7D7462"/>
                </a:solidFill>
                <a:latin typeface="Noto Sans"/>
                <a:ea typeface="Noto Sans"/>
                <a:cs typeface="Noto Sans"/>
                <a:sym typeface="Noto Sans"/>
              </a:rPr>
              <a:t>Errors we find are corrected by hand.</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295" name="Shape 295"/>
        <p:cNvGrpSpPr/>
        <p:nvPr/>
      </p:nvGrpSpPr>
      <p:grpSpPr>
        <a:xfrm>
          <a:off x="0" y="0"/>
          <a:ext cx="0" cy="0"/>
          <a:chOff x="0" y="0"/>
          <a:chExt cx="0" cy="0"/>
        </a:xfrm>
      </p:grpSpPr>
      <p:sp>
        <p:nvSpPr>
          <p:cNvPr id="296" name="Google Shape;296;p8"/>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REAL-WORLD FEASIBILITY · REPRODUCIBILITY</a:t>
            </a:r>
            <a:endParaRPr/>
          </a:p>
        </p:txBody>
      </p:sp>
      <p:sp>
        <p:nvSpPr>
          <p:cNvPr id="297" name="Google Shape;297;p8"/>
          <p:cNvSpPr txBox="1"/>
          <p:nvPr/>
        </p:nvSpPr>
        <p:spPr>
          <a:xfrm>
            <a:off x="822960" y="868680"/>
            <a:ext cx="1069848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200" u="none">
                <a:solidFill>
                  <a:srgbClr val="26231D"/>
                </a:solidFill>
                <a:latin typeface="Noto Sans"/>
                <a:ea typeface="Noto Sans"/>
                <a:cs typeface="Noto Sans"/>
                <a:sym typeface="Noto Sans"/>
              </a:rPr>
              <a:t>Not a demo — </a:t>
            </a:r>
            <a:r>
              <a:rPr b="1" i="0" lang="en-US" sz="3200" u="sng">
                <a:solidFill>
                  <a:srgbClr val="0F766E"/>
                </a:solidFill>
                <a:latin typeface="Noto Sans"/>
                <a:ea typeface="Noto Sans"/>
                <a:cs typeface="Noto Sans"/>
                <a:sym typeface="Noto Sans"/>
              </a:rPr>
              <a:t>running every day</a:t>
            </a:r>
            <a:r>
              <a:rPr b="1" i="0" lang="en-US" sz="3200" u="none">
                <a:solidFill>
                  <a:srgbClr val="26231D"/>
                </a:solidFill>
                <a:latin typeface="Noto Sans"/>
                <a:ea typeface="Noto Sans"/>
                <a:cs typeface="Noto Sans"/>
                <a:sym typeface="Noto Sans"/>
              </a:rPr>
              <a:t> on real data</a:t>
            </a:r>
            <a:endParaRPr/>
          </a:p>
        </p:txBody>
      </p:sp>
      <p:sp>
        <p:nvSpPr>
          <p:cNvPr id="298" name="Google Shape;298;p8"/>
          <p:cNvSpPr/>
          <p:nvPr/>
        </p:nvSpPr>
        <p:spPr>
          <a:xfrm>
            <a:off x="822960" y="2103120"/>
            <a:ext cx="3401568" cy="169164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l">
              <a:spcBef>
                <a:spcPts val="0"/>
              </a:spcBef>
              <a:spcAft>
                <a:spcPts val="0"/>
              </a:spcAft>
              <a:buNone/>
            </a:pPr>
            <a:r>
              <a:rPr b="1" i="0" lang="en-US" sz="1400" u="none">
                <a:solidFill>
                  <a:srgbClr val="26231D"/>
                </a:solidFill>
                <a:latin typeface="Noto Sans"/>
                <a:ea typeface="Noto Sans"/>
                <a:cs typeface="Noto Sans"/>
                <a:sym typeface="Noto Sans"/>
              </a:rPr>
              <a:t>Live and automatic</a:t>
            </a:r>
            <a:endParaRPr/>
          </a:p>
          <a:p>
            <a:pPr indent="0" lvl="0" marL="0" marR="0" rtl="0" algn="l">
              <a:spcBef>
                <a:spcPts val="400"/>
              </a:spcBef>
              <a:spcAft>
                <a:spcPts val="0"/>
              </a:spcAft>
              <a:buNone/>
            </a:pPr>
            <a:r>
              <a:rPr b="0" i="0" lang="en-US" sz="1200" u="none">
                <a:solidFill>
                  <a:srgbClr val="7D7462"/>
                </a:solidFill>
                <a:latin typeface="Noto Sans"/>
                <a:ea typeface="Noto Sans"/>
                <a:cs typeface="Noto Sans"/>
                <a:sym typeface="Noto Sans"/>
              </a:rPr>
              <a:t>Deployed at armenian.cc. New trending videos become lessons on a daily schedule, with no humans in the loop.</a:t>
            </a:r>
            <a:endParaRPr/>
          </a:p>
        </p:txBody>
      </p:sp>
      <p:sp>
        <p:nvSpPr>
          <p:cNvPr id="299" name="Google Shape;299;p8"/>
          <p:cNvSpPr/>
          <p:nvPr/>
        </p:nvSpPr>
        <p:spPr>
          <a:xfrm>
            <a:off x="4379976" y="2103120"/>
            <a:ext cx="3401568" cy="169164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l">
              <a:spcBef>
                <a:spcPts val="0"/>
              </a:spcBef>
              <a:spcAft>
                <a:spcPts val="0"/>
              </a:spcAft>
              <a:buNone/>
            </a:pPr>
            <a:r>
              <a:rPr b="1" i="0" lang="en-US" sz="1400" u="none">
                <a:solidFill>
                  <a:srgbClr val="26231D"/>
                </a:solidFill>
                <a:latin typeface="Noto Sans"/>
                <a:ea typeface="Noto Sans"/>
                <a:cs typeface="Noto Sans"/>
                <a:sym typeface="Noto Sans"/>
              </a:rPr>
              <a:t>Cost and latency</a:t>
            </a:r>
            <a:endParaRPr/>
          </a:p>
          <a:p>
            <a:pPr indent="0" lvl="0" marL="0" marR="0" rtl="0" algn="l">
              <a:spcBef>
                <a:spcPts val="400"/>
              </a:spcBef>
              <a:spcAft>
                <a:spcPts val="0"/>
              </a:spcAft>
              <a:buNone/>
            </a:pPr>
            <a:r>
              <a:rPr b="0" i="0" lang="en-US" sz="1200" u="none">
                <a:solidFill>
                  <a:srgbClr val="7D7462"/>
                </a:solidFill>
                <a:latin typeface="Noto Sans"/>
                <a:ea typeface="Noto Sans"/>
                <a:cs typeface="Noto Sans"/>
                <a:sym typeface="Noto Sans"/>
              </a:rPr>
              <a:t>One new video: $0.005 in API costs and 1 minute of processing, end to end.</a:t>
            </a:r>
            <a:endParaRPr/>
          </a:p>
        </p:txBody>
      </p:sp>
      <p:sp>
        <p:nvSpPr>
          <p:cNvPr id="300" name="Google Shape;300;p8"/>
          <p:cNvSpPr/>
          <p:nvPr/>
        </p:nvSpPr>
        <p:spPr>
          <a:xfrm>
            <a:off x="7936992" y="2103120"/>
            <a:ext cx="3401568" cy="169164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l">
              <a:spcBef>
                <a:spcPts val="0"/>
              </a:spcBef>
              <a:spcAft>
                <a:spcPts val="0"/>
              </a:spcAft>
              <a:buNone/>
            </a:pPr>
            <a:r>
              <a:rPr b="1" i="0" lang="en-US" sz="1400" u="none">
                <a:solidFill>
                  <a:srgbClr val="26231D"/>
                </a:solidFill>
                <a:latin typeface="Noto Sans"/>
                <a:ea typeface="Noto Sans"/>
                <a:cs typeface="Noto Sans"/>
                <a:sym typeface="Noto Sans"/>
              </a:rPr>
              <a:t>Reproducible</a:t>
            </a:r>
            <a:endParaRPr/>
          </a:p>
          <a:p>
            <a:pPr indent="0" lvl="0" marL="0" marR="0" rtl="0" algn="l">
              <a:spcBef>
                <a:spcPts val="400"/>
              </a:spcBef>
              <a:spcAft>
                <a:spcPts val="0"/>
              </a:spcAft>
              <a:buNone/>
            </a:pPr>
            <a:r>
              <a:rPr b="0" i="0" lang="en-US" sz="1200" u="none">
                <a:solidFill>
                  <a:srgbClr val="7D7462"/>
                </a:solidFill>
                <a:latin typeface="Noto Sans"/>
                <a:ea typeface="Noto Sans"/>
                <a:cs typeface="Noto Sans"/>
                <a:sym typeface="Noto Sans"/>
              </a:rPr>
              <a:t>The ground-truth dataset and the whole evaluation live in an open repo and rerun with one command.</a:t>
            </a:r>
            <a:endParaRPr/>
          </a:p>
        </p:txBody>
      </p:sp>
      <p:sp>
        <p:nvSpPr>
          <p:cNvPr id="301" name="Google Shape;301;p8"/>
          <p:cNvSpPr txBox="1"/>
          <p:nvPr/>
        </p:nvSpPr>
        <p:spPr>
          <a:xfrm>
            <a:off x="822960" y="4114800"/>
            <a:ext cx="10698480" cy="5486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a:solidFill>
                  <a:srgbClr val="837A68"/>
                </a:solidFill>
                <a:latin typeface="Noto Sans"/>
                <a:ea typeface="Noto Sans"/>
                <a:cs typeface="Noto Sans"/>
                <a:sym typeface="Noto Sans"/>
              </a:rPr>
              <a:t>Everything we've built during the hackathon: the dataset, the benchmark, and the evaluation code, under the Apache-2.0 license: </a:t>
            </a:r>
            <a:r>
              <a:rPr b="0" i="0" lang="en-US" sz="1300" u="sng">
                <a:solidFill>
                  <a:srgbClr val="837A68"/>
                </a:solidFill>
                <a:latin typeface="Noto Sans"/>
                <a:ea typeface="Noto Sans"/>
                <a:cs typeface="Noto Sans"/>
                <a:sym typeface="Noto Sans"/>
                <a:hlinkClick r:id="rId3">
                  <a:extLst>
                    <a:ext uri="{A12FA001-AC4F-418D-AE19-62706E023703}">
                      <ahyp:hlinkClr val="tx"/>
                    </a:ext>
                  </a:extLst>
                </a:hlinkClick>
              </a:rPr>
              <a:t>github.com/SilviAvayan/Armenian.cc</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305" name="Shape 305"/>
        <p:cNvGrpSpPr/>
        <p:nvPr/>
      </p:nvGrpSpPr>
      <p:grpSpPr>
        <a:xfrm>
          <a:off x="0" y="0"/>
          <a:ext cx="0" cy="0"/>
          <a:chOff x="0" y="0"/>
          <a:chExt cx="0" cy="0"/>
        </a:xfrm>
      </p:grpSpPr>
      <p:sp>
        <p:nvSpPr>
          <p:cNvPr id="306" name="Google Shape;306;p9"/>
          <p:cNvSpPr txBox="1"/>
          <p:nvPr/>
        </p:nvSpPr>
        <p:spPr>
          <a:xfrm>
            <a:off x="822960" y="192024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CONCLUSION</a:t>
            </a:r>
            <a:endParaRPr/>
          </a:p>
        </p:txBody>
      </p:sp>
      <p:sp>
        <p:nvSpPr>
          <p:cNvPr id="307" name="Google Shape;307;p9"/>
          <p:cNvSpPr txBox="1"/>
          <p:nvPr/>
        </p:nvSpPr>
        <p:spPr>
          <a:xfrm>
            <a:off x="822960" y="2377440"/>
            <a:ext cx="10515600" cy="1828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800" u="none">
                <a:solidFill>
                  <a:srgbClr val="26231D"/>
                </a:solidFill>
                <a:latin typeface="Noto Sans"/>
                <a:ea typeface="Noto Sans"/>
                <a:cs typeface="Noto Sans"/>
                <a:sym typeface="Noto Sans"/>
              </a:rPr>
              <a:t>Living in Armenia and belonging to it are different things.</a:t>
            </a:r>
            <a:endParaRPr/>
          </a:p>
          <a:p>
            <a:pPr indent="0" lvl="0" marL="0" marR="0" rtl="0" algn="l">
              <a:spcBef>
                <a:spcPts val="800"/>
              </a:spcBef>
              <a:spcAft>
                <a:spcPts val="0"/>
              </a:spcAft>
              <a:buNone/>
            </a:pPr>
            <a:r>
              <a:rPr b="1" i="0" lang="en-US" sz="2800" u="sng">
                <a:solidFill>
                  <a:srgbClr val="0F766E"/>
                </a:solidFill>
                <a:latin typeface="Noto Sans"/>
                <a:ea typeface="Noto Sans"/>
                <a:cs typeface="Noto Sans"/>
                <a:sym typeface="Noto Sans"/>
                <a:hlinkClick r:id="rId3">
                  <a:extLst>
                    <a:ext uri="{A12FA001-AC4F-418D-AE19-62706E023703}">
                      <ahyp:hlinkClr val="tx"/>
                    </a:ext>
                  </a:extLst>
                </a:hlinkClick>
              </a:rPr>
              <a:t>armenian.cc</a:t>
            </a:r>
            <a:r>
              <a:rPr b="1" i="0" lang="en-US" sz="2800" u="none">
                <a:solidFill>
                  <a:srgbClr val="26231D"/>
                </a:solidFill>
                <a:latin typeface="Noto Sans"/>
                <a:ea typeface="Noto Sans"/>
                <a:cs typeface="Noto Sans"/>
                <a:sym typeface="Noto Sans"/>
              </a:rPr>
              <a:t> removes the first barrier.</a:t>
            </a:r>
            <a:endParaRPr/>
          </a:p>
        </p:txBody>
      </p:sp>
      <p:sp>
        <p:nvSpPr>
          <p:cNvPr id="308" name="Google Shape;308;p9"/>
          <p:cNvSpPr txBox="1"/>
          <p:nvPr/>
        </p:nvSpPr>
        <p:spPr>
          <a:xfrm>
            <a:off x="822960" y="4754880"/>
            <a:ext cx="10515600" cy="45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u="none">
                <a:solidFill>
                  <a:srgbClr val="837A68"/>
                </a:solidFill>
                <a:latin typeface="Noto Sans Armenian"/>
                <a:ea typeface="Noto Sans Armenian"/>
                <a:cs typeface="Noto Sans Armenian"/>
                <a:sym typeface="Noto Sans Armenian"/>
              </a:rPr>
              <a:t>Շնորհակալություն</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312" name="Shape 312"/>
        <p:cNvGrpSpPr/>
        <p:nvPr/>
      </p:nvGrpSpPr>
      <p:grpSpPr>
        <a:xfrm>
          <a:off x="0" y="0"/>
          <a:ext cx="0" cy="0"/>
          <a:chOff x="0" y="0"/>
          <a:chExt cx="0" cy="0"/>
        </a:xfrm>
      </p:grpSpPr>
      <p:sp>
        <p:nvSpPr>
          <p:cNvPr id="313" name="Google Shape;313;p10"/>
          <p:cNvSpPr txBox="1"/>
          <p:nvPr/>
        </p:nvSpPr>
        <p:spPr>
          <a:xfrm>
            <a:off x="1554480" y="2468880"/>
            <a:ext cx="9144000" cy="11887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6000" u="none">
                <a:solidFill>
                  <a:srgbClr val="26231D"/>
                </a:solidFill>
                <a:latin typeface="Noto Sans"/>
                <a:ea typeface="Noto Sans"/>
                <a:cs typeface="Noto Sans"/>
                <a:sym typeface="Noto Sans"/>
              </a:rPr>
              <a:t>Q&amp;A</a:t>
            </a:r>
            <a:endParaRPr/>
          </a:p>
        </p:txBody>
      </p:sp>
      <p:sp>
        <p:nvSpPr>
          <p:cNvPr id="314" name="Google Shape;314;p10"/>
          <p:cNvSpPr txBox="1"/>
          <p:nvPr/>
        </p:nvSpPr>
        <p:spPr>
          <a:xfrm>
            <a:off x="1554480" y="3931920"/>
            <a:ext cx="9144000" cy="4572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400" u="none">
                <a:solidFill>
                  <a:srgbClr val="837A68"/>
                </a:solidFill>
                <a:latin typeface="Noto Sans"/>
                <a:ea typeface="Noto Sans"/>
                <a:cs typeface="Noto Sans"/>
                <a:sym typeface="Noto Sans"/>
              </a:rPr>
              <a:t>armenian.cc · github.com/SilviAvayan/Armenian.cc</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318" name="Shape 318"/>
        <p:cNvGrpSpPr/>
        <p:nvPr/>
      </p:nvGrpSpPr>
      <p:grpSpPr>
        <a:xfrm>
          <a:off x="0" y="0"/>
          <a:ext cx="0" cy="0"/>
          <a:chOff x="0" y="0"/>
          <a:chExt cx="0" cy="0"/>
        </a:xfrm>
      </p:grpSpPr>
      <p:sp>
        <p:nvSpPr>
          <p:cNvPr id="319" name="Google Shape;319;p11"/>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BACKUP · SEARCH DEMAND</a:t>
            </a:r>
            <a:endParaRPr/>
          </a:p>
        </p:txBody>
      </p:sp>
      <p:sp>
        <p:nvSpPr>
          <p:cNvPr id="320" name="Google Shape;320;p11"/>
          <p:cNvSpPr txBox="1"/>
          <p:nvPr/>
        </p:nvSpPr>
        <p:spPr>
          <a:xfrm>
            <a:off x="822960" y="868680"/>
            <a:ext cx="1069848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000" u="none">
                <a:solidFill>
                  <a:srgbClr val="26231D"/>
                </a:solidFill>
                <a:latin typeface="Noto Sans"/>
                <a:ea typeface="Noto Sans"/>
                <a:cs typeface="Noto Sans"/>
                <a:sym typeface="Noto Sans"/>
              </a:rPr>
              <a:t>Learning Armenian: searches </a:t>
            </a:r>
            <a:r>
              <a:rPr b="1" i="0" lang="en-US" sz="3000" u="sng">
                <a:solidFill>
                  <a:srgbClr val="0F766E"/>
                </a:solidFill>
                <a:latin typeface="Noto Sans"/>
                <a:ea typeface="Noto Sans"/>
                <a:cs typeface="Noto Sans"/>
                <a:sym typeface="Noto Sans"/>
              </a:rPr>
              <a:t>×5</a:t>
            </a:r>
            <a:r>
              <a:rPr b="1" i="0" lang="en-US" sz="3000" u="none">
                <a:solidFill>
                  <a:srgbClr val="26231D"/>
                </a:solidFill>
                <a:latin typeface="Noto Sans"/>
                <a:ea typeface="Noto Sans"/>
                <a:cs typeface="Noto Sans"/>
                <a:sym typeface="Noto Sans"/>
              </a:rPr>
              <a:t> in a decade</a:t>
            </a:r>
            <a:endParaRPr/>
          </a:p>
        </p:txBody>
      </p:sp>
      <p:sp>
        <p:nvSpPr>
          <p:cNvPr id="321" name="Google Shape;321;p11"/>
          <p:cNvSpPr txBox="1"/>
          <p:nvPr/>
        </p:nvSpPr>
        <p:spPr>
          <a:xfrm>
            <a:off x="822960" y="1600200"/>
            <a:ext cx="1033272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u="none">
                <a:solidFill>
                  <a:srgbClr val="33302A"/>
                </a:solidFill>
                <a:latin typeface="Noto Sans"/>
                <a:ea typeface="Noto Sans"/>
                <a:cs typeface="Noto Sans"/>
                <a:sym typeface="Noto Sans"/>
              </a:rPr>
              <a:t>Google Trends: monthly search interest in Armenia, queries in Russian, six-month average. «Армянский язык» has led «английский язык» since mid-2021.</a:t>
            </a:r>
            <a:endParaRPr/>
          </a:p>
        </p:txBody>
      </p:sp>
      <p:pic>
        <p:nvPicPr>
          <p:cNvPr descr="chart_trends.png" id="322" name="Google Shape;322;p11"/>
          <p:cNvPicPr preferRelativeResize="0"/>
          <p:nvPr/>
        </p:nvPicPr>
        <p:blipFill rotWithShape="1">
          <a:blip r:embed="rId3">
            <a:alphaModFix/>
          </a:blip>
          <a:srcRect b="0" l="0" r="0" t="0"/>
          <a:stretch/>
        </p:blipFill>
        <p:spPr>
          <a:xfrm>
            <a:off x="1097280" y="2423160"/>
            <a:ext cx="9966960" cy="4156222"/>
          </a:xfrm>
          <a:prstGeom prst="rect">
            <a:avLst/>
          </a:prstGeom>
          <a:noFill/>
          <a:ln>
            <a:noFill/>
          </a:ln>
        </p:spPr>
      </p:pic>
      <p:sp>
        <p:nvSpPr>
          <p:cNvPr id="323" name="Google Shape;323;p11"/>
          <p:cNvSpPr txBox="1"/>
          <p:nvPr/>
        </p:nvSpPr>
        <p:spPr>
          <a:xfrm>
            <a:off x="822960" y="6446520"/>
            <a:ext cx="105156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00" u="none">
                <a:solidFill>
                  <a:srgbClr val="837A68"/>
                </a:solidFill>
                <a:latin typeface="Noto Sans"/>
                <a:ea typeface="Noto Sans"/>
                <a:cs typeface="Noto Sans"/>
                <a:sym typeface="Noto Sans"/>
              </a:rPr>
              <a:t>Source: Google Trends, region Armenia, 2016–2026. 100 = peak search interest.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327" name="Shape 327"/>
        <p:cNvGrpSpPr/>
        <p:nvPr/>
      </p:nvGrpSpPr>
      <p:grpSpPr>
        <a:xfrm>
          <a:off x="0" y="0"/>
          <a:ext cx="0" cy="0"/>
          <a:chOff x="0" y="0"/>
          <a:chExt cx="0" cy="0"/>
        </a:xfrm>
      </p:grpSpPr>
      <p:sp>
        <p:nvSpPr>
          <p:cNvPr id="328" name="Google Shape;328;p12"/>
          <p:cNvSpPr txBox="1"/>
          <p:nvPr/>
        </p:nvSpPr>
        <p:spPr>
          <a:xfrm>
            <a:off x="822960" y="502920"/>
            <a:ext cx="10515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a:solidFill>
                  <a:srgbClr val="0F766E"/>
                </a:solidFill>
                <a:latin typeface="Noto Sans"/>
                <a:ea typeface="Noto Sans"/>
                <a:cs typeface="Noto Sans"/>
                <a:sym typeface="Noto Sans"/>
              </a:rPr>
              <a:t>BACKUP · SEARCH DEMAND · YANDEX</a:t>
            </a:r>
            <a:endParaRPr/>
          </a:p>
        </p:txBody>
      </p:sp>
      <p:sp>
        <p:nvSpPr>
          <p:cNvPr id="329" name="Google Shape;329;p12"/>
          <p:cNvSpPr txBox="1"/>
          <p:nvPr/>
        </p:nvSpPr>
        <p:spPr>
          <a:xfrm>
            <a:off x="822960" y="868680"/>
            <a:ext cx="10698480" cy="7315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3000" u="none">
                <a:solidFill>
                  <a:srgbClr val="26231D"/>
                </a:solidFill>
                <a:latin typeface="Noto Sans"/>
                <a:ea typeface="Noto Sans"/>
                <a:cs typeface="Noto Sans"/>
                <a:sym typeface="Noto Sans"/>
              </a:rPr>
              <a:t>Yandex agrees: </a:t>
            </a:r>
            <a:r>
              <a:rPr b="1" i="0" lang="en-US" sz="3000" u="sng">
                <a:solidFill>
                  <a:srgbClr val="0F766E"/>
                </a:solidFill>
                <a:latin typeface="Noto Sans"/>
                <a:ea typeface="Noto Sans"/>
                <a:cs typeface="Noto Sans"/>
                <a:sym typeface="Noto Sans"/>
              </a:rPr>
              <a:t>×4</a:t>
            </a:r>
            <a:r>
              <a:rPr b="1" i="0" lang="en-US" sz="3000" u="none">
                <a:solidFill>
                  <a:srgbClr val="26231D"/>
                </a:solidFill>
                <a:latin typeface="Noto Sans"/>
                <a:ea typeface="Noto Sans"/>
                <a:cs typeface="Noto Sans"/>
                <a:sym typeface="Noto Sans"/>
              </a:rPr>
              <a:t> after the wave</a:t>
            </a:r>
            <a:endParaRPr/>
          </a:p>
        </p:txBody>
      </p:sp>
      <p:sp>
        <p:nvSpPr>
          <p:cNvPr id="330" name="Google Shape;330;p12"/>
          <p:cNvSpPr txBox="1"/>
          <p:nvPr/>
        </p:nvSpPr>
        <p:spPr>
          <a:xfrm>
            <a:off x="822960" y="1600200"/>
            <a:ext cx="10332720" cy="685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u="none">
                <a:solidFill>
                  <a:srgbClr val="33302A"/>
                </a:solidFill>
                <a:latin typeface="Noto Sans"/>
                <a:ea typeface="Noto Sans"/>
                <a:cs typeface="Noto Sans"/>
                <a:sym typeface="Noto Sans"/>
              </a:rPr>
              <a:t>Yandex Wordstat: monthly queries «изучение армянского языка» from Armenia, 2020–2026. About 7 per month before 2022, about 29 after; July 2026 is the record.</a:t>
            </a:r>
            <a:endParaRPr/>
          </a:p>
        </p:txBody>
      </p:sp>
      <p:pic>
        <p:nvPicPr>
          <p:cNvPr descr="chart_wordstat.png" id="331" name="Google Shape;331;p12"/>
          <p:cNvPicPr preferRelativeResize="0"/>
          <p:nvPr/>
        </p:nvPicPr>
        <p:blipFill rotWithShape="1">
          <a:blip r:embed="rId3">
            <a:alphaModFix/>
          </a:blip>
          <a:srcRect b="0" l="0" r="0" t="0"/>
          <a:stretch/>
        </p:blipFill>
        <p:spPr>
          <a:xfrm>
            <a:off x="1097280" y="2423160"/>
            <a:ext cx="9966960" cy="4156222"/>
          </a:xfrm>
          <a:prstGeom prst="rect">
            <a:avLst/>
          </a:prstGeom>
          <a:noFill/>
          <a:ln>
            <a:noFill/>
          </a:ln>
        </p:spPr>
      </p:pic>
      <p:sp>
        <p:nvSpPr>
          <p:cNvPr id="332" name="Google Shape;332;p12"/>
          <p:cNvSpPr txBox="1"/>
          <p:nvPr/>
        </p:nvSpPr>
        <p:spPr>
          <a:xfrm>
            <a:off x="822960" y="6446520"/>
            <a:ext cx="1051560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00" u="none">
                <a:solidFill>
                  <a:srgbClr val="837A68"/>
                </a:solidFill>
                <a:latin typeface="Noto Sans"/>
                <a:ea typeface="Noto Sans"/>
                <a:cs typeface="Noto Sans"/>
                <a:sym typeface="Noto Sans"/>
              </a:rPr>
              <a:t>Source: Yandex Wordstat, region Armenia, query «изучение армянского языка», all devices.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336" name="Shape 336"/>
        <p:cNvGrpSpPr/>
        <p:nvPr/>
      </p:nvGrpSpPr>
      <p:grpSpPr>
        <a:xfrm>
          <a:off x="0" y="0"/>
          <a:ext cx="0" cy="0"/>
          <a:chOff x="0" y="0"/>
          <a:chExt cx="0" cy="0"/>
        </a:xfrm>
      </p:grpSpPr>
      <p:sp>
        <p:nvSpPr>
          <p:cNvPr id="337" name="Google Shape;337;g3f3d9fe8e42_9_25"/>
          <p:cNvSpPr txBox="1"/>
          <p:nvPr/>
        </p:nvSpPr>
        <p:spPr>
          <a:xfrm>
            <a:off x="822960" y="502920"/>
            <a:ext cx="105156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0F766E"/>
                </a:solidFill>
                <a:latin typeface="Noto Sans"/>
                <a:ea typeface="Noto Sans"/>
                <a:cs typeface="Noto Sans"/>
                <a:sym typeface="Noto Sans"/>
              </a:rPr>
              <a:t>BACKUP · FUTURE WORK</a:t>
            </a:r>
            <a:endParaRPr/>
          </a:p>
        </p:txBody>
      </p:sp>
      <p:sp>
        <p:nvSpPr>
          <p:cNvPr id="338" name="Google Shape;338;g3f3d9fe8e42_9_25"/>
          <p:cNvSpPr txBox="1"/>
          <p:nvPr/>
        </p:nvSpPr>
        <p:spPr>
          <a:xfrm>
            <a:off x="822960" y="868680"/>
            <a:ext cx="1069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u="none">
                <a:solidFill>
                  <a:srgbClr val="26231D"/>
                </a:solidFill>
                <a:latin typeface="Noto Sans"/>
                <a:ea typeface="Noto Sans"/>
                <a:cs typeface="Noto Sans"/>
                <a:sym typeface="Noto Sans"/>
              </a:rPr>
              <a:t>What's </a:t>
            </a:r>
            <a:r>
              <a:rPr b="1" lang="en-US" sz="3200" u="sng">
                <a:solidFill>
                  <a:srgbClr val="0F766E"/>
                </a:solidFill>
                <a:latin typeface="Noto Sans"/>
                <a:ea typeface="Noto Sans"/>
                <a:cs typeface="Noto Sans"/>
                <a:sym typeface="Noto Sans"/>
              </a:rPr>
              <a:t>next</a:t>
            </a:r>
            <a:endParaRPr/>
          </a:p>
        </p:txBody>
      </p:sp>
      <p:sp>
        <p:nvSpPr>
          <p:cNvPr id="339" name="Google Shape;339;g3f3d9fe8e42_9_25"/>
          <p:cNvSpPr txBox="1"/>
          <p:nvPr/>
        </p:nvSpPr>
        <p:spPr>
          <a:xfrm>
            <a:off x="822960" y="1874519"/>
            <a:ext cx="10332600" cy="3817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1600">
                <a:solidFill>
                  <a:srgbClr val="0F766E"/>
                </a:solidFill>
                <a:latin typeface="Noto Sans"/>
                <a:ea typeface="Noto Sans"/>
                <a:cs typeface="Noto Sans"/>
                <a:sym typeface="Noto Sans"/>
              </a:rPr>
              <a:t>▸  </a:t>
            </a:r>
            <a:r>
              <a:rPr b="1" lang="en-US" sz="1600">
                <a:solidFill>
                  <a:srgbClr val="33302A"/>
                </a:solidFill>
                <a:latin typeface="Noto Sans"/>
                <a:ea typeface="Noto Sans"/>
                <a:cs typeface="Noto Sans"/>
                <a:sym typeface="Noto Sans"/>
              </a:rPr>
              <a:t>Comprehensible input</a:t>
            </a:r>
            <a:r>
              <a:rPr lang="en-US" sz="1600">
                <a:solidFill>
                  <a:srgbClr val="33302A"/>
                </a:solidFill>
                <a:latin typeface="Noto Sans"/>
                <a:ea typeface="Noto Sans"/>
                <a:cs typeface="Noto Sans"/>
                <a:sym typeface="Noto Sans"/>
              </a:rPr>
              <a:t>: order lessons to sit just above each learner's level, with the LLM rating every video's teaching value.</a:t>
            </a:r>
            <a:endParaRPr sz="1600"/>
          </a:p>
          <a:p>
            <a:pPr indent="0" lvl="0" marL="0" marR="0" rtl="0" algn="l">
              <a:spcBef>
                <a:spcPts val="1000"/>
              </a:spcBef>
              <a:spcAft>
                <a:spcPts val="0"/>
              </a:spcAft>
              <a:buNone/>
            </a:pPr>
            <a:r>
              <a:rPr b="1" lang="en-US" sz="1600">
                <a:solidFill>
                  <a:srgbClr val="0F766E"/>
                </a:solidFill>
                <a:latin typeface="Noto Sans"/>
                <a:ea typeface="Noto Sans"/>
                <a:cs typeface="Noto Sans"/>
                <a:sym typeface="Noto Sans"/>
              </a:rPr>
              <a:t>▸  </a:t>
            </a:r>
            <a:r>
              <a:rPr b="1" lang="en-US" sz="1600">
                <a:solidFill>
                  <a:srgbClr val="33302A"/>
                </a:solidFill>
                <a:latin typeface="Noto Sans"/>
                <a:ea typeface="Noto Sans"/>
                <a:cs typeface="Noto Sans"/>
                <a:sym typeface="Noto Sans"/>
              </a:rPr>
              <a:t>Speaking practice:</a:t>
            </a:r>
            <a:r>
              <a:rPr lang="en-US" sz="1600">
                <a:solidFill>
                  <a:srgbClr val="33302A"/>
                </a:solidFill>
                <a:latin typeface="Noto Sans"/>
                <a:ea typeface="Noto Sans"/>
                <a:cs typeface="Noto Sans"/>
                <a:sym typeface="Noto Sans"/>
              </a:rPr>
              <a:t> the learner repeats a phrase and speech recognition checks it. Listening and speaking first, spelling second.</a:t>
            </a:r>
            <a:endParaRPr sz="1600"/>
          </a:p>
          <a:p>
            <a:pPr indent="0" lvl="0" marL="0" marR="0" rtl="0" algn="l">
              <a:spcBef>
                <a:spcPts val="1000"/>
              </a:spcBef>
              <a:spcAft>
                <a:spcPts val="0"/>
              </a:spcAft>
              <a:buNone/>
            </a:pPr>
            <a:r>
              <a:rPr b="1" lang="en-US" sz="1600">
                <a:solidFill>
                  <a:srgbClr val="0F766E"/>
                </a:solidFill>
                <a:latin typeface="Noto Sans"/>
                <a:ea typeface="Noto Sans"/>
                <a:cs typeface="Noto Sans"/>
                <a:sym typeface="Noto Sans"/>
              </a:rPr>
              <a:t>▸  </a:t>
            </a:r>
            <a:r>
              <a:rPr b="1" lang="en-US" sz="1600">
                <a:solidFill>
                  <a:srgbClr val="33302A"/>
                </a:solidFill>
                <a:latin typeface="Noto Sans"/>
                <a:ea typeface="Noto Sans"/>
                <a:cs typeface="Noto Sans"/>
                <a:sym typeface="Noto Sans"/>
              </a:rPr>
              <a:t>Spaced repetition</a:t>
            </a:r>
            <a:r>
              <a:rPr lang="en-US" sz="1600">
                <a:solidFill>
                  <a:srgbClr val="33302A"/>
                </a:solidFill>
                <a:latin typeface="Noto Sans"/>
                <a:ea typeface="Noto Sans"/>
                <a:cs typeface="Noto Sans"/>
                <a:sym typeface="Noto Sans"/>
              </a:rPr>
              <a:t>: tap a word to save it, then review it later with the exact video moment and audio it came from.</a:t>
            </a:r>
            <a:endParaRPr sz="1600"/>
          </a:p>
          <a:p>
            <a:pPr indent="0" lvl="0" marL="0" marR="0" rtl="0" algn="l">
              <a:spcBef>
                <a:spcPts val="1000"/>
              </a:spcBef>
              <a:spcAft>
                <a:spcPts val="0"/>
              </a:spcAft>
              <a:buNone/>
            </a:pPr>
            <a:r>
              <a:rPr b="1" lang="en-US" sz="1600">
                <a:solidFill>
                  <a:srgbClr val="0F766E"/>
                </a:solidFill>
                <a:latin typeface="Noto Sans"/>
                <a:ea typeface="Noto Sans"/>
                <a:cs typeface="Noto Sans"/>
                <a:sym typeface="Noto Sans"/>
              </a:rPr>
              <a:t>▸  </a:t>
            </a:r>
            <a:r>
              <a:rPr b="1" lang="en-US" sz="1600">
                <a:solidFill>
                  <a:srgbClr val="33302A"/>
                </a:solidFill>
                <a:latin typeface="Noto Sans"/>
                <a:ea typeface="Noto Sans"/>
                <a:cs typeface="Noto Sans"/>
                <a:sym typeface="Noto Sans"/>
              </a:rPr>
              <a:t>A personal feed</a:t>
            </a:r>
            <a:r>
              <a:rPr lang="en-US" sz="1600">
                <a:solidFill>
                  <a:srgbClr val="33302A"/>
                </a:solidFill>
                <a:latin typeface="Noto Sans"/>
                <a:ea typeface="Noto Sans"/>
                <a:cs typeface="Noto Sans"/>
                <a:sym typeface="Noto Sans"/>
              </a:rPr>
              <a:t>: videos matched to the learner's interests, from a far wider catalog than the trending page.</a:t>
            </a:r>
            <a:endParaRPr sz="1600"/>
          </a:p>
          <a:p>
            <a:pPr indent="0" lvl="0" marL="0" marR="0" rtl="0" algn="l">
              <a:spcBef>
                <a:spcPts val="1000"/>
              </a:spcBef>
              <a:spcAft>
                <a:spcPts val="0"/>
              </a:spcAft>
              <a:buNone/>
            </a:pPr>
            <a:r>
              <a:rPr b="1" lang="en-US" sz="1600">
                <a:solidFill>
                  <a:srgbClr val="0F766E"/>
                </a:solidFill>
                <a:latin typeface="Noto Sans"/>
                <a:ea typeface="Noto Sans"/>
                <a:cs typeface="Noto Sans"/>
                <a:sym typeface="Noto Sans"/>
              </a:rPr>
              <a:t>▸  </a:t>
            </a:r>
            <a:r>
              <a:rPr b="1" lang="en-US" sz="1600">
                <a:solidFill>
                  <a:srgbClr val="33302A"/>
                </a:solidFill>
                <a:latin typeface="Noto Sans"/>
                <a:ea typeface="Noto Sans"/>
                <a:cs typeface="Noto Sans"/>
                <a:sym typeface="Noto Sans"/>
              </a:rPr>
              <a:t>A mobile app</a:t>
            </a:r>
            <a:r>
              <a:rPr lang="en-US" sz="1600">
                <a:solidFill>
                  <a:srgbClr val="33302A"/>
                </a:solidFill>
                <a:latin typeface="Noto Sans"/>
                <a:ea typeface="Noto Sans"/>
                <a:cs typeface="Noto Sans"/>
                <a:sym typeface="Noto Sans"/>
              </a:rPr>
              <a:t>, so lessons live where TikTok does: on the phone.</a:t>
            </a:r>
            <a:endParaRPr sz="1600"/>
          </a:p>
          <a:p>
            <a:pPr indent="0" lvl="0" marL="0" marR="0" rtl="0" algn="l">
              <a:spcBef>
                <a:spcPts val="1000"/>
              </a:spcBef>
              <a:spcAft>
                <a:spcPts val="0"/>
              </a:spcAft>
              <a:buNone/>
            </a:pPr>
            <a:r>
              <a:rPr b="1" lang="en-US" sz="1600">
                <a:solidFill>
                  <a:srgbClr val="0F766E"/>
                </a:solidFill>
                <a:latin typeface="Noto Sans"/>
                <a:ea typeface="Noto Sans"/>
                <a:cs typeface="Noto Sans"/>
                <a:sym typeface="Noto Sans"/>
              </a:rPr>
              <a:t>▸  </a:t>
            </a:r>
            <a:r>
              <a:rPr b="1" lang="en-US" sz="1600">
                <a:solidFill>
                  <a:srgbClr val="33302A"/>
                </a:solidFill>
                <a:latin typeface="Noto Sans"/>
                <a:ea typeface="Noto Sans"/>
                <a:cs typeface="Noto Sans"/>
                <a:sym typeface="Noto Sans"/>
              </a:rPr>
              <a:t>New interface languages</a:t>
            </a:r>
            <a:r>
              <a:rPr lang="en-US" sz="1600">
                <a:solidFill>
                  <a:srgbClr val="33302A"/>
                </a:solidFill>
                <a:latin typeface="Noto Sans"/>
                <a:ea typeface="Noto Sans"/>
                <a:cs typeface="Noto Sans"/>
                <a:sym typeface="Noto Sans"/>
              </a:rPr>
              <a:t> from the same pipeline: English and Persian glosses, for the Indian and Iranian communities.</a:t>
            </a:r>
            <a:endParaRPr sz="1600"/>
          </a:p>
          <a:p>
            <a:pPr indent="0" lvl="0" marL="0" marR="0" rtl="0" algn="l">
              <a:spcBef>
                <a:spcPts val="1000"/>
              </a:spcBef>
              <a:spcAft>
                <a:spcPts val="0"/>
              </a:spcAft>
              <a:buNone/>
            </a:pPr>
            <a:r>
              <a:rPr b="1" lang="en-US" sz="1600">
                <a:solidFill>
                  <a:srgbClr val="0F766E"/>
                </a:solidFill>
                <a:latin typeface="Noto Sans"/>
                <a:ea typeface="Noto Sans"/>
                <a:cs typeface="Noto Sans"/>
                <a:sym typeface="Noto Sans"/>
              </a:rPr>
              <a:t>▸  </a:t>
            </a:r>
            <a:r>
              <a:rPr b="1" lang="en-US" sz="1600">
                <a:solidFill>
                  <a:srgbClr val="33302A"/>
                </a:solidFill>
                <a:latin typeface="Noto Sans"/>
                <a:ea typeface="Noto Sans"/>
                <a:cs typeface="Noto Sans"/>
                <a:sym typeface="Noto Sans"/>
              </a:rPr>
              <a:t>Grow the ground-truth dataset</a:t>
            </a:r>
            <a:r>
              <a:rPr lang="en-US" sz="1600">
                <a:solidFill>
                  <a:srgbClr val="33302A"/>
                </a:solidFill>
                <a:latin typeface="Noto Sans"/>
                <a:ea typeface="Noto Sans"/>
                <a:cs typeface="Noto Sans"/>
                <a:sym typeface="Noto Sans"/>
              </a:rPr>
              <a:t> and keep the leaderboard running as new models appear.</a:t>
            </a:r>
            <a:endParaRPr sz="16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8F4EC"/>
        </a:solidFill>
      </p:bgPr>
    </p:bg>
    <p:spTree>
      <p:nvGrpSpPr>
        <p:cNvPr id="343" name="Shape 343"/>
        <p:cNvGrpSpPr/>
        <p:nvPr/>
      </p:nvGrpSpPr>
      <p:grpSpPr>
        <a:xfrm>
          <a:off x="0" y="0"/>
          <a:ext cx="0" cy="0"/>
          <a:chOff x="0" y="0"/>
          <a:chExt cx="0" cy="0"/>
        </a:xfrm>
      </p:grpSpPr>
      <p:sp>
        <p:nvSpPr>
          <p:cNvPr id="344" name="Google Shape;344;g3f3d9fe8e42_9_109"/>
          <p:cNvSpPr txBox="1"/>
          <p:nvPr/>
        </p:nvSpPr>
        <p:spPr>
          <a:xfrm>
            <a:off x="822960" y="502920"/>
            <a:ext cx="10515600" cy="2769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u="none" cap="none" strike="noStrike">
                <a:solidFill>
                  <a:srgbClr val="0F766E"/>
                </a:solidFill>
                <a:latin typeface="Noto Sans"/>
                <a:ea typeface="Noto Sans"/>
                <a:cs typeface="Noto Sans"/>
                <a:sym typeface="Noto Sans"/>
              </a:rPr>
              <a:t>BACKUP · IMPACT NOTE</a:t>
            </a:r>
            <a:endParaRPr/>
          </a:p>
        </p:txBody>
      </p:sp>
      <p:sp>
        <p:nvSpPr>
          <p:cNvPr id="345" name="Google Shape;345;g3f3d9fe8e42_9_109"/>
          <p:cNvSpPr txBox="1"/>
          <p:nvPr/>
        </p:nvSpPr>
        <p:spPr>
          <a:xfrm>
            <a:off x="822960" y="868680"/>
            <a:ext cx="10698600" cy="585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lang="en-US" sz="3200" u="none">
                <a:solidFill>
                  <a:srgbClr val="26231D"/>
                </a:solidFill>
                <a:latin typeface="Noto Sans"/>
                <a:ea typeface="Noto Sans"/>
                <a:cs typeface="Noto Sans"/>
                <a:sym typeface="Noto Sans"/>
              </a:rPr>
              <a:t>Who uses it, and what </a:t>
            </a:r>
            <a:r>
              <a:rPr b="1" lang="en-US" sz="3200" u="sng">
                <a:solidFill>
                  <a:srgbClr val="0F766E"/>
                </a:solidFill>
                <a:latin typeface="Noto Sans"/>
                <a:ea typeface="Noto Sans"/>
                <a:cs typeface="Noto Sans"/>
                <a:sym typeface="Noto Sans"/>
              </a:rPr>
              <a:t>changes</a:t>
            </a:r>
            <a:r>
              <a:rPr b="1" lang="en-US" sz="3200" u="none">
                <a:solidFill>
                  <a:srgbClr val="26231D"/>
                </a:solidFill>
                <a:latin typeface="Noto Sans"/>
                <a:ea typeface="Noto Sans"/>
                <a:cs typeface="Noto Sans"/>
                <a:sym typeface="Noto Sans"/>
              </a:rPr>
              <a:t> if it works</a:t>
            </a:r>
            <a:endParaRPr/>
          </a:p>
        </p:txBody>
      </p:sp>
      <p:sp>
        <p:nvSpPr>
          <p:cNvPr id="346" name="Google Shape;346;g3f3d9fe8e42_9_109"/>
          <p:cNvSpPr/>
          <p:nvPr/>
        </p:nvSpPr>
        <p:spPr>
          <a:xfrm>
            <a:off x="822960" y="2011680"/>
            <a:ext cx="5166300" cy="228600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ctr">
              <a:spcBef>
                <a:spcPts val="0"/>
              </a:spcBef>
              <a:spcAft>
                <a:spcPts val="0"/>
              </a:spcAft>
              <a:buNone/>
            </a:pPr>
            <a:r>
              <a:rPr b="1" lang="en-US" sz="1400" u="none">
                <a:solidFill>
                  <a:srgbClr val="26231D"/>
                </a:solidFill>
                <a:latin typeface="Noto Sans"/>
                <a:ea typeface="Noto Sans"/>
                <a:cs typeface="Noto Sans"/>
                <a:sym typeface="Noto Sans"/>
              </a:rPr>
              <a:t>Who uses it</a:t>
            </a:r>
            <a:endParaRPr/>
          </a:p>
          <a:p>
            <a:pPr indent="0" lvl="0" marL="0" marR="0" rtl="0" algn="l">
              <a:spcBef>
                <a:spcPts val="400"/>
              </a:spcBef>
              <a:spcAft>
                <a:spcPts val="0"/>
              </a:spcAft>
              <a:buNone/>
            </a:pPr>
            <a:r>
              <a:rPr b="0" lang="en-US" sz="1250" u="none">
                <a:solidFill>
                  <a:srgbClr val="7D7462"/>
                </a:solidFill>
                <a:latin typeface="Noto Sans"/>
                <a:ea typeface="Noto Sans"/>
                <a:cs typeface="Noto Sans"/>
                <a:sym typeface="Noto Sans"/>
              </a:rPr>
              <a:t>Newcomers learning spoken Armenian: Russian speakers, Iranians, Indians, returning diaspora. And anyone building Armenian speech technology: the ground-truth dataset and the model leaderboard are open to all.</a:t>
            </a:r>
            <a:endParaRPr/>
          </a:p>
        </p:txBody>
      </p:sp>
      <p:sp>
        <p:nvSpPr>
          <p:cNvPr id="347" name="Google Shape;347;g3f3d9fe8e42_9_109"/>
          <p:cNvSpPr/>
          <p:nvPr/>
        </p:nvSpPr>
        <p:spPr>
          <a:xfrm>
            <a:off x="6172200" y="2011680"/>
            <a:ext cx="5166300" cy="2286000"/>
          </a:xfrm>
          <a:prstGeom prst="roundRect">
            <a:avLst>
              <a:gd fmla="val 6000" name="adj"/>
            </a:avLst>
          </a:prstGeom>
          <a:solidFill>
            <a:srgbClr val="FFFDF8"/>
          </a:solidFill>
          <a:ln cap="flat" cmpd="sng" w="12700">
            <a:solidFill>
              <a:srgbClr val="E8E0D0"/>
            </a:solidFill>
            <a:prstDash val="solid"/>
            <a:round/>
            <a:headEnd len="sm" w="sm" type="none"/>
            <a:tailEnd len="sm" w="sm" type="none"/>
          </a:ln>
        </p:spPr>
        <p:txBody>
          <a:bodyPr anchorCtr="0" anchor="t" bIns="45700" lIns="164575" spcFirstLastPara="1" rIns="164575" wrap="square" tIns="128000">
            <a:noAutofit/>
          </a:bodyPr>
          <a:lstStyle/>
          <a:p>
            <a:pPr indent="0" lvl="0" marL="0" marR="0" rtl="0" algn="ctr">
              <a:spcBef>
                <a:spcPts val="0"/>
              </a:spcBef>
              <a:spcAft>
                <a:spcPts val="0"/>
              </a:spcAft>
              <a:buNone/>
            </a:pPr>
            <a:r>
              <a:rPr b="1" lang="en-US" sz="1400" u="none">
                <a:solidFill>
                  <a:srgbClr val="26231D"/>
                </a:solidFill>
                <a:latin typeface="Noto Sans"/>
                <a:ea typeface="Noto Sans"/>
                <a:cs typeface="Noto Sans"/>
                <a:sym typeface="Noto Sans"/>
              </a:rPr>
              <a:t>What changes if it works</a:t>
            </a:r>
            <a:endParaRPr/>
          </a:p>
          <a:p>
            <a:pPr indent="0" lvl="0" marL="0" marR="0" rtl="0" algn="l">
              <a:spcBef>
                <a:spcPts val="400"/>
              </a:spcBef>
              <a:spcAft>
                <a:spcPts val="0"/>
              </a:spcAft>
              <a:buNone/>
            </a:pPr>
            <a:r>
              <a:rPr b="0" lang="en-US" sz="1250" u="none">
                <a:solidFill>
                  <a:srgbClr val="7D7462"/>
                </a:solidFill>
                <a:latin typeface="Noto Sans"/>
                <a:ea typeface="Noto Sans"/>
                <a:cs typeface="Noto Sans"/>
                <a:sym typeface="Noto Sans"/>
              </a:rPr>
              <a:t>Newcomers stop living beside Armenian society and start belonging to it: they understand their neighbors, the memes, the daily conversation. And Armenian speech AI stops being unmeasured, so every future tool for the language starts from a scorecard instead of a guess.</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F766E"/>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