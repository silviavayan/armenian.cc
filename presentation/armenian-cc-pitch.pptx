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6858000" cx="12191675"/>
  <p:notesSz cx="6858000" cy="9144000"/>
  <p:embeddedFontLst>
    <p:embeddedFont>
      <p:font typeface="Noto Sans"/>
      <p:regular r:id="rId22"/>
      <p:bold r:id="rId23"/>
      <p:italic r:id="rId24"/>
      <p:boldItalic r:id="rId25"/>
    </p:embeddedFont>
    <p:embeddedFont>
      <p:font typeface="Noto Sans Armenian"/>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8" roundtripDataSignature="AMtx7miQUR0amXAkKmxDERo6aaLwq20uI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B46086F-4D39-4F87-BA62-9E512B5A67A4}">
  <a:tblStyle styleId="{2B46086F-4D39-4F87-BA62-9E512B5A67A4}"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font" Target="fonts/NotoSans-regular.fntdata"/><Relationship Id="rId21" Type="http://schemas.openxmlformats.org/officeDocument/2006/relationships/slide" Target="slides/slide15.xml"/><Relationship Id="rId24" Type="http://schemas.openxmlformats.org/officeDocument/2006/relationships/font" Target="fonts/NotoSans-italic.fntdata"/><Relationship Id="rId23" Type="http://schemas.openxmlformats.org/officeDocument/2006/relationships/font" Target="fonts/NotoSans-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NotoSansArmenian-regular.fntdata"/><Relationship Id="rId25" Type="http://schemas.openxmlformats.org/officeDocument/2006/relationships/font" Target="fonts/NotoSans-boldItalic.fntdata"/><Relationship Id="rId28" Type="http://customschemas.google.com/relationships/presentationmetadata" Target="metadata"/><Relationship Id="rId27" Type="http://schemas.openxmlformats.org/officeDocument/2006/relationships/font" Target="fonts/NotoSansArmenian-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3da43a7ba_3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g3f3da43a7ba_3_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f3d9fe8e42_9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g3f3d9fe8e42_9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f3d9fe8e42_9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g3f3d9fe8e42_9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f3d9fe8e42_9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g3f3d9fe8e42_9_1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2"/>
          <p:cNvSpPr/>
          <p:nvPr>
            <p:ph idx="2" type="pic"/>
          </p:nvPr>
        </p:nvSpPr>
        <p:spPr>
          <a:xfrm>
            <a:off x="1792288" y="612775"/>
            <a:ext cx="5486400" cy="4114800"/>
          </a:xfrm>
          <a:prstGeom prst="rect">
            <a:avLst/>
          </a:prstGeom>
          <a:noFill/>
          <a:ln>
            <a:noFill/>
          </a:ln>
        </p:spPr>
      </p:sp>
      <p:sp>
        <p:nvSpPr>
          <p:cNvPr id="64" name="Google Shape;64;p2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www.hetq.am/en/article/176048" TargetMode="External"/><Relationship Id="rId4" Type="http://schemas.openxmlformats.org/officeDocument/2006/relationships/hyperlink" Target="https://www.youtube.com/watch?v=JKMR-kUEn_8"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armenian.cc"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github.com/SilviAvayan/Armenian.cc/blob/main/ASR_EVALUATION.md"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github.com/SilviAvayan/Armenian.cc/blob/main/ASR_EVALUATION.m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github.com/SilviAvayan/Armenian.cc/blob/main/ASR_EVALUATION.md"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github.com/SilviAvayan/Armenian.cc"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armenian.cc"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83" name="Shape 83"/>
        <p:cNvGrpSpPr/>
        <p:nvPr/>
      </p:nvGrpSpPr>
      <p:grpSpPr>
        <a:xfrm>
          <a:off x="0" y="0"/>
          <a:ext cx="0" cy="0"/>
          <a:chOff x="0" y="0"/>
          <a:chExt cx="0" cy="0"/>
        </a:xfrm>
      </p:grpSpPr>
      <p:sp>
        <p:nvSpPr>
          <p:cNvPr id="84" name="Google Shape;84;p1"/>
          <p:cNvSpPr txBox="1"/>
          <p:nvPr/>
        </p:nvSpPr>
        <p:spPr>
          <a:xfrm>
            <a:off x="1554480" y="1417320"/>
            <a:ext cx="9144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0F766E"/>
                </a:solidFill>
                <a:latin typeface="Noto Sans"/>
                <a:ea typeface="Noto Sans"/>
                <a:cs typeface="Noto Sans"/>
                <a:sym typeface="Noto Sans"/>
              </a:rPr>
              <a:t>HACK ARMENIA · DEMO DAY · AUGUST 9, 2026</a:t>
            </a:r>
            <a:endParaRPr/>
          </a:p>
        </p:txBody>
      </p:sp>
      <p:sp>
        <p:nvSpPr>
          <p:cNvPr id="85" name="Google Shape;85;p1"/>
          <p:cNvSpPr txBox="1"/>
          <p:nvPr/>
        </p:nvSpPr>
        <p:spPr>
          <a:xfrm>
            <a:off x="1554480" y="2011680"/>
            <a:ext cx="9144000" cy="11887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u="none" cap="none" strike="noStrike">
                <a:solidFill>
                  <a:srgbClr val="26231D"/>
                </a:solidFill>
                <a:latin typeface="Noto Sans"/>
                <a:ea typeface="Noto Sans"/>
                <a:cs typeface="Noto Sans"/>
                <a:sym typeface="Noto Sans"/>
              </a:rPr>
              <a:t>armenian</a:t>
            </a:r>
            <a:r>
              <a:rPr b="1" i="0" lang="en-US" sz="6000" u="none" cap="none" strike="noStrike">
                <a:solidFill>
                  <a:srgbClr val="0F766E"/>
                </a:solidFill>
                <a:latin typeface="Noto Sans"/>
                <a:ea typeface="Noto Sans"/>
                <a:cs typeface="Noto Sans"/>
                <a:sym typeface="Noto Sans"/>
              </a:rPr>
              <a:t>.cc</a:t>
            </a:r>
            <a:endParaRPr/>
          </a:p>
        </p:txBody>
      </p:sp>
      <p:sp>
        <p:nvSpPr>
          <p:cNvPr id="86" name="Google Shape;86;p1"/>
          <p:cNvSpPr txBox="1"/>
          <p:nvPr/>
        </p:nvSpPr>
        <p:spPr>
          <a:xfrm>
            <a:off x="2194560" y="3383280"/>
            <a:ext cx="7863840" cy="10972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900" u="none" cap="none" strike="noStrike">
                <a:solidFill>
                  <a:srgbClr val="7D7462"/>
                </a:solidFill>
                <a:latin typeface="Noto Sans"/>
                <a:ea typeface="Noto Sans"/>
                <a:cs typeface="Noto Sans"/>
                <a:sym typeface="Noto Sans"/>
              </a:rPr>
              <a:t>Learn the Armenian language people </a:t>
            </a:r>
            <a:r>
              <a:rPr b="0" i="1" lang="en-US" sz="1900" u="none" cap="none" strike="noStrike">
                <a:solidFill>
                  <a:srgbClr val="7D7462"/>
                </a:solidFill>
                <a:latin typeface="Noto Sans"/>
                <a:ea typeface="Noto Sans"/>
                <a:cs typeface="Noto Sans"/>
                <a:sym typeface="Noto Sans"/>
              </a:rPr>
              <a:t>actually</a:t>
            </a:r>
            <a:r>
              <a:rPr b="0" i="0" lang="en-US" sz="1900" u="none" cap="none" strike="noStrike">
                <a:solidFill>
                  <a:srgbClr val="7D7462"/>
                </a:solidFill>
                <a:latin typeface="Noto Sans"/>
                <a:ea typeface="Noto Sans"/>
                <a:cs typeface="Noto Sans"/>
                <a:sym typeface="Noto Sans"/>
              </a:rPr>
              <a:t> speak — the missing step between living in Armenia and belonging to it.</a:t>
            </a:r>
            <a:endParaRPr/>
          </a:p>
        </p:txBody>
      </p:sp>
      <p:sp>
        <p:nvSpPr>
          <p:cNvPr id="87" name="Google Shape;87;p1"/>
          <p:cNvSpPr txBox="1"/>
          <p:nvPr/>
        </p:nvSpPr>
        <p:spPr>
          <a:xfrm>
            <a:off x="2194560" y="4892040"/>
            <a:ext cx="7863900" cy="2769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200" u="none" cap="none" strike="noStrike">
                <a:solidFill>
                  <a:srgbClr val="837A68"/>
                </a:solidFill>
                <a:latin typeface="Noto Sans"/>
                <a:ea typeface="Noto Sans"/>
                <a:cs typeface="Noto Sans"/>
                <a:sym typeface="Noto Sans"/>
              </a:rPr>
              <a:t>Tigran Andreasyan · Silvi Avayan · Ilya Lysenkov</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91" name="Shape 91"/>
        <p:cNvGrpSpPr/>
        <p:nvPr/>
      </p:nvGrpSpPr>
      <p:grpSpPr>
        <a:xfrm>
          <a:off x="0" y="0"/>
          <a:ext cx="0" cy="0"/>
          <a:chOff x="0" y="0"/>
          <a:chExt cx="0" cy="0"/>
        </a:xfrm>
      </p:grpSpPr>
      <p:sp>
        <p:nvSpPr>
          <p:cNvPr id="92" name="Google Shape;92;p2"/>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F766E"/>
                </a:solidFill>
                <a:latin typeface="Noto Sans"/>
                <a:ea typeface="Noto Sans"/>
                <a:cs typeface="Noto Sans"/>
                <a:sym typeface="Noto Sans"/>
              </a:rPr>
              <a:t>THE PROBLEM</a:t>
            </a:r>
            <a:endParaRPr/>
          </a:p>
        </p:txBody>
      </p:sp>
      <p:sp>
        <p:nvSpPr>
          <p:cNvPr id="93" name="Google Shape;93;p2"/>
          <p:cNvSpPr txBox="1"/>
          <p:nvPr/>
        </p:nvSpPr>
        <p:spPr>
          <a:xfrm>
            <a:off x="822960" y="868680"/>
            <a:ext cx="10515600" cy="77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26231D"/>
                </a:solidFill>
                <a:latin typeface="Noto Sans"/>
                <a:ea typeface="Noto Sans"/>
                <a:cs typeface="Noto Sans"/>
                <a:sym typeface="Noto Sans"/>
              </a:rPr>
              <a:t>In Armenia — but not </a:t>
            </a:r>
            <a:r>
              <a:rPr b="1" i="0" lang="en-US" sz="3400" u="sng" cap="none" strike="noStrike">
                <a:solidFill>
                  <a:srgbClr val="0F766E"/>
                </a:solidFill>
                <a:latin typeface="Noto Sans"/>
                <a:ea typeface="Noto Sans"/>
                <a:cs typeface="Noto Sans"/>
                <a:sym typeface="Noto Sans"/>
              </a:rPr>
              <a:t>part</a:t>
            </a:r>
            <a:r>
              <a:rPr b="1" i="0" lang="en-US" sz="3400" u="none" cap="none" strike="noStrike">
                <a:solidFill>
                  <a:srgbClr val="26231D"/>
                </a:solidFill>
                <a:latin typeface="Noto Sans"/>
                <a:ea typeface="Noto Sans"/>
                <a:cs typeface="Noto Sans"/>
                <a:sym typeface="Noto Sans"/>
              </a:rPr>
              <a:t> of it</a:t>
            </a:r>
            <a:endParaRPr/>
          </a:p>
        </p:txBody>
      </p:sp>
      <p:sp>
        <p:nvSpPr>
          <p:cNvPr id="94" name="Google Shape;94;p2"/>
          <p:cNvSpPr txBox="1"/>
          <p:nvPr/>
        </p:nvSpPr>
        <p:spPr>
          <a:xfrm>
            <a:off x="822960" y="1691640"/>
            <a:ext cx="1033272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550" u="none" cap="none" strike="noStrike">
                <a:solidFill>
                  <a:srgbClr val="33302A"/>
                </a:solidFill>
                <a:latin typeface="Noto Sans"/>
                <a:ea typeface="Noto Sans"/>
                <a:cs typeface="Noto Sans"/>
                <a:sym typeface="Noto Sans"/>
              </a:rPr>
              <a:t>Newcomers to Armenia, from Russian speakers, Iranians and Indians to returning diaspora, work and rent here for years, yet stay outside the society they live in. The first barrier to integration is language: not the textbook kind, but the one spoken around them every day.</a:t>
            </a:r>
            <a:endParaRPr/>
          </a:p>
        </p:txBody>
      </p:sp>
      <p:sp>
        <p:nvSpPr>
          <p:cNvPr id="95" name="Google Shape;95;p2"/>
          <p:cNvSpPr/>
          <p:nvPr/>
        </p:nvSpPr>
        <p:spPr>
          <a:xfrm>
            <a:off x="822960" y="2834640"/>
            <a:ext cx="3401568" cy="19659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164575" spcFirstLastPara="1" rIns="164575" wrap="square" tIns="91425">
            <a:noAutofit/>
          </a:bodyPr>
          <a:lstStyle/>
          <a:p>
            <a:pPr indent="0" lvl="0" marL="0" marR="0" rtl="0" algn="ctr">
              <a:spcBef>
                <a:spcPts val="0"/>
              </a:spcBef>
              <a:spcAft>
                <a:spcPts val="0"/>
              </a:spcAft>
              <a:buNone/>
            </a:pPr>
            <a:r>
              <a:rPr b="1" i="0" lang="en-US" sz="3000" u="none" cap="none" strike="noStrike">
                <a:solidFill>
                  <a:srgbClr val="0F766E"/>
                </a:solidFill>
                <a:latin typeface="Noto Sans"/>
                <a:ea typeface="Noto Sans"/>
                <a:cs typeface="Noto Sans"/>
                <a:sym typeface="Noto Sans"/>
              </a:rPr>
              <a:t>100K+</a:t>
            </a:r>
            <a:endParaRPr/>
          </a:p>
          <a:p>
            <a:pPr indent="0" lvl="0" marL="0" marR="0" rtl="0" algn="l">
              <a:spcBef>
                <a:spcPts val="0"/>
              </a:spcBef>
              <a:spcAft>
                <a:spcPts val="0"/>
              </a:spcAft>
              <a:buNone/>
            </a:pPr>
            <a:r>
              <a:rPr b="0" i="0" lang="en-US" sz="1200" u="none" cap="none" strike="noStrike">
                <a:solidFill>
                  <a:srgbClr val="7D7462"/>
                </a:solidFill>
                <a:latin typeface="Noto Sans"/>
                <a:ea typeface="Noto Sans"/>
                <a:cs typeface="Noto Sans"/>
                <a:sym typeface="Noto Sans"/>
              </a:rPr>
              <a:t>Russian speakers moved to Armenia since 2022, plus returning diaspora</a:t>
            </a:r>
            <a:endParaRPr/>
          </a:p>
          <a:p>
            <a:pPr indent="0" lvl="0" marL="0" marR="0" rtl="0" algn="l">
              <a:spcBef>
                <a:spcPts val="0"/>
              </a:spcBef>
              <a:spcAft>
                <a:spcPts val="0"/>
              </a:spcAft>
              <a:buNone/>
            </a:pPr>
            <a:r>
              <a:rPr b="0" i="0" lang="en-US" sz="1000" u="sng">
                <a:solidFill>
                  <a:srgbClr val="837A68"/>
                </a:solidFill>
                <a:latin typeface="Noto Sans"/>
                <a:ea typeface="Noto Sans"/>
                <a:cs typeface="Noto Sans"/>
                <a:sym typeface="Noto Sans"/>
                <a:hlinkClick r:id="rId3">
                  <a:extLst>
                    <a:ext uri="{A12FA001-AC4F-418D-AE19-62706E023703}">
                      <ahyp:hlinkClr val="tx"/>
                    </a:ext>
                  </a:extLst>
                </a:hlinkClick>
              </a:rPr>
              <a:t>Ministry of Economy of Armenia, 2022</a:t>
            </a:r>
            <a:endParaRPr/>
          </a:p>
        </p:txBody>
      </p:sp>
      <p:sp>
        <p:nvSpPr>
          <p:cNvPr id="96" name="Google Shape;96;p2"/>
          <p:cNvSpPr/>
          <p:nvPr/>
        </p:nvSpPr>
        <p:spPr>
          <a:xfrm>
            <a:off x="4379976" y="2834640"/>
            <a:ext cx="3401568" cy="19659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164575" spcFirstLastPara="1" rIns="164575" wrap="square" tIns="91425">
            <a:noAutofit/>
          </a:bodyPr>
          <a:lstStyle/>
          <a:p>
            <a:pPr indent="0" lvl="0" marL="0" marR="0" rtl="0" algn="ctr">
              <a:spcBef>
                <a:spcPts val="0"/>
              </a:spcBef>
              <a:spcAft>
                <a:spcPts val="0"/>
              </a:spcAft>
              <a:buNone/>
            </a:pPr>
            <a:r>
              <a:rPr b="1" i="0" lang="en-US" sz="3000" u="none">
                <a:solidFill>
                  <a:srgbClr val="0F766E"/>
                </a:solidFill>
                <a:latin typeface="Noto Sans"/>
                <a:ea typeface="Noto Sans"/>
                <a:cs typeface="Noto Sans"/>
                <a:sym typeface="Noto Sans"/>
              </a:rPr>
              <a:t>500K</a:t>
            </a:r>
            <a:endParaRPr/>
          </a:p>
          <a:p>
            <a:pPr indent="0" lvl="0" marL="0" marR="0" rtl="0" algn="l">
              <a:spcBef>
                <a:spcPts val="0"/>
              </a:spcBef>
              <a:spcAft>
                <a:spcPts val="0"/>
              </a:spcAft>
              <a:buNone/>
            </a:pPr>
            <a:r>
              <a:rPr b="0" i="0" lang="en-US" sz="1200" u="none">
                <a:solidFill>
                  <a:srgbClr val="7D7462"/>
                </a:solidFill>
                <a:latin typeface="Noto Sans"/>
                <a:ea typeface="Noto Sans"/>
                <a:cs typeface="Noto Sans"/>
                <a:sym typeface="Noto Sans"/>
              </a:rPr>
              <a:t>people watched the first lesson of a </a:t>
            </a:r>
            <a:r>
              <a:rPr b="0" i="0" lang="en-US" sz="1200" u="sng">
                <a:solidFill>
                  <a:srgbClr val="7D7462"/>
                </a:solidFill>
                <a:latin typeface="Noto Sans"/>
                <a:ea typeface="Noto Sans"/>
                <a:cs typeface="Noto Sans"/>
                <a:sym typeface="Noto Sans"/>
                <a:hlinkClick r:id="rId4">
                  <a:extLst>
                    <a:ext uri="{A12FA001-AC4F-418D-AE19-62706E023703}">
                      <ahyp:hlinkClr val="tx"/>
                    </a:ext>
                  </a:extLst>
                </a:hlinkClick>
              </a:rPr>
              <a:t>YouTube Armenian course</a:t>
            </a:r>
            <a:r>
              <a:rPr b="0" i="0" lang="en-US" sz="1200" u="none">
                <a:solidFill>
                  <a:srgbClr val="7D7462"/>
                </a:solidFill>
                <a:latin typeface="Noto Sans"/>
                <a:ea typeface="Noto Sans"/>
                <a:cs typeface="Noto Sans"/>
                <a:sym typeface="Noto Sans"/>
              </a:rPr>
              <a:t>; only 40K reached the last</a:t>
            </a:r>
            <a:endParaRPr/>
          </a:p>
        </p:txBody>
      </p:sp>
      <p:sp>
        <p:nvSpPr>
          <p:cNvPr id="97" name="Google Shape;97;p2"/>
          <p:cNvSpPr/>
          <p:nvPr/>
        </p:nvSpPr>
        <p:spPr>
          <a:xfrm>
            <a:off x="7936992" y="2834640"/>
            <a:ext cx="3401568" cy="19659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164575" spcFirstLastPara="1" rIns="164575" wrap="square" tIns="91425">
            <a:noAutofit/>
          </a:bodyPr>
          <a:lstStyle/>
          <a:p>
            <a:pPr indent="457200" lvl="0" marL="914400" marR="0" rtl="0" algn="l">
              <a:spcBef>
                <a:spcPts val="0"/>
              </a:spcBef>
              <a:spcAft>
                <a:spcPts val="0"/>
              </a:spcAft>
              <a:buNone/>
            </a:pPr>
            <a:r>
              <a:rPr b="1" i="0" lang="en-US" sz="3000" u="none">
                <a:solidFill>
                  <a:srgbClr val="0F766E"/>
                </a:solidFill>
                <a:latin typeface="Noto Sans"/>
                <a:ea typeface="Noto Sans"/>
                <a:cs typeface="Noto Sans"/>
                <a:sym typeface="Noto Sans"/>
              </a:rPr>
              <a:t>0</a:t>
            </a:r>
            <a:endParaRPr/>
          </a:p>
          <a:p>
            <a:pPr indent="0" lvl="0" marL="0" marR="0" rtl="0" algn="l">
              <a:spcBef>
                <a:spcPts val="0"/>
              </a:spcBef>
              <a:spcAft>
                <a:spcPts val="0"/>
              </a:spcAft>
              <a:buNone/>
            </a:pPr>
            <a:r>
              <a:rPr b="0" i="0" lang="en-US" sz="1200" u="none">
                <a:solidFill>
                  <a:srgbClr val="7D7462"/>
                </a:solidFill>
                <a:latin typeface="Noto Sans"/>
                <a:ea typeface="Noto Sans"/>
                <a:cs typeface="Noto Sans"/>
                <a:sym typeface="Noto Sans"/>
              </a:rPr>
              <a:t>big language apps teach Armenian (Duolingo, Babbel, Rosetta Stone, Busuu)</a:t>
            </a:r>
            <a:endParaRPr/>
          </a:p>
        </p:txBody>
      </p:sp>
      <p:sp>
        <p:nvSpPr>
          <p:cNvPr id="98" name="Google Shape;98;p2"/>
          <p:cNvSpPr txBox="1"/>
          <p:nvPr/>
        </p:nvSpPr>
        <p:spPr>
          <a:xfrm>
            <a:off x="822960" y="5029200"/>
            <a:ext cx="10515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a:solidFill>
                  <a:srgbClr val="837A68"/>
                </a:solidFill>
                <a:latin typeface="Noto Sans"/>
                <a:ea typeface="Noto Sans"/>
                <a:cs typeface="Noto Sans"/>
                <a:sym typeface="Noto Sans"/>
              </a:rPr>
              <a:t>People start learning Armenian, then quit: lessons have to be engaging. And the street language already lives in the most engaging format ever invented, short viral video.</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02" name="Shape 102"/>
        <p:cNvGrpSpPr/>
        <p:nvPr/>
      </p:nvGrpSpPr>
      <p:grpSpPr>
        <a:xfrm>
          <a:off x="0" y="0"/>
          <a:ext cx="0" cy="0"/>
          <a:chOff x="0" y="0"/>
          <a:chExt cx="0" cy="0"/>
        </a:xfrm>
      </p:grpSpPr>
      <p:sp>
        <p:nvSpPr>
          <p:cNvPr id="103" name="Google Shape;103;p3"/>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WHAT WE BUILT — LIVE DEMO</a:t>
            </a:r>
            <a:endParaRPr/>
          </a:p>
        </p:txBody>
      </p:sp>
      <p:sp>
        <p:nvSpPr>
          <p:cNvPr id="104" name="Google Shape;104;p3"/>
          <p:cNvSpPr txBox="1"/>
          <p:nvPr/>
        </p:nvSpPr>
        <p:spPr>
          <a:xfrm>
            <a:off x="822960" y="868680"/>
            <a:ext cx="10515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a:solidFill>
                  <a:srgbClr val="26231D"/>
                </a:solidFill>
                <a:latin typeface="Noto Sans"/>
                <a:ea typeface="Noto Sans"/>
                <a:cs typeface="Noto Sans"/>
                <a:sym typeface="Noto Sans"/>
              </a:rPr>
              <a:t>Viral TikToks become </a:t>
            </a:r>
            <a:r>
              <a:rPr b="1" i="0" lang="en-US" sz="3200" u="sng">
                <a:solidFill>
                  <a:srgbClr val="0F766E"/>
                </a:solidFill>
                <a:latin typeface="Noto Sans"/>
                <a:ea typeface="Noto Sans"/>
                <a:cs typeface="Noto Sans"/>
                <a:sym typeface="Noto Sans"/>
              </a:rPr>
              <a:t>lessons</a:t>
            </a:r>
            <a:endParaRPr/>
          </a:p>
        </p:txBody>
      </p:sp>
      <p:sp>
        <p:nvSpPr>
          <p:cNvPr id="105" name="Google Shape;105;p3"/>
          <p:cNvSpPr txBox="1"/>
          <p:nvPr/>
        </p:nvSpPr>
        <p:spPr>
          <a:xfrm>
            <a:off x="822960" y="1645920"/>
            <a:ext cx="1033272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550" u="none">
                <a:solidFill>
                  <a:srgbClr val="33302A"/>
                </a:solidFill>
                <a:latin typeface="Noto Sans"/>
                <a:ea typeface="Noto Sans"/>
                <a:cs typeface="Noto Sans"/>
                <a:sym typeface="Noto Sans"/>
              </a:rPr>
              <a:t>armenian.cc turns trending Armenian TikToks into interactive lessons for Russian speakers.</a:t>
            </a:r>
            <a:endParaRPr/>
          </a:p>
        </p:txBody>
      </p:sp>
      <p:sp>
        <p:nvSpPr>
          <p:cNvPr id="106" name="Google Shape;106;p3"/>
          <p:cNvSpPr/>
          <p:nvPr/>
        </p:nvSpPr>
        <p:spPr>
          <a:xfrm>
            <a:off x="822960" y="2286000"/>
            <a:ext cx="3401568" cy="16002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Watch real life</a:t>
            </a:r>
            <a:endParaRPr/>
          </a:p>
          <a:p>
            <a:pPr indent="0" lvl="0" marL="0" marR="0" rtl="0" algn="l">
              <a:spcBef>
                <a:spcPts val="400"/>
              </a:spcBef>
              <a:spcAft>
                <a:spcPts val="0"/>
              </a:spcAft>
              <a:buNone/>
            </a:pPr>
            <a:r>
              <a:rPr b="0" i="0" lang="en-US" sz="1200" u="none">
                <a:solidFill>
                  <a:srgbClr val="7D7462"/>
                </a:solidFill>
                <a:latin typeface="Noto Sans"/>
                <a:ea typeface="Noto Sans"/>
                <a:cs typeface="Noto Sans"/>
                <a:sym typeface="Noto Sans"/>
              </a:rPr>
              <a:t>Fresh viral videos from Armenian TikTok: jokes, street interviews, kitchens. The language exactly as people speak it.</a:t>
            </a:r>
            <a:endParaRPr/>
          </a:p>
        </p:txBody>
      </p:sp>
      <p:sp>
        <p:nvSpPr>
          <p:cNvPr id="107" name="Google Shape;107;p3"/>
          <p:cNvSpPr/>
          <p:nvPr/>
        </p:nvSpPr>
        <p:spPr>
          <a:xfrm>
            <a:off x="4379976" y="2286000"/>
            <a:ext cx="3401568" cy="16002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rtl="0" algn="l">
              <a:spcBef>
                <a:spcPts val="0"/>
              </a:spcBef>
              <a:spcAft>
                <a:spcPts val="0"/>
              </a:spcAft>
              <a:buClr>
                <a:schemeClr val="dk1"/>
              </a:buClr>
              <a:buSzPts val="1100"/>
              <a:buFont typeface="Arial"/>
              <a:buNone/>
            </a:pPr>
            <a:r>
              <a:rPr b="1" lang="en-US">
                <a:solidFill>
                  <a:srgbClr val="26231D"/>
                </a:solidFill>
                <a:latin typeface="Noto Sans"/>
                <a:ea typeface="Noto Sans"/>
                <a:cs typeface="Noto Sans"/>
                <a:sym typeface="Noto Sans"/>
              </a:rPr>
              <a:t>Understand every word</a:t>
            </a:r>
            <a:endParaRPr>
              <a:solidFill>
                <a:schemeClr val="dk1"/>
              </a:solidFill>
            </a:endParaRPr>
          </a:p>
          <a:p>
            <a:pPr indent="0" lvl="0" marL="0" rtl="0" algn="l">
              <a:spcBef>
                <a:spcPts val="400"/>
              </a:spcBef>
              <a:spcAft>
                <a:spcPts val="0"/>
              </a:spcAft>
              <a:buSzPts val="1100"/>
              <a:buNone/>
            </a:pPr>
            <a:r>
              <a:rPr lang="en-US" sz="1200">
                <a:solidFill>
                  <a:srgbClr val="7D7462"/>
                </a:solidFill>
                <a:latin typeface="Noto Sans"/>
                <a:ea typeface="Noto Sans"/>
                <a:cs typeface="Noto Sans"/>
                <a:sym typeface="Noto Sans"/>
              </a:rPr>
              <a:t>Hover a word for its Russian meaning in this exact context, with grammar notes.</a:t>
            </a:r>
            <a:endParaRPr b="1" sz="1250">
              <a:solidFill>
                <a:schemeClr val="dk1"/>
              </a:solidFill>
              <a:highlight>
                <a:srgbClr val="FFFDF8"/>
              </a:highlight>
              <a:latin typeface="Noto Sans Armenian"/>
              <a:ea typeface="Noto Sans Armenian"/>
              <a:cs typeface="Noto Sans Armenian"/>
              <a:sym typeface="Noto Sans Armenian"/>
            </a:endParaRPr>
          </a:p>
        </p:txBody>
      </p:sp>
      <p:sp>
        <p:nvSpPr>
          <p:cNvPr id="108" name="Google Shape;108;p3"/>
          <p:cNvSpPr/>
          <p:nvPr/>
        </p:nvSpPr>
        <p:spPr>
          <a:xfrm>
            <a:off x="7936992" y="2286000"/>
            <a:ext cx="3401568" cy="16002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rtl="0" algn="l">
              <a:lnSpc>
                <a:spcPct val="115000"/>
              </a:lnSpc>
              <a:spcBef>
                <a:spcPts val="0"/>
              </a:spcBef>
              <a:spcAft>
                <a:spcPts val="0"/>
              </a:spcAft>
              <a:buClr>
                <a:schemeClr val="dk1"/>
              </a:buClr>
              <a:buSzPts val="1100"/>
              <a:buFont typeface="Arial"/>
              <a:buNone/>
            </a:pPr>
            <a:r>
              <a:rPr b="1" lang="en-US" sz="1250">
                <a:solidFill>
                  <a:schemeClr val="dk1"/>
                </a:solidFill>
                <a:highlight>
                  <a:srgbClr val="FFFDF8"/>
                </a:highlight>
                <a:latin typeface="Noto Sans Armenian"/>
                <a:ea typeface="Noto Sans Armenian"/>
                <a:cs typeface="Noto Sans Armenian"/>
                <a:sym typeface="Noto Sans Armenian"/>
              </a:rPr>
              <a:t>Absorb the cultural code</a:t>
            </a:r>
            <a:endParaRPr b="1">
              <a:solidFill>
                <a:srgbClr val="26231D"/>
              </a:solidFill>
              <a:latin typeface="Noto Sans"/>
              <a:ea typeface="Noto Sans"/>
              <a:cs typeface="Noto Sans"/>
              <a:sym typeface="Noto Sans"/>
            </a:endParaRPr>
          </a:p>
          <a:p>
            <a:pPr indent="0" lvl="0" marL="0" rtl="0" algn="l">
              <a:spcBef>
                <a:spcPts val="400"/>
              </a:spcBef>
              <a:spcAft>
                <a:spcPts val="0"/>
              </a:spcAft>
              <a:buClr>
                <a:schemeClr val="dk1"/>
              </a:buClr>
              <a:buFont typeface="Arial"/>
              <a:buNone/>
            </a:pPr>
            <a:r>
              <a:rPr lang="en-US" sz="1250">
                <a:solidFill>
                  <a:srgbClr val="7D7462"/>
                </a:solidFill>
                <a:highlight>
                  <a:srgbClr val="FFFDF8"/>
                </a:highlight>
                <a:latin typeface="Noto Sans Armenian"/>
                <a:ea typeface="Noto Sans Armenian"/>
                <a:cs typeface="Noto Sans Armenian"/>
                <a:sym typeface="Noto Sans Armenian"/>
              </a:rPr>
              <a:t>Lessons are whatever Armenia is watching right now: the memes, the humor, what the country cares about this week. Language plus cultural code is what integration is made of.</a:t>
            </a:r>
            <a:endParaRPr>
              <a:solidFill>
                <a:schemeClr val="dk1"/>
              </a:solidFill>
            </a:endParaRPr>
          </a:p>
          <a:p>
            <a:pPr indent="0" lvl="0" marL="0" marR="0" rtl="0" algn="l">
              <a:spcBef>
                <a:spcPts val="400"/>
              </a:spcBef>
              <a:spcAft>
                <a:spcPts val="0"/>
              </a:spcAft>
              <a:buNone/>
            </a:pPr>
            <a:r>
              <a:t/>
            </a:r>
            <a:endParaRPr b="1">
              <a:solidFill>
                <a:srgbClr val="26231D"/>
              </a:solidFill>
              <a:latin typeface="Noto Sans"/>
              <a:ea typeface="Noto Sans"/>
              <a:cs typeface="Noto Sans"/>
              <a:sym typeface="Noto Sans"/>
            </a:endParaRPr>
          </a:p>
        </p:txBody>
      </p:sp>
      <p:sp>
        <p:nvSpPr>
          <p:cNvPr id="109" name="Google Shape;109;p3"/>
          <p:cNvSpPr/>
          <p:nvPr/>
        </p:nvSpPr>
        <p:spPr>
          <a:xfrm>
            <a:off x="822960" y="4114800"/>
            <a:ext cx="1965960" cy="10515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2000" u="none">
                <a:solidFill>
                  <a:srgbClr val="26231D"/>
                </a:solidFill>
                <a:latin typeface="Noto Sans Armenian"/>
                <a:ea typeface="Noto Sans Armenian"/>
                <a:cs typeface="Noto Sans Armenian"/>
                <a:sym typeface="Noto Sans Armenian"/>
              </a:rPr>
              <a:t>Սիրում</a:t>
            </a:r>
            <a:endParaRPr/>
          </a:p>
          <a:p>
            <a:pPr indent="0" lvl="0" marL="0" marR="0" rtl="0" algn="ctr">
              <a:spcBef>
                <a:spcPts val="0"/>
              </a:spcBef>
              <a:spcAft>
                <a:spcPts val="0"/>
              </a:spcAft>
              <a:buNone/>
            </a:pPr>
            <a:r>
              <a:rPr b="0" i="0" lang="en-US" sz="1200" u="none">
                <a:solidFill>
                  <a:srgbClr val="4A5E57"/>
                </a:solidFill>
                <a:latin typeface="Noto Sans"/>
                <a:ea typeface="Noto Sans"/>
                <a:cs typeface="Noto Sans"/>
                <a:sym typeface="Noto Sans"/>
              </a:rPr>
              <a:t>люблю</a:t>
            </a:r>
            <a:endParaRPr/>
          </a:p>
        </p:txBody>
      </p:sp>
      <p:sp>
        <p:nvSpPr>
          <p:cNvPr id="110" name="Google Shape;110;p3"/>
          <p:cNvSpPr/>
          <p:nvPr/>
        </p:nvSpPr>
        <p:spPr>
          <a:xfrm>
            <a:off x="2926080" y="4114800"/>
            <a:ext cx="1965960" cy="10515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2000" u="none">
                <a:solidFill>
                  <a:srgbClr val="26231D"/>
                </a:solidFill>
                <a:latin typeface="Noto Sans Armenian"/>
                <a:ea typeface="Noto Sans Armenian"/>
                <a:cs typeface="Noto Sans Armenian"/>
                <a:sym typeface="Noto Sans Armenian"/>
              </a:rPr>
              <a:t>եմ</a:t>
            </a:r>
            <a:endParaRPr/>
          </a:p>
          <a:p>
            <a:pPr indent="0" lvl="0" marL="0" marR="0" rtl="0" algn="ctr">
              <a:spcBef>
                <a:spcPts val="0"/>
              </a:spcBef>
              <a:spcAft>
                <a:spcPts val="0"/>
              </a:spcAft>
              <a:buNone/>
            </a:pPr>
            <a:r>
              <a:rPr b="0" i="0" lang="en-US" sz="1200" u="none">
                <a:solidFill>
                  <a:srgbClr val="4A5E57"/>
                </a:solidFill>
                <a:latin typeface="Noto Sans"/>
                <a:ea typeface="Noto Sans"/>
                <a:cs typeface="Noto Sans"/>
                <a:sym typeface="Noto Sans"/>
              </a:rPr>
              <a:t>(вспом. «быть»)</a:t>
            </a:r>
            <a:endParaRPr/>
          </a:p>
        </p:txBody>
      </p:sp>
      <p:sp>
        <p:nvSpPr>
          <p:cNvPr id="111" name="Google Shape;111;p3"/>
          <p:cNvSpPr/>
          <p:nvPr/>
        </p:nvSpPr>
        <p:spPr>
          <a:xfrm>
            <a:off x="5029200" y="4114800"/>
            <a:ext cx="1965960" cy="10515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2000" u="none">
                <a:solidFill>
                  <a:srgbClr val="26231D"/>
                </a:solidFill>
                <a:latin typeface="Noto Sans Armenian"/>
                <a:ea typeface="Noto Sans Armenian"/>
                <a:cs typeface="Noto Sans Armenian"/>
                <a:sym typeface="Noto Sans Armenian"/>
              </a:rPr>
              <a:t>քեզ</a:t>
            </a:r>
            <a:endParaRPr/>
          </a:p>
          <a:p>
            <a:pPr indent="0" lvl="0" marL="0" marR="0" rtl="0" algn="ctr">
              <a:spcBef>
                <a:spcPts val="0"/>
              </a:spcBef>
              <a:spcAft>
                <a:spcPts val="0"/>
              </a:spcAft>
              <a:buNone/>
            </a:pPr>
            <a:r>
              <a:rPr b="0" i="0" lang="en-US" sz="1200" u="none">
                <a:solidFill>
                  <a:srgbClr val="4A5E57"/>
                </a:solidFill>
                <a:latin typeface="Noto Sans"/>
                <a:ea typeface="Noto Sans"/>
                <a:cs typeface="Noto Sans"/>
                <a:sym typeface="Noto Sans"/>
              </a:rPr>
              <a:t>тебя</a:t>
            </a:r>
            <a:endParaRPr/>
          </a:p>
        </p:txBody>
      </p:sp>
      <p:sp>
        <p:nvSpPr>
          <p:cNvPr id="112" name="Google Shape;112;p3"/>
          <p:cNvSpPr txBox="1"/>
          <p:nvPr/>
        </p:nvSpPr>
        <p:spPr>
          <a:xfrm>
            <a:off x="822960" y="5557249"/>
            <a:ext cx="10515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sng">
                <a:solidFill>
                  <a:srgbClr val="0F766E"/>
                </a:solidFill>
                <a:latin typeface="Noto Sans"/>
                <a:ea typeface="Noto Sans"/>
                <a:cs typeface="Noto Sans"/>
                <a:sym typeface="Noto Sans"/>
                <a:hlinkClick r:id="rId3">
                  <a:extLst>
                    <a:ext uri="{A12FA001-AC4F-418D-AE19-62706E023703}">
                      <ahyp:hlinkClr val="tx"/>
                    </a:ext>
                  </a:extLst>
                </a:hlinkClick>
              </a:rPr>
              <a:t>armenian.cc</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16" name="Shape 116"/>
        <p:cNvGrpSpPr/>
        <p:nvPr/>
      </p:nvGrpSpPr>
      <p:grpSpPr>
        <a:xfrm>
          <a:off x="0" y="0"/>
          <a:ext cx="0" cy="0"/>
          <a:chOff x="0" y="0"/>
          <a:chExt cx="0" cy="0"/>
        </a:xfrm>
      </p:grpSpPr>
      <p:sp>
        <p:nvSpPr>
          <p:cNvPr id="117" name="Google Shape;117;p4"/>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TO BE CLEAR</a:t>
            </a:r>
            <a:endParaRPr/>
          </a:p>
        </p:txBody>
      </p:sp>
      <p:sp>
        <p:nvSpPr>
          <p:cNvPr id="118" name="Google Shape;118;p4"/>
          <p:cNvSpPr txBox="1"/>
          <p:nvPr/>
        </p:nvSpPr>
        <p:spPr>
          <a:xfrm>
            <a:off x="822960" y="868680"/>
            <a:ext cx="10515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a:solidFill>
                  <a:srgbClr val="26231D"/>
                </a:solidFill>
                <a:latin typeface="Noto Sans"/>
                <a:ea typeface="Noto Sans"/>
                <a:cs typeface="Noto Sans"/>
                <a:sym typeface="Noto Sans"/>
              </a:rPr>
              <a:t>What we came with, what we built </a:t>
            </a:r>
            <a:r>
              <a:rPr b="1" i="0" lang="en-US" sz="3200" u="sng">
                <a:solidFill>
                  <a:srgbClr val="0F766E"/>
                </a:solidFill>
                <a:latin typeface="Noto Sans"/>
                <a:ea typeface="Noto Sans"/>
                <a:cs typeface="Noto Sans"/>
                <a:sym typeface="Noto Sans"/>
              </a:rPr>
              <a:t>here</a:t>
            </a:r>
            <a:endParaRPr/>
          </a:p>
        </p:txBody>
      </p:sp>
      <p:sp>
        <p:nvSpPr>
          <p:cNvPr id="119" name="Google Shape;119;p4"/>
          <p:cNvSpPr/>
          <p:nvPr/>
        </p:nvSpPr>
        <p:spPr>
          <a:xfrm>
            <a:off x="822960" y="2011680"/>
            <a:ext cx="5166360" cy="17373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Before the hackathon</a:t>
            </a:r>
            <a:endParaRPr/>
          </a:p>
          <a:p>
            <a:pPr indent="0" lvl="0" marL="0" marR="0" rtl="0" algn="l">
              <a:spcBef>
                <a:spcPts val="400"/>
              </a:spcBef>
              <a:spcAft>
                <a:spcPts val="0"/>
              </a:spcAft>
              <a:buNone/>
            </a:pPr>
            <a:r>
              <a:t/>
            </a:r>
            <a:endParaRPr sz="1250">
              <a:solidFill>
                <a:srgbClr val="7D7462"/>
              </a:solidFill>
              <a:latin typeface="Noto Sans"/>
              <a:ea typeface="Noto Sans"/>
              <a:cs typeface="Noto Sans"/>
              <a:sym typeface="Noto Sans"/>
            </a:endParaRPr>
          </a:p>
          <a:p>
            <a:pPr indent="0" lvl="0" marL="0" marR="0" rtl="0" algn="l">
              <a:spcBef>
                <a:spcPts val="400"/>
              </a:spcBef>
              <a:spcAft>
                <a:spcPts val="0"/>
              </a:spcAft>
              <a:buNone/>
            </a:pPr>
            <a:r>
              <a:rPr b="0" i="0" lang="en-US" sz="1250" u="none">
                <a:solidFill>
                  <a:srgbClr val="7D7462"/>
                </a:solidFill>
                <a:latin typeface="Noto Sans"/>
                <a:ea typeface="Noto Sans"/>
                <a:cs typeface="Noto Sans"/>
                <a:sym typeface="Noto Sans"/>
              </a:rPr>
              <a:t>armenian.cc itself: the frontend, the backend video pipeline, the live site. An ongoing project.</a:t>
            </a:r>
            <a:endParaRPr/>
          </a:p>
        </p:txBody>
      </p:sp>
      <p:sp>
        <p:nvSpPr>
          <p:cNvPr id="120" name="Google Shape;120;p4"/>
          <p:cNvSpPr/>
          <p:nvPr/>
        </p:nvSpPr>
        <p:spPr>
          <a:xfrm>
            <a:off x="6172200" y="2011680"/>
            <a:ext cx="5166360" cy="1737360"/>
          </a:xfrm>
          <a:prstGeom prst="roundRect">
            <a:avLst>
              <a:gd fmla="val 6000" name="adj"/>
            </a:avLst>
          </a:prstGeom>
          <a:solidFill>
            <a:srgbClr val="EEF7F4"/>
          </a:solidFill>
          <a:ln cap="flat" cmpd="sng" w="12700">
            <a:solidFill>
              <a:srgbClr val="5FB3A6"/>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During the 24 hours</a:t>
            </a:r>
            <a:endParaRPr/>
          </a:p>
          <a:p>
            <a:pPr indent="0" lvl="0" marL="0" marR="0" rtl="0" algn="l">
              <a:spcBef>
                <a:spcPts val="400"/>
              </a:spcBef>
              <a:spcAft>
                <a:spcPts val="0"/>
              </a:spcAft>
              <a:buNone/>
            </a:pPr>
            <a:r>
              <a:rPr b="0" i="0" lang="en-US" sz="1250" u="none">
                <a:solidFill>
                  <a:srgbClr val="7D7462"/>
                </a:solidFill>
                <a:latin typeface="Noto Sans"/>
                <a:ea typeface="Noto Sans"/>
                <a:cs typeface="Noto Sans"/>
                <a:sym typeface="Noto Sans"/>
              </a:rPr>
              <a:t>Everything that makes it trustworthy: a ground-truth dataset of real Armenian speech, a 33-model speech recognition benchmark, and an evaluation of Armenian translation. The next two slides.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24" name="Shape 124"/>
        <p:cNvGrpSpPr/>
        <p:nvPr/>
      </p:nvGrpSpPr>
      <p:grpSpPr>
        <a:xfrm>
          <a:off x="0" y="0"/>
          <a:ext cx="0" cy="0"/>
          <a:chOff x="0" y="0"/>
          <a:chExt cx="0" cy="0"/>
        </a:xfrm>
      </p:grpSpPr>
      <p:sp>
        <p:nvSpPr>
          <p:cNvPr id="125" name="Google Shape;125;p5"/>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BUILT AT THE HACKATHON · SPEECH RECOGNITION</a:t>
            </a:r>
            <a:endParaRPr/>
          </a:p>
        </p:txBody>
      </p:sp>
      <p:sp>
        <p:nvSpPr>
          <p:cNvPr id="126" name="Google Shape;126;p5"/>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000" u="none">
                <a:solidFill>
                  <a:srgbClr val="26231D"/>
                </a:solidFill>
                <a:latin typeface="Noto Sans"/>
                <a:ea typeface="Noto Sans"/>
                <a:cs typeface="Noto Sans"/>
                <a:sym typeface="Noto Sans"/>
              </a:rPr>
              <a:t>Can AI hear Armenian? We measured </a:t>
            </a:r>
            <a:r>
              <a:rPr b="1" i="0" lang="en-US" sz="3000" u="sng">
                <a:solidFill>
                  <a:srgbClr val="0F766E"/>
                </a:solidFill>
                <a:latin typeface="Noto Sans"/>
                <a:ea typeface="Noto Sans"/>
                <a:cs typeface="Noto Sans"/>
                <a:sym typeface="Noto Sans"/>
              </a:rPr>
              <a:t>33 models</a:t>
            </a:r>
            <a:endParaRPr/>
          </a:p>
        </p:txBody>
      </p:sp>
      <p:sp>
        <p:nvSpPr>
          <p:cNvPr id="127" name="Google Shape;127;p5"/>
          <p:cNvSpPr txBox="1"/>
          <p:nvPr/>
        </p:nvSpPr>
        <p:spPr>
          <a:xfrm>
            <a:off x="822960" y="1600200"/>
            <a:ext cx="10515600" cy="8686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a:solidFill>
                  <a:srgbClr val="33302A"/>
                </a:solidFill>
                <a:latin typeface="Noto Sans"/>
                <a:ea typeface="Noto Sans"/>
                <a:cs typeface="Noto Sans"/>
                <a:sym typeface="Noto Sans"/>
              </a:rPr>
              <a:t>TikTok speech is its own world: noisy, informal, nothing like the read speech in existing Armenian datasets. So we built the ground truth ourselves: real TikTok audio, hand-corrected, split into five categories from formal speech to songs. Then we ran 33 ASR models against it.</a:t>
            </a:r>
            <a:endParaRPr/>
          </a:p>
        </p:txBody>
      </p:sp>
      <p:graphicFrame>
        <p:nvGraphicFramePr>
          <p:cNvPr id="128" name="Google Shape;128;p5"/>
          <p:cNvGraphicFramePr/>
          <p:nvPr/>
        </p:nvGraphicFramePr>
        <p:xfrm>
          <a:off x="822960" y="2606040"/>
          <a:ext cx="3000000" cy="3000000"/>
        </p:xfrm>
        <a:graphic>
          <a:graphicData uri="http://schemas.openxmlformats.org/drawingml/2006/table">
            <a:tbl>
              <a:tblPr>
                <a:noFill/>
                <a:tableStyleId>{2B46086F-4D39-4F87-BA62-9E512B5A67A4}</a:tableStyleId>
              </a:tblPr>
              <a:tblGrid>
                <a:gridCol w="3017525"/>
                <a:gridCol w="868675"/>
                <a:gridCol w="1234450"/>
                <a:gridCol w="1234450"/>
                <a:gridCol w="868675"/>
                <a:gridCol w="1371600"/>
                <a:gridCol w="960125"/>
                <a:gridCol w="960125"/>
              </a:tblGrid>
              <a:tr h="404950">
                <a:tc>
                  <a:txBody>
                    <a:bodyPr/>
                    <a:lstStyle/>
                    <a:p>
                      <a:pPr indent="0" lvl="0" marL="0" marR="0" rtl="0" algn="l">
                        <a:spcBef>
                          <a:spcPts val="0"/>
                        </a:spcBef>
                        <a:spcAft>
                          <a:spcPts val="0"/>
                        </a:spcAft>
                        <a:buNone/>
                      </a:pPr>
                      <a:r>
                        <a:rPr b="1" i="0" lang="en-US" sz="1150" u="none" cap="none" strike="noStrike">
                          <a:solidFill>
                            <a:srgbClr val="26231D"/>
                          </a:solidFill>
                          <a:latin typeface="Noto Sans"/>
                          <a:ea typeface="Noto Sans"/>
                          <a:cs typeface="Noto Sans"/>
                          <a:sym typeface="Noto Sans"/>
                        </a:rPr>
                        <a:t>Model · word error rate</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Formal</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Single speaker</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Multi speaker</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Songs</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Difficult speech</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Overall</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Cost / hr</a:t>
                      </a:r>
                      <a:endParaRPr/>
                    </a:p>
                  </a:txBody>
                  <a:tcPr marT="45725" marB="45725" marR="73150" marL="73150" anchor="ctr">
                    <a:solidFill>
                      <a:srgbClr val="F1ECE0"/>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ElevenLabs Scribe v2  (what we ship)</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2.1%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5.7%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15.4%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7.1%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16.7%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7.6%</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$0.22</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Gemini 3 Flash (preview)</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2.1%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11.3%</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12.8%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16.1%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10.4%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$0.12</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Gemini 3.6 Flash</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20.5%</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26.8%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15.8%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$0.17</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OpenAI gpt-transcribe</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a:t>
                      </a:r>
                      <a:r>
                        <a:rPr lang="en-US" sz="1150">
                          <a:solidFill>
                            <a:srgbClr val="33302A"/>
                          </a:solidFill>
                          <a:latin typeface="Noto Sans"/>
                          <a:ea typeface="Noto Sans"/>
                          <a:cs typeface="Noto Sans"/>
                          <a:sym typeface="Noto Sans"/>
                        </a:rPr>
                        <a:t>5</a:t>
                      </a:r>
                      <a:r>
                        <a:rPr b="0" i="0" lang="en-US" sz="1150" u="none" cap="none" strike="noStrike">
                          <a:solidFill>
                            <a:srgbClr val="33302A"/>
                          </a:solidFill>
                          <a:latin typeface="Noto Sans"/>
                          <a:ea typeface="Noto Sans"/>
                          <a:cs typeface="Noto Sans"/>
                          <a:sym typeface="Noto Sans"/>
                        </a:rPr>
                        <a:t>.</a:t>
                      </a:r>
                      <a:r>
                        <a:rPr lang="en-US" sz="1150">
                          <a:solidFill>
                            <a:srgbClr val="33302A"/>
                          </a:solidFill>
                          <a:latin typeface="Noto Sans"/>
                          <a:ea typeface="Noto Sans"/>
                          <a:cs typeface="Noto Sans"/>
                          <a:sym typeface="Noto Sans"/>
                        </a:rPr>
                        <a:t>6</a:t>
                      </a:r>
                      <a:r>
                        <a:rPr b="0" i="0" lang="en-US" sz="1150" u="none" cap="none" strike="noStrike">
                          <a:solidFill>
                            <a:srgbClr val="33302A"/>
                          </a:solidFill>
                          <a:latin typeface="Noto Sans"/>
                          <a:ea typeface="Noto Sans"/>
                          <a:cs typeface="Noto Sans"/>
                          <a:sym typeface="Noto Sans"/>
                        </a:rPr>
                        <a:t>%</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21.4%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47.2%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a:t>
                      </a:r>
                      <a:r>
                        <a:rPr lang="en-US" sz="1150">
                          <a:solidFill>
                            <a:srgbClr val="33302A"/>
                          </a:solidFill>
                          <a:latin typeface="Noto Sans"/>
                          <a:ea typeface="Noto Sans"/>
                          <a:cs typeface="Noto Sans"/>
                          <a:sym typeface="Noto Sans"/>
                        </a:rPr>
                        <a:t>1</a:t>
                      </a:r>
                      <a:r>
                        <a:rPr b="0" i="0" lang="en-US" sz="1150" u="none" cap="none" strike="noStrike">
                          <a:solidFill>
                            <a:srgbClr val="33302A"/>
                          </a:solidFill>
                          <a:latin typeface="Noto Sans"/>
                          <a:ea typeface="Noto Sans"/>
                          <a:cs typeface="Noto Sans"/>
                          <a:sym typeface="Noto Sans"/>
                        </a:rPr>
                        <a:t>%</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$0.27</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OpenAI Whisper-1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35.1%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71.7%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74.4%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44.6%</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61.1%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52.9%</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$0.36</a:t>
                      </a:r>
                      <a:endParaRPr/>
                    </a:p>
                  </a:txBody>
                  <a:tcPr marT="45725" marB="45725" marR="73150" marL="73150" anchor="ctr">
                    <a:solidFill>
                      <a:srgbClr val="FFFDF8"/>
                    </a:solidFill>
                  </a:tcPr>
                </a:tc>
              </a:tr>
              <a:tr h="404950">
                <a:tc gridSpan="8">
                  <a:txBody>
                    <a:bodyPr/>
                    <a:lstStyle/>
                    <a:p>
                      <a:pPr indent="0" lvl="0" marL="0" marR="0" rtl="0" algn="l">
                        <a:spcBef>
                          <a:spcPts val="0"/>
                        </a:spcBef>
                        <a:spcAft>
                          <a:spcPts val="0"/>
                        </a:spcAft>
                        <a:buNone/>
                      </a:pPr>
                      <a:r>
                        <a:rPr b="0" i="0" lang="en-US" sz="1150" u="none" cap="none" strike="noStrike">
                          <a:solidFill>
                            <a:srgbClr val="837A68"/>
                          </a:solidFill>
                          <a:latin typeface="Noto Sans"/>
                          <a:ea typeface="Noto Sans"/>
                          <a:cs typeface="Noto Sans"/>
                          <a:sym typeface="Noto Sans"/>
                        </a:rPr>
                        <a:t>…28 more in the repo: </a:t>
                      </a:r>
                      <a:r>
                        <a:rPr b="0" i="0" lang="en-US" sz="1150" u="sng" cap="none" strike="noStrike">
                          <a:solidFill>
                            <a:srgbClr val="837A68"/>
                          </a:solidFill>
                          <a:latin typeface="Noto Sans"/>
                          <a:ea typeface="Noto Sans"/>
                          <a:cs typeface="Noto Sans"/>
                          <a:sym typeface="Noto Sans"/>
                          <a:hlinkClick r:id="rId3">
                            <a:extLst>
                              <a:ext uri="{A12FA001-AC4F-418D-AE19-62706E023703}">
                                <ahyp:hlinkClr val="tx"/>
                              </a:ext>
                            </a:extLst>
                          </a:hlinkClick>
                        </a:rPr>
                        <a:t>github.com/SilviAvayan/Armenian.cc/blob/main/ASR_EVALUATION.md</a:t>
                      </a:r>
                      <a:endParaRPr/>
                    </a:p>
                  </a:txBody>
                  <a:tcPr marT="45725" marB="45725" marR="91450" marL="91450">
                    <a:solidFill>
                      <a:srgbClr val="FFFDF8"/>
                    </a:solidFill>
                  </a:tcPr>
                </a:tc>
                <a:tc hMerge="1"/>
                <a:tc hMerge="1"/>
                <a:tc hMerge="1"/>
                <a:tc hMerge="1"/>
                <a:tc hMerge="1"/>
                <a:tc hMerge="1"/>
                <a:tc hMerge="1"/>
              </a:tr>
            </a:tbl>
          </a:graphicData>
        </a:graphic>
      </p:graphicFrame>
      <p:sp>
        <p:nvSpPr>
          <p:cNvPr id="129" name="Google Shape;129;p5"/>
          <p:cNvSpPr txBox="1"/>
          <p:nvPr/>
        </p:nvSpPr>
        <p:spPr>
          <a:xfrm>
            <a:off x="822960" y="5623560"/>
            <a:ext cx="105156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a:solidFill>
                  <a:srgbClr val="837A68"/>
                </a:solidFill>
                <a:latin typeface="Noto Sans"/>
                <a:ea typeface="Noto Sans"/>
                <a:cs typeface="Noto Sans"/>
                <a:sym typeface="Noto Sans"/>
              </a:rPr>
              <a:t>Cost is per hour of audio (from OpenRouter pricing). We ship the winner: best on real speech, plus the per-word timestamps and recognition confidence our platform needs.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33" name="Shape 133"/>
        <p:cNvGrpSpPr/>
        <p:nvPr/>
      </p:nvGrpSpPr>
      <p:grpSpPr>
        <a:xfrm>
          <a:off x="0" y="0"/>
          <a:ext cx="0" cy="0"/>
          <a:chOff x="0" y="0"/>
          <a:chExt cx="0" cy="0"/>
        </a:xfrm>
      </p:grpSpPr>
      <p:sp>
        <p:nvSpPr>
          <p:cNvPr id="134" name="Google Shape;134;g3f3da43a7ba_3_7"/>
          <p:cNvSpPr txBox="1"/>
          <p:nvPr/>
        </p:nvSpPr>
        <p:spPr>
          <a:xfrm>
            <a:off x="822960" y="502920"/>
            <a:ext cx="105156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BUILT AT THE HACKATHON · </a:t>
            </a:r>
            <a:r>
              <a:rPr b="1" lang="en-US" sz="1200">
                <a:solidFill>
                  <a:srgbClr val="0F766E"/>
                </a:solidFill>
                <a:latin typeface="Noto Sans"/>
                <a:ea typeface="Noto Sans"/>
                <a:cs typeface="Noto Sans"/>
                <a:sym typeface="Noto Sans"/>
              </a:rPr>
              <a:t>TRANSLATION</a:t>
            </a:r>
            <a:endParaRPr/>
          </a:p>
        </p:txBody>
      </p:sp>
      <p:sp>
        <p:nvSpPr>
          <p:cNvPr id="135" name="Google Shape;135;g3f3da43a7ba_3_7"/>
          <p:cNvSpPr txBox="1"/>
          <p:nvPr/>
        </p:nvSpPr>
        <p:spPr>
          <a:xfrm>
            <a:off x="822960" y="868680"/>
            <a:ext cx="10698600" cy="10467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en-US" sz="3200">
                <a:solidFill>
                  <a:srgbClr val="26231D"/>
                </a:solidFill>
                <a:latin typeface="Noto Sans"/>
                <a:ea typeface="Noto Sans"/>
                <a:cs typeface="Noto Sans"/>
                <a:sym typeface="Noto Sans"/>
              </a:rPr>
              <a:t>Can you trust what it says the words </a:t>
            </a:r>
            <a:r>
              <a:rPr b="1" lang="en-US" sz="3200" u="sng">
                <a:solidFill>
                  <a:srgbClr val="0F766E"/>
                </a:solidFill>
                <a:latin typeface="Noto Sans"/>
                <a:ea typeface="Noto Sans"/>
                <a:cs typeface="Noto Sans"/>
                <a:sym typeface="Noto Sans"/>
              </a:rPr>
              <a:t>mean</a:t>
            </a:r>
            <a:r>
              <a:rPr b="1" lang="en-US" sz="3200">
                <a:solidFill>
                  <a:srgbClr val="26231D"/>
                </a:solidFill>
                <a:latin typeface="Noto Sans"/>
                <a:ea typeface="Noto Sans"/>
                <a:cs typeface="Noto Sans"/>
                <a:sym typeface="Noto Sans"/>
              </a:rPr>
              <a:t>?</a:t>
            </a:r>
            <a:endParaRPr>
              <a:solidFill>
                <a:schemeClr val="dk1"/>
              </a:solidFill>
            </a:endParaRPr>
          </a:p>
          <a:p>
            <a:pPr indent="0" lvl="0" marL="0" marR="0" rtl="0" algn="l">
              <a:spcBef>
                <a:spcPts val="0"/>
              </a:spcBef>
              <a:spcAft>
                <a:spcPts val="0"/>
              </a:spcAft>
              <a:buNone/>
            </a:pPr>
            <a:r>
              <a:t/>
            </a:r>
            <a:endParaRPr b="1" sz="3000">
              <a:solidFill>
                <a:srgbClr val="26231D"/>
              </a:solidFill>
              <a:latin typeface="Noto Sans"/>
              <a:ea typeface="Noto Sans"/>
              <a:cs typeface="Noto Sans"/>
              <a:sym typeface="Noto Sans"/>
            </a:endParaRPr>
          </a:p>
        </p:txBody>
      </p:sp>
      <p:sp>
        <p:nvSpPr>
          <p:cNvPr id="136" name="Google Shape;136;g3f3da43a7ba_3_7"/>
          <p:cNvSpPr txBox="1"/>
          <p:nvPr/>
        </p:nvSpPr>
        <p:spPr>
          <a:xfrm>
            <a:off x="822960" y="1600200"/>
            <a:ext cx="10515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a:solidFill>
                  <a:srgbClr val="33302A"/>
                </a:solidFill>
                <a:latin typeface="Noto Sans"/>
                <a:ea typeface="Noto Sans"/>
                <a:cs typeface="Noto Sans"/>
                <a:sym typeface="Noto Sans"/>
              </a:rPr>
              <a:t>A fluent speaker hand-checked the app’s glosses: 88% correct in context, 90% of sentences faithful. We benchmarked a dozen translation models in the same way. </a:t>
            </a:r>
            <a:endParaRPr/>
          </a:p>
        </p:txBody>
      </p:sp>
      <p:graphicFrame>
        <p:nvGraphicFramePr>
          <p:cNvPr id="137" name="Google Shape;137;g3f3da43a7ba_3_7"/>
          <p:cNvGraphicFramePr/>
          <p:nvPr/>
        </p:nvGraphicFramePr>
        <p:xfrm>
          <a:off x="822960" y="2606040"/>
          <a:ext cx="3000000" cy="3000000"/>
        </p:xfrm>
        <a:graphic>
          <a:graphicData uri="http://schemas.openxmlformats.org/drawingml/2006/table">
            <a:tbl>
              <a:tblPr>
                <a:noFill/>
                <a:tableStyleId>{2B46086F-4D39-4F87-BA62-9E512B5A67A4}</a:tableStyleId>
              </a:tblPr>
              <a:tblGrid>
                <a:gridCol w="3017525"/>
                <a:gridCol w="868675"/>
                <a:gridCol w="1234450"/>
                <a:gridCol w="1234450"/>
                <a:gridCol w="868675"/>
                <a:gridCol w="1371600"/>
                <a:gridCol w="960125"/>
                <a:gridCol w="960125"/>
              </a:tblGrid>
              <a:tr h="404950">
                <a:tc>
                  <a:txBody>
                    <a:bodyPr/>
                    <a:lstStyle/>
                    <a:p>
                      <a:pPr indent="0" lvl="0" marL="0" marR="0" rtl="0" algn="l">
                        <a:spcBef>
                          <a:spcPts val="0"/>
                        </a:spcBef>
                        <a:spcAft>
                          <a:spcPts val="0"/>
                        </a:spcAft>
                        <a:buNone/>
                      </a:pPr>
                      <a:r>
                        <a:rPr b="1" i="0" lang="en-US" sz="1150" u="none" cap="none" strike="noStrike">
                          <a:solidFill>
                            <a:srgbClr val="26231D"/>
                          </a:solidFill>
                          <a:latin typeface="Noto Sans"/>
                          <a:ea typeface="Noto Sans"/>
                          <a:cs typeface="Noto Sans"/>
                          <a:sym typeface="Noto Sans"/>
                        </a:rPr>
                        <a:t>Model · </a:t>
                      </a:r>
                      <a:r>
                        <a:rPr b="1" lang="en-US" sz="1150">
                          <a:solidFill>
                            <a:srgbClr val="26231D"/>
                          </a:solidFill>
                          <a:latin typeface="Noto Sans"/>
                          <a:ea typeface="Noto Sans"/>
                          <a:cs typeface="Noto Sans"/>
                          <a:sym typeface="Noto Sans"/>
                        </a:rPr>
                        <a:t>translation quality</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Formal</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Single speaker</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Multi speaker</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Songs</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Difficult speech</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Overall</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Cost / hr</a:t>
                      </a:r>
                      <a:endParaRPr/>
                    </a:p>
                  </a:txBody>
                  <a:tcPr marT="45725" marB="45725" marR="73150" marL="73150" anchor="ctr">
                    <a:solidFill>
                      <a:srgbClr val="F1ECE0"/>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ElevenLabs Scribe v2  (what we ship)</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2.1%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5.7%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15.4%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7.1%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16.7%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7.6%</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$0.22</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Gemini 3 Flash (preview)</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2.1%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11.3%</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12.8%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16.1%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10.4%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$0.12</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Gemini 3.6 Flash</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20.5%</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26.8%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15.8%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$0.17</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OpenAI gpt-transcribe</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a:t>
                      </a:r>
                      <a:r>
                        <a:rPr lang="en-US" sz="1150">
                          <a:solidFill>
                            <a:srgbClr val="33302A"/>
                          </a:solidFill>
                          <a:latin typeface="Noto Sans"/>
                          <a:ea typeface="Noto Sans"/>
                          <a:cs typeface="Noto Sans"/>
                          <a:sym typeface="Noto Sans"/>
                        </a:rPr>
                        <a:t>5</a:t>
                      </a:r>
                      <a:r>
                        <a:rPr b="0" i="0" lang="en-US" sz="1150" u="none" cap="none" strike="noStrike">
                          <a:solidFill>
                            <a:srgbClr val="33302A"/>
                          </a:solidFill>
                          <a:latin typeface="Noto Sans"/>
                          <a:ea typeface="Noto Sans"/>
                          <a:cs typeface="Noto Sans"/>
                          <a:sym typeface="Noto Sans"/>
                        </a:rPr>
                        <a:t>.</a:t>
                      </a:r>
                      <a:r>
                        <a:rPr lang="en-US" sz="1150">
                          <a:solidFill>
                            <a:srgbClr val="33302A"/>
                          </a:solidFill>
                          <a:latin typeface="Noto Sans"/>
                          <a:ea typeface="Noto Sans"/>
                          <a:cs typeface="Noto Sans"/>
                          <a:sym typeface="Noto Sans"/>
                        </a:rPr>
                        <a:t>6</a:t>
                      </a:r>
                      <a:r>
                        <a:rPr b="0" i="0" lang="en-US" sz="1150" u="none" cap="none" strike="noStrike">
                          <a:solidFill>
                            <a:srgbClr val="33302A"/>
                          </a:solidFill>
                          <a:latin typeface="Noto Sans"/>
                          <a:ea typeface="Noto Sans"/>
                          <a:cs typeface="Noto Sans"/>
                          <a:sym typeface="Noto Sans"/>
                        </a:rPr>
                        <a:t>%</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21.4%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47.2%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a:t>
                      </a:r>
                      <a:r>
                        <a:rPr lang="en-US" sz="1150">
                          <a:solidFill>
                            <a:srgbClr val="33302A"/>
                          </a:solidFill>
                          <a:latin typeface="Noto Sans"/>
                          <a:ea typeface="Noto Sans"/>
                          <a:cs typeface="Noto Sans"/>
                          <a:sym typeface="Noto Sans"/>
                        </a:rPr>
                        <a:t>1</a:t>
                      </a:r>
                      <a:r>
                        <a:rPr b="0" i="0" lang="en-US" sz="1150" u="none" cap="none" strike="noStrike">
                          <a:solidFill>
                            <a:srgbClr val="33302A"/>
                          </a:solidFill>
                          <a:latin typeface="Noto Sans"/>
                          <a:ea typeface="Noto Sans"/>
                          <a:cs typeface="Noto Sans"/>
                          <a:sym typeface="Noto Sans"/>
                        </a:rPr>
                        <a:t>%</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$0.27</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OpenAI Whisper-1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35.1%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71.7%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74.4%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44.6%</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61.1%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52.9%</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$0.36</a:t>
                      </a:r>
                      <a:endParaRPr/>
                    </a:p>
                  </a:txBody>
                  <a:tcPr marT="45725" marB="45725" marR="73150" marL="73150" anchor="ctr">
                    <a:solidFill>
                      <a:srgbClr val="FFFDF8"/>
                    </a:solidFill>
                  </a:tcPr>
                </a:tc>
              </a:tr>
              <a:tr h="404950">
                <a:tc gridSpan="8">
                  <a:txBody>
                    <a:bodyPr/>
                    <a:lstStyle/>
                    <a:p>
                      <a:pPr indent="0" lvl="0" marL="0" marR="0" rtl="0" algn="l">
                        <a:spcBef>
                          <a:spcPts val="0"/>
                        </a:spcBef>
                        <a:spcAft>
                          <a:spcPts val="0"/>
                        </a:spcAft>
                        <a:buNone/>
                      </a:pPr>
                      <a:r>
                        <a:rPr b="0" i="0" lang="en-US" sz="1150" u="none" cap="none" strike="noStrike">
                          <a:solidFill>
                            <a:srgbClr val="837A68"/>
                          </a:solidFill>
                          <a:latin typeface="Noto Sans"/>
                          <a:ea typeface="Noto Sans"/>
                          <a:cs typeface="Noto Sans"/>
                          <a:sym typeface="Noto Sans"/>
                        </a:rPr>
                        <a:t>…28 more in the repo: </a:t>
                      </a:r>
                      <a:r>
                        <a:rPr b="0" i="0" lang="en-US" sz="1150" u="sng" cap="none" strike="noStrike">
                          <a:solidFill>
                            <a:srgbClr val="837A68"/>
                          </a:solidFill>
                          <a:latin typeface="Noto Sans"/>
                          <a:ea typeface="Noto Sans"/>
                          <a:cs typeface="Noto Sans"/>
                          <a:sym typeface="Noto Sans"/>
                          <a:hlinkClick r:id="rId3">
                            <a:extLst>
                              <a:ext uri="{A12FA001-AC4F-418D-AE19-62706E023703}">
                                <ahyp:hlinkClr val="tx"/>
                              </a:ext>
                            </a:extLst>
                          </a:hlinkClick>
                        </a:rPr>
                        <a:t>github.com/SilviAvayan/Armenian.cc/blob/main/ASR_EVALUATION.md</a:t>
                      </a:r>
                      <a:endParaRPr/>
                    </a:p>
                  </a:txBody>
                  <a:tcPr marT="45725" marB="45725" marR="91450" marL="91450">
                    <a:solidFill>
                      <a:srgbClr val="FFFDF8"/>
                    </a:solidFill>
                  </a:tcPr>
                </a:tc>
                <a:tc hMerge="1"/>
                <a:tc hMerge="1"/>
                <a:tc hMerge="1"/>
                <a:tc hMerge="1"/>
                <a:tc hMerge="1"/>
                <a:tc hMerge="1"/>
                <a:tc hMerge="1"/>
              </a:tr>
            </a:tbl>
          </a:graphicData>
        </a:graphic>
      </p:graphicFrame>
      <p:sp>
        <p:nvSpPr>
          <p:cNvPr id="138" name="Google Shape;138;g3f3da43a7ba_3_7"/>
          <p:cNvSpPr txBox="1"/>
          <p:nvPr/>
        </p:nvSpPr>
        <p:spPr>
          <a:xfrm>
            <a:off x="822960" y="5623560"/>
            <a:ext cx="10515600" cy="1046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a:solidFill>
                  <a:srgbClr val="837A68"/>
                </a:solidFill>
                <a:latin typeface="Noto Sans"/>
                <a:ea typeface="Noto Sans"/>
                <a:cs typeface="Noto Sans"/>
                <a:sym typeface="Noto Sans"/>
              </a:rPr>
              <a:t>Cost is per hour of audio (from OpenRouter pricing). We ship the winner: best on real speech, plus the per-word timestamps and recognition confidence our platform needs. </a:t>
            </a:r>
            <a:br>
              <a:rPr b="0" i="0" lang="en-US" sz="1200" u="none">
                <a:solidFill>
                  <a:srgbClr val="837A68"/>
                </a:solidFill>
                <a:latin typeface="Noto Sans"/>
                <a:ea typeface="Noto Sans"/>
                <a:cs typeface="Noto Sans"/>
                <a:sym typeface="Noto Sans"/>
              </a:rPr>
            </a:br>
            <a:r>
              <a:rPr lang="en-US" sz="1200">
                <a:solidFill>
                  <a:srgbClr val="837A68"/>
                </a:solidFill>
                <a:latin typeface="Noto Sans"/>
                <a:ea typeface="Noto Sans"/>
                <a:cs typeface="Noto Sans"/>
                <a:sym typeface="Noto Sans"/>
              </a:rPr>
              <a:t>chrF++ = character match to a human translation (0-100). Flash-Lite wins on quality and speed; bigger reasoning tiers match quality but cost 4-10x the latence. And we don’t let AI grade itself. A self-checker is trusted only after it matches the human (к 0.66)</a:t>
            </a:r>
            <a:br>
              <a:rPr b="0" i="0" lang="en-US" sz="1200" u="none">
                <a:solidFill>
                  <a:srgbClr val="837A68"/>
                </a:solidFill>
                <a:latin typeface="Noto Sans"/>
                <a:ea typeface="Noto Sans"/>
                <a:cs typeface="Noto Sans"/>
                <a:sym typeface="Noto Sans"/>
              </a:rPr>
            </a:b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42" name="Shape 142"/>
        <p:cNvGrpSpPr/>
        <p:nvPr/>
      </p:nvGrpSpPr>
      <p:grpSpPr>
        <a:xfrm>
          <a:off x="0" y="0"/>
          <a:ext cx="0" cy="0"/>
          <a:chOff x="0" y="0"/>
          <a:chExt cx="0" cy="0"/>
        </a:xfrm>
      </p:grpSpPr>
      <p:sp>
        <p:nvSpPr>
          <p:cNvPr id="143" name="Google Shape;143;p6"/>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BUILT AT THE HACKATHON · TRANSLATION</a:t>
            </a:r>
            <a:endParaRPr/>
          </a:p>
        </p:txBody>
      </p:sp>
      <p:sp>
        <p:nvSpPr>
          <p:cNvPr id="144" name="Google Shape;144;p6"/>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a:solidFill>
                  <a:srgbClr val="26231D"/>
                </a:solidFill>
                <a:latin typeface="Noto Sans"/>
                <a:ea typeface="Noto Sans"/>
                <a:cs typeface="Noto Sans"/>
                <a:sym typeface="Noto Sans"/>
              </a:rPr>
              <a:t>Can you trust what it says the words </a:t>
            </a:r>
            <a:r>
              <a:rPr b="1" i="0" lang="en-US" sz="3200" u="sng">
                <a:solidFill>
                  <a:srgbClr val="0F766E"/>
                </a:solidFill>
                <a:latin typeface="Noto Sans"/>
                <a:ea typeface="Noto Sans"/>
                <a:cs typeface="Noto Sans"/>
                <a:sym typeface="Noto Sans"/>
              </a:rPr>
              <a:t>mean</a:t>
            </a:r>
            <a:r>
              <a:rPr b="1" i="0" lang="en-US" sz="3200" u="none">
                <a:solidFill>
                  <a:srgbClr val="26231D"/>
                </a:solidFill>
                <a:latin typeface="Noto Sans"/>
                <a:ea typeface="Noto Sans"/>
                <a:cs typeface="Noto Sans"/>
                <a:sym typeface="Noto Sans"/>
              </a:rPr>
              <a:t>?</a:t>
            </a:r>
            <a:endParaRPr/>
          </a:p>
        </p:txBody>
      </p:sp>
      <p:graphicFrame>
        <p:nvGraphicFramePr>
          <p:cNvPr id="145" name="Google Shape;145;p6"/>
          <p:cNvGraphicFramePr/>
          <p:nvPr/>
        </p:nvGraphicFramePr>
        <p:xfrm>
          <a:off x="822960" y="2606040"/>
          <a:ext cx="3000000" cy="3000000"/>
        </p:xfrm>
        <a:graphic>
          <a:graphicData uri="http://schemas.openxmlformats.org/drawingml/2006/table">
            <a:tbl>
              <a:tblPr>
                <a:noFill/>
                <a:tableStyleId>{2B46086F-4D39-4F87-BA62-9E512B5A67A4}</a:tableStyleId>
              </a:tblPr>
              <a:tblGrid>
                <a:gridCol w="3017525"/>
                <a:gridCol w="868675"/>
                <a:gridCol w="1234450"/>
                <a:gridCol w="1234450"/>
                <a:gridCol w="868675"/>
                <a:gridCol w="1371600"/>
                <a:gridCol w="960125"/>
                <a:gridCol w="960125"/>
              </a:tblGrid>
              <a:tr h="404950">
                <a:tc>
                  <a:txBody>
                    <a:bodyPr/>
                    <a:lstStyle/>
                    <a:p>
                      <a:pPr indent="0" lvl="0" marL="0" marR="0" rtl="0" algn="l">
                        <a:spcBef>
                          <a:spcPts val="0"/>
                        </a:spcBef>
                        <a:spcAft>
                          <a:spcPts val="0"/>
                        </a:spcAft>
                        <a:buNone/>
                      </a:pPr>
                      <a:r>
                        <a:rPr b="1" i="0" lang="en-US" sz="1150" u="none" cap="none" strike="noStrike">
                          <a:solidFill>
                            <a:srgbClr val="26231D"/>
                          </a:solidFill>
                          <a:latin typeface="Noto Sans"/>
                          <a:ea typeface="Noto Sans"/>
                          <a:cs typeface="Noto Sans"/>
                          <a:sym typeface="Noto Sans"/>
                        </a:rPr>
                        <a:t>Model </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Formal</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Single speaker</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Multi speaker</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Songs</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Difficult speech</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Overall</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Cost / hr</a:t>
                      </a:r>
                      <a:endParaRPr/>
                    </a:p>
                  </a:txBody>
                  <a:tcPr marT="45725" marB="45725" marR="73150" marL="73150" anchor="ctr">
                    <a:solidFill>
                      <a:srgbClr val="F1ECE0"/>
                    </a:solidFill>
                  </a:tcPr>
                </a:tc>
              </a:tr>
              <a:tr h="404950">
                <a:tc>
                  <a:txBody>
                    <a:bodyPr/>
                    <a:lstStyle/>
                    <a:p>
                      <a:pPr indent="0" lvl="0" marL="0" rtl="0" algn="l">
                        <a:spcBef>
                          <a:spcPts val="0"/>
                        </a:spcBef>
                        <a:spcAft>
                          <a:spcPts val="0"/>
                        </a:spcAft>
                        <a:buNone/>
                      </a:pPr>
                      <a:r>
                        <a:rPr lang="en-US" sz="1150">
                          <a:solidFill>
                            <a:srgbClr val="33302A"/>
                          </a:solidFill>
                          <a:latin typeface="Noto Sans"/>
                          <a:ea typeface="Noto Sans"/>
                          <a:cs typeface="Noto Sans"/>
                          <a:sym typeface="Noto Sans"/>
                        </a:rPr>
                        <a:t>Gemini 3 Flash (preview)</a:t>
                      </a:r>
                      <a:endParaRPr sz="1150">
                        <a:solidFill>
                          <a:srgbClr val="33302A"/>
                        </a:solidFill>
                        <a:latin typeface="Noto Sans"/>
                        <a:ea typeface="Noto Sans"/>
                        <a:cs typeface="Noto Sans"/>
                        <a:sym typeface="Noto Sans"/>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2.1%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5.7%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15.4%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7.1%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16.7%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7.6%</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$0.22</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Gemini 3 Flash (preview)</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2.1%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11.3%</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12.8%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16.1%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10.4%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$0.12</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Gemini 3.6 Flash</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20.5%</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26.8%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15.8%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$0.17</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OpenAI gpt-transcribe</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a:t>
                      </a:r>
                      <a:r>
                        <a:rPr lang="en-US" sz="1150">
                          <a:solidFill>
                            <a:srgbClr val="33302A"/>
                          </a:solidFill>
                          <a:latin typeface="Noto Sans"/>
                          <a:ea typeface="Noto Sans"/>
                          <a:cs typeface="Noto Sans"/>
                          <a:sym typeface="Noto Sans"/>
                        </a:rPr>
                        <a:t>5</a:t>
                      </a:r>
                      <a:r>
                        <a:rPr b="0" i="0" lang="en-US" sz="1150" u="none" cap="none" strike="noStrike">
                          <a:solidFill>
                            <a:srgbClr val="33302A"/>
                          </a:solidFill>
                          <a:latin typeface="Noto Sans"/>
                          <a:ea typeface="Noto Sans"/>
                          <a:cs typeface="Noto Sans"/>
                          <a:sym typeface="Noto Sans"/>
                        </a:rPr>
                        <a:t>.</a:t>
                      </a:r>
                      <a:r>
                        <a:rPr lang="en-US" sz="1150">
                          <a:solidFill>
                            <a:srgbClr val="33302A"/>
                          </a:solidFill>
                          <a:latin typeface="Noto Sans"/>
                          <a:ea typeface="Noto Sans"/>
                          <a:cs typeface="Noto Sans"/>
                          <a:sym typeface="Noto Sans"/>
                        </a:rPr>
                        <a:t>6</a:t>
                      </a:r>
                      <a:r>
                        <a:rPr b="0" i="0" lang="en-US" sz="1150" u="none" cap="none" strike="noStrike">
                          <a:solidFill>
                            <a:srgbClr val="33302A"/>
                          </a:solidFill>
                          <a:latin typeface="Noto Sans"/>
                          <a:ea typeface="Noto Sans"/>
                          <a:cs typeface="Noto Sans"/>
                          <a:sym typeface="Noto Sans"/>
                        </a:rPr>
                        <a:t>%</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21.4%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47.2%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a:t>
                      </a:r>
                      <a:r>
                        <a:rPr lang="en-US" sz="1150">
                          <a:solidFill>
                            <a:srgbClr val="33302A"/>
                          </a:solidFill>
                          <a:latin typeface="Noto Sans"/>
                          <a:ea typeface="Noto Sans"/>
                          <a:cs typeface="Noto Sans"/>
                          <a:sym typeface="Noto Sans"/>
                        </a:rPr>
                        <a:t>1</a:t>
                      </a:r>
                      <a:r>
                        <a:rPr b="0" i="0" lang="en-US" sz="1150" u="none" cap="none" strike="noStrike">
                          <a:solidFill>
                            <a:srgbClr val="33302A"/>
                          </a:solidFill>
                          <a:latin typeface="Noto Sans"/>
                          <a:ea typeface="Noto Sans"/>
                          <a:cs typeface="Noto Sans"/>
                          <a:sym typeface="Noto Sans"/>
                        </a:rPr>
                        <a:t>%</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$0.27</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OpenAI Whisper-1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35.1%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71.7%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74.4%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44.6%</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61.1%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52.9%</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$0.36</a:t>
                      </a:r>
                      <a:endParaRPr/>
                    </a:p>
                  </a:txBody>
                  <a:tcPr marT="45725" marB="45725" marR="73150" marL="73150" anchor="ctr">
                    <a:solidFill>
                      <a:srgbClr val="FFFDF8"/>
                    </a:solidFill>
                  </a:tcPr>
                </a:tc>
              </a:tr>
              <a:tr h="404950">
                <a:tc gridSpan="8">
                  <a:txBody>
                    <a:bodyPr/>
                    <a:lstStyle/>
                    <a:p>
                      <a:pPr indent="0" lvl="0" marL="0" marR="0" rtl="0" algn="l">
                        <a:spcBef>
                          <a:spcPts val="0"/>
                        </a:spcBef>
                        <a:spcAft>
                          <a:spcPts val="0"/>
                        </a:spcAft>
                        <a:buNone/>
                      </a:pPr>
                      <a:r>
                        <a:rPr b="0" i="0" lang="en-US" sz="1150" u="none" cap="none" strike="noStrike">
                          <a:solidFill>
                            <a:srgbClr val="837A68"/>
                          </a:solidFill>
                          <a:latin typeface="Noto Sans"/>
                          <a:ea typeface="Noto Sans"/>
                          <a:cs typeface="Noto Sans"/>
                          <a:sym typeface="Noto Sans"/>
                        </a:rPr>
                        <a:t>…28 more in the repo: </a:t>
                      </a:r>
                      <a:r>
                        <a:rPr b="0" i="0" lang="en-US" sz="1150" u="sng" cap="none" strike="noStrike">
                          <a:solidFill>
                            <a:srgbClr val="837A68"/>
                          </a:solidFill>
                          <a:latin typeface="Noto Sans"/>
                          <a:ea typeface="Noto Sans"/>
                          <a:cs typeface="Noto Sans"/>
                          <a:sym typeface="Noto Sans"/>
                          <a:hlinkClick r:id="rId3">
                            <a:extLst>
                              <a:ext uri="{A12FA001-AC4F-418D-AE19-62706E023703}">
                                <ahyp:hlinkClr val="tx"/>
                              </a:ext>
                            </a:extLst>
                          </a:hlinkClick>
                        </a:rPr>
                        <a:t>github.com/SilviAvayan/Armenian.cc/blob/main/ASR_EVALUATION.md</a:t>
                      </a:r>
                      <a:endParaRPr/>
                    </a:p>
                  </a:txBody>
                  <a:tcPr marT="45725" marB="45725" marR="91450" marL="91450">
                    <a:solidFill>
                      <a:srgbClr val="FFFDF8"/>
                    </a:solidFill>
                  </a:tcPr>
                </a:tc>
                <a:tc hMerge="1"/>
                <a:tc hMerge="1"/>
                <a:tc hMerge="1"/>
                <a:tc hMerge="1"/>
                <a:tc hMerge="1"/>
                <a:tc hMerge="1"/>
                <a:tc hMerge="1"/>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49" name="Shape 149"/>
        <p:cNvGrpSpPr/>
        <p:nvPr/>
      </p:nvGrpSpPr>
      <p:grpSpPr>
        <a:xfrm>
          <a:off x="0" y="0"/>
          <a:ext cx="0" cy="0"/>
          <a:chOff x="0" y="0"/>
          <a:chExt cx="0" cy="0"/>
        </a:xfrm>
      </p:grpSpPr>
      <p:sp>
        <p:nvSpPr>
          <p:cNvPr id="150" name="Google Shape;150;g3f3d9fe8e42_9_3"/>
          <p:cNvSpPr txBox="1"/>
          <p:nvPr/>
        </p:nvSpPr>
        <p:spPr>
          <a:xfrm>
            <a:off x="822960" y="502920"/>
            <a:ext cx="105156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LIMITATIONS · FAILURE MODES · SAFETY</a:t>
            </a:r>
            <a:endParaRPr/>
          </a:p>
        </p:txBody>
      </p:sp>
      <p:sp>
        <p:nvSpPr>
          <p:cNvPr id="151" name="Google Shape;151;g3f3d9fe8e42_9_3"/>
          <p:cNvSpPr txBox="1"/>
          <p:nvPr/>
        </p:nvSpPr>
        <p:spPr>
          <a:xfrm>
            <a:off x="822960" y="868680"/>
            <a:ext cx="1069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a:solidFill>
                  <a:srgbClr val="26231D"/>
                </a:solidFill>
                <a:latin typeface="Noto Sans"/>
                <a:ea typeface="Noto Sans"/>
                <a:cs typeface="Noto Sans"/>
                <a:sym typeface="Noto Sans"/>
              </a:rPr>
              <a:t>We know </a:t>
            </a:r>
            <a:r>
              <a:rPr b="1" i="0" lang="en-US" sz="3200" u="sng">
                <a:solidFill>
                  <a:srgbClr val="0F766E"/>
                </a:solidFill>
                <a:latin typeface="Noto Sans"/>
                <a:ea typeface="Noto Sans"/>
                <a:cs typeface="Noto Sans"/>
                <a:sym typeface="Noto Sans"/>
              </a:rPr>
              <a:t>where it breaks</a:t>
            </a:r>
            <a:r>
              <a:rPr b="1" i="0" lang="en-US" sz="3200" u="none">
                <a:solidFill>
                  <a:srgbClr val="26231D"/>
                </a:solidFill>
                <a:latin typeface="Noto Sans"/>
                <a:ea typeface="Noto Sans"/>
                <a:cs typeface="Noto Sans"/>
                <a:sym typeface="Noto Sans"/>
              </a:rPr>
              <a:t>, and what stops it</a:t>
            </a:r>
            <a:endParaRPr/>
          </a:p>
        </p:txBody>
      </p:sp>
      <p:sp>
        <p:nvSpPr>
          <p:cNvPr id="152" name="Google Shape;152;g3f3d9fe8e42_9_3"/>
          <p:cNvSpPr txBox="1"/>
          <p:nvPr/>
        </p:nvSpPr>
        <p:spPr>
          <a:xfrm>
            <a:off x="838060" y="4549990"/>
            <a:ext cx="105156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300">
                <a:solidFill>
                  <a:srgbClr val="837A68"/>
                </a:solidFill>
                <a:latin typeface="Noto Sans"/>
                <a:ea typeface="Noto Sans"/>
                <a:cs typeface="Noto Sans"/>
                <a:sym typeface="Noto Sans"/>
              </a:rPr>
              <a:t>Who could it harm? A learner memorizing a wrong meaning. The guardrails above exist to make that as rare as possible.</a:t>
            </a:r>
            <a:endParaRPr/>
          </a:p>
        </p:txBody>
      </p:sp>
      <p:sp>
        <p:nvSpPr>
          <p:cNvPr id="153" name="Google Shape;153;g3f3d9fe8e42_9_3"/>
          <p:cNvSpPr txBox="1"/>
          <p:nvPr/>
        </p:nvSpPr>
        <p:spPr>
          <a:xfrm>
            <a:off x="800988" y="1800900"/>
            <a:ext cx="10589700" cy="2547300"/>
          </a:xfrm>
          <a:prstGeom prst="rect">
            <a:avLst/>
          </a:prstGeom>
          <a:noFill/>
          <a:ln>
            <a:noFill/>
          </a:ln>
        </p:spPr>
        <p:txBody>
          <a:bodyPr anchorCtr="0" anchor="t" bIns="91425" lIns="91425" spcFirstLastPara="1" rIns="91425" wrap="square" tIns="91425">
            <a:spAutoFit/>
          </a:bodyPr>
          <a:lstStyle/>
          <a:p>
            <a:pPr indent="-327025" lvl="0" marL="457200" rtl="0" algn="l">
              <a:lnSpc>
                <a:spcPct val="115000"/>
              </a:lnSpc>
              <a:spcBef>
                <a:spcPts val="1800"/>
              </a:spcBef>
              <a:spcAft>
                <a:spcPts val="0"/>
              </a:spcAft>
              <a:buClr>
                <a:srgbClr val="33302A"/>
              </a:buClr>
              <a:buSzPts val="1550"/>
              <a:buFont typeface="Noto Sans Armenian"/>
              <a:buChar char="●"/>
            </a:pPr>
            <a:r>
              <a:rPr lang="en-US" sz="1550">
                <a:solidFill>
                  <a:srgbClr val="33302A"/>
                </a:solidFill>
                <a:latin typeface="Noto Sans Armenian"/>
                <a:ea typeface="Noto Sans Armenian"/>
                <a:cs typeface="Noto Sans Armenian"/>
                <a:sym typeface="Noto Sans Armenian"/>
              </a:rPr>
              <a:t>Speech recognition still gets about 8% of words wrong.</a:t>
            </a:r>
            <a:endParaRPr sz="1550">
              <a:solidFill>
                <a:srgbClr val="33302A"/>
              </a:solidFill>
              <a:latin typeface="Noto Sans Armenian"/>
              <a:ea typeface="Noto Sans Armenian"/>
              <a:cs typeface="Noto Sans Armenian"/>
              <a:sym typeface="Noto Sans Armenian"/>
            </a:endParaRPr>
          </a:p>
          <a:p>
            <a:pPr indent="-327025" lvl="0" marL="457200" rtl="0" algn="l">
              <a:lnSpc>
                <a:spcPct val="115000"/>
              </a:lnSpc>
              <a:spcBef>
                <a:spcPts val="0"/>
              </a:spcBef>
              <a:spcAft>
                <a:spcPts val="0"/>
              </a:spcAft>
              <a:buClr>
                <a:srgbClr val="33302A"/>
              </a:buClr>
              <a:buSzPts val="1550"/>
              <a:buFont typeface="Noto Sans Armenian"/>
              <a:buChar char="●"/>
            </a:pPr>
            <a:r>
              <a:rPr lang="en-US" sz="1550">
                <a:solidFill>
                  <a:srgbClr val="33302A"/>
                </a:solidFill>
                <a:latin typeface="Noto Sans Armenian"/>
                <a:ea typeface="Noto Sans Armenian"/>
                <a:cs typeface="Noto Sans Armenian"/>
                <a:sym typeface="Noto Sans Armenian"/>
              </a:rPr>
              <a:t>29% of word errors come from mishearing, not translation; the rest are slang, loanwords, and the auxiliary «է/եմ».</a:t>
            </a:r>
            <a:endParaRPr sz="1550">
              <a:solidFill>
                <a:srgbClr val="33302A"/>
              </a:solidFill>
              <a:latin typeface="Noto Sans Armenian"/>
              <a:ea typeface="Noto Sans Armenian"/>
              <a:cs typeface="Noto Sans Armenian"/>
              <a:sym typeface="Noto Sans Armenian"/>
            </a:endParaRPr>
          </a:p>
          <a:p>
            <a:pPr indent="-327025" lvl="0" marL="457200" rtl="0" algn="l">
              <a:lnSpc>
                <a:spcPct val="115000"/>
              </a:lnSpc>
              <a:spcBef>
                <a:spcPts val="0"/>
              </a:spcBef>
              <a:spcAft>
                <a:spcPts val="0"/>
              </a:spcAft>
              <a:buClr>
                <a:srgbClr val="33302A"/>
              </a:buClr>
              <a:buSzPts val="1550"/>
              <a:buFont typeface="Noto Sans Armenian"/>
              <a:buChar char="●"/>
            </a:pPr>
            <a:r>
              <a:rPr b="1" lang="en-US">
                <a:solidFill>
                  <a:srgbClr val="26231D"/>
                </a:solidFill>
                <a:latin typeface="Noto Sans"/>
                <a:ea typeface="Noto Sans"/>
                <a:cs typeface="Noto Sans"/>
                <a:sym typeface="Noto Sans"/>
              </a:rPr>
              <a:t>Guardrails: </a:t>
            </a:r>
            <a:r>
              <a:rPr lang="en-US" sz="1550">
                <a:solidFill>
                  <a:srgbClr val="33302A"/>
                </a:solidFill>
                <a:latin typeface="Noto Sans Armenian"/>
                <a:ea typeface="Noto Sans Armenian"/>
                <a:cs typeface="Noto Sans Armenian"/>
                <a:sym typeface="Noto Sans Armenian"/>
              </a:rPr>
              <a:t>v</a:t>
            </a:r>
            <a:r>
              <a:rPr lang="en-US" sz="1550">
                <a:solidFill>
                  <a:srgbClr val="33302A"/>
                </a:solidFill>
                <a:latin typeface="Noto Sans Armenian"/>
                <a:ea typeface="Noto Sans Armenian"/>
                <a:cs typeface="Noto Sans Armenian"/>
                <a:sym typeface="Noto Sans Armenian"/>
              </a:rPr>
              <a:t>ideos that fail production checks never publish:</a:t>
            </a:r>
            <a:endParaRPr sz="1550">
              <a:solidFill>
                <a:srgbClr val="33302A"/>
              </a:solidFill>
              <a:latin typeface="Noto Sans Armenian"/>
              <a:ea typeface="Noto Sans Armenian"/>
              <a:cs typeface="Noto Sans Armenian"/>
              <a:sym typeface="Noto Sans Armenian"/>
            </a:endParaRPr>
          </a:p>
          <a:p>
            <a:pPr indent="-320675" lvl="1" marL="914400" rtl="0" algn="l">
              <a:lnSpc>
                <a:spcPct val="115000"/>
              </a:lnSpc>
              <a:spcBef>
                <a:spcPts val="0"/>
              </a:spcBef>
              <a:spcAft>
                <a:spcPts val="0"/>
              </a:spcAft>
              <a:buClr>
                <a:srgbClr val="33302A"/>
              </a:buClr>
              <a:buSzPts val="1450"/>
              <a:buFont typeface="Noto Sans Armenian"/>
              <a:buChar char="○"/>
            </a:pPr>
            <a:r>
              <a:rPr lang="en-US" sz="1450">
                <a:solidFill>
                  <a:srgbClr val="33302A"/>
                </a:solidFill>
                <a:latin typeface="Noto Sans Armenian"/>
                <a:ea typeface="Noto Sans Armenian"/>
                <a:cs typeface="Noto Sans Armenian"/>
                <a:sym typeface="Noto Sans Armenian"/>
              </a:rPr>
              <a:t>low confidence in speech recognition</a:t>
            </a:r>
            <a:endParaRPr sz="1450">
              <a:solidFill>
                <a:srgbClr val="33302A"/>
              </a:solidFill>
              <a:latin typeface="Noto Sans Armenian"/>
              <a:ea typeface="Noto Sans Armenian"/>
              <a:cs typeface="Noto Sans Armenian"/>
              <a:sym typeface="Noto Sans Armenian"/>
            </a:endParaRPr>
          </a:p>
          <a:p>
            <a:pPr indent="-320675" lvl="1" marL="914400" rtl="0" algn="l">
              <a:lnSpc>
                <a:spcPct val="115000"/>
              </a:lnSpc>
              <a:spcBef>
                <a:spcPts val="0"/>
              </a:spcBef>
              <a:spcAft>
                <a:spcPts val="0"/>
              </a:spcAft>
              <a:buClr>
                <a:srgbClr val="33302A"/>
              </a:buClr>
              <a:buSzPts val="1450"/>
              <a:buFont typeface="Noto Sans Armenian"/>
              <a:buChar char="○"/>
            </a:pPr>
            <a:r>
              <a:rPr lang="en-US" sz="1450">
                <a:solidFill>
                  <a:srgbClr val="33302A"/>
                </a:solidFill>
                <a:latin typeface="Noto Sans Armenian"/>
                <a:ea typeface="Noto Sans Armenian"/>
                <a:cs typeface="Noto Sans Armenian"/>
                <a:sym typeface="Noto Sans Armenian"/>
              </a:rPr>
              <a:t>no speech</a:t>
            </a:r>
            <a:endParaRPr sz="1450">
              <a:solidFill>
                <a:srgbClr val="33302A"/>
              </a:solidFill>
              <a:latin typeface="Noto Sans Armenian"/>
              <a:ea typeface="Noto Sans Armenian"/>
              <a:cs typeface="Noto Sans Armenian"/>
              <a:sym typeface="Noto Sans Armenian"/>
            </a:endParaRPr>
          </a:p>
          <a:p>
            <a:pPr indent="-320675" lvl="1" marL="914400" rtl="0" algn="l">
              <a:lnSpc>
                <a:spcPct val="115000"/>
              </a:lnSpc>
              <a:spcBef>
                <a:spcPts val="0"/>
              </a:spcBef>
              <a:spcAft>
                <a:spcPts val="0"/>
              </a:spcAft>
              <a:buClr>
                <a:srgbClr val="33302A"/>
              </a:buClr>
              <a:buSzPts val="1450"/>
              <a:buFont typeface="Noto Sans Armenian"/>
              <a:buChar char="○"/>
            </a:pPr>
            <a:r>
              <a:rPr lang="en-US" sz="1450">
                <a:solidFill>
                  <a:srgbClr val="33302A"/>
                </a:solidFill>
                <a:latin typeface="Noto Sans Armenian"/>
                <a:ea typeface="Noto Sans Armenian"/>
                <a:cs typeface="Noto Sans Armenian"/>
                <a:sym typeface="Noto Sans Armenian"/>
              </a:rPr>
              <a:t>non-Armenian</a:t>
            </a:r>
            <a:endParaRPr sz="1450">
              <a:solidFill>
                <a:srgbClr val="33302A"/>
              </a:solidFill>
              <a:latin typeface="Noto Sans Armenian"/>
              <a:ea typeface="Noto Sans Armenian"/>
              <a:cs typeface="Noto Sans Armenian"/>
              <a:sym typeface="Noto Sans Armenian"/>
            </a:endParaRPr>
          </a:p>
          <a:p>
            <a:pPr indent="-320675" lvl="1" marL="914400" rtl="0" algn="l">
              <a:lnSpc>
                <a:spcPct val="115000"/>
              </a:lnSpc>
              <a:spcBef>
                <a:spcPts val="0"/>
              </a:spcBef>
              <a:spcAft>
                <a:spcPts val="0"/>
              </a:spcAft>
              <a:buClr>
                <a:srgbClr val="33302A"/>
              </a:buClr>
              <a:buSzPts val="1450"/>
              <a:buFont typeface="Noto Sans Armenian"/>
              <a:buChar char="○"/>
            </a:pPr>
            <a:r>
              <a:rPr lang="en-US" sz="1450">
                <a:solidFill>
                  <a:srgbClr val="33302A"/>
                </a:solidFill>
                <a:latin typeface="Noto Sans Armenian"/>
                <a:ea typeface="Noto Sans Armenian"/>
                <a:cs typeface="Noto Sans Armenian"/>
                <a:sym typeface="Noto Sans Armenian"/>
              </a:rPr>
              <a:t>prohibited content</a:t>
            </a:r>
            <a:endParaRPr sz="1450">
              <a:solidFill>
                <a:srgbClr val="33302A"/>
              </a:solidFill>
              <a:latin typeface="Noto Sans Armenian"/>
              <a:ea typeface="Noto Sans Armenian"/>
              <a:cs typeface="Noto Sans Armenian"/>
              <a:sym typeface="Noto Sans Armenian"/>
            </a:endParaRPr>
          </a:p>
          <a:p>
            <a:pPr indent="-327025" lvl="0" marL="457200" rtl="0" algn="l">
              <a:lnSpc>
                <a:spcPct val="115000"/>
              </a:lnSpc>
              <a:spcBef>
                <a:spcPts val="0"/>
              </a:spcBef>
              <a:spcAft>
                <a:spcPts val="0"/>
              </a:spcAft>
              <a:buClr>
                <a:srgbClr val="33302A"/>
              </a:buClr>
              <a:buSzPts val="1550"/>
              <a:buFont typeface="Noto Sans Armenian"/>
              <a:buChar char="●"/>
            </a:pPr>
            <a:r>
              <a:rPr lang="en-US" sz="1550">
                <a:solidFill>
                  <a:srgbClr val="33302A"/>
                </a:solidFill>
                <a:latin typeface="Noto Sans Armenian"/>
                <a:ea typeface="Noto Sans Armenian"/>
                <a:cs typeface="Noto Sans Armenian"/>
                <a:sym typeface="Noto Sans Armenian"/>
              </a:rPr>
              <a:t>Errors we find are corrected by hand.</a:t>
            </a:r>
            <a:endParaRPr sz="1450">
              <a:solidFill>
                <a:schemeClr val="dk1"/>
              </a:solidFill>
              <a:latin typeface="Noto Sans Armenian"/>
              <a:ea typeface="Noto Sans Armenian"/>
              <a:cs typeface="Noto Sans Armenian"/>
              <a:sym typeface="Noto Sans Armeni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57" name="Shape 157"/>
        <p:cNvGrpSpPr/>
        <p:nvPr/>
      </p:nvGrpSpPr>
      <p:grpSpPr>
        <a:xfrm>
          <a:off x="0" y="0"/>
          <a:ext cx="0" cy="0"/>
          <a:chOff x="0" y="0"/>
          <a:chExt cx="0" cy="0"/>
        </a:xfrm>
      </p:grpSpPr>
      <p:sp>
        <p:nvSpPr>
          <p:cNvPr id="158" name="Google Shape;158;p8"/>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REAL-WORLD FEASIBILITY · REPRODUCIBILITY</a:t>
            </a:r>
            <a:endParaRPr/>
          </a:p>
        </p:txBody>
      </p:sp>
      <p:sp>
        <p:nvSpPr>
          <p:cNvPr id="159" name="Google Shape;159;p8"/>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a:solidFill>
                  <a:srgbClr val="26231D"/>
                </a:solidFill>
                <a:latin typeface="Noto Sans"/>
                <a:ea typeface="Noto Sans"/>
                <a:cs typeface="Noto Sans"/>
                <a:sym typeface="Noto Sans"/>
              </a:rPr>
              <a:t>Not a demo — </a:t>
            </a:r>
            <a:r>
              <a:rPr b="1" i="0" lang="en-US" sz="3200" u="sng">
                <a:solidFill>
                  <a:srgbClr val="0F766E"/>
                </a:solidFill>
                <a:latin typeface="Noto Sans"/>
                <a:ea typeface="Noto Sans"/>
                <a:cs typeface="Noto Sans"/>
                <a:sym typeface="Noto Sans"/>
              </a:rPr>
              <a:t>running every day</a:t>
            </a:r>
            <a:r>
              <a:rPr b="1" i="0" lang="en-US" sz="3200" u="none">
                <a:solidFill>
                  <a:srgbClr val="26231D"/>
                </a:solidFill>
                <a:latin typeface="Noto Sans"/>
                <a:ea typeface="Noto Sans"/>
                <a:cs typeface="Noto Sans"/>
                <a:sym typeface="Noto Sans"/>
              </a:rPr>
              <a:t> on real data</a:t>
            </a:r>
            <a:endParaRPr/>
          </a:p>
        </p:txBody>
      </p:sp>
      <p:sp>
        <p:nvSpPr>
          <p:cNvPr id="160" name="Google Shape;160;p8"/>
          <p:cNvSpPr/>
          <p:nvPr/>
        </p:nvSpPr>
        <p:spPr>
          <a:xfrm>
            <a:off x="822960" y="2103120"/>
            <a:ext cx="3401568" cy="169164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Live and automatic</a:t>
            </a:r>
            <a:endParaRPr/>
          </a:p>
          <a:p>
            <a:pPr indent="0" lvl="0" marL="0" marR="0" rtl="0" algn="l">
              <a:spcBef>
                <a:spcPts val="400"/>
              </a:spcBef>
              <a:spcAft>
                <a:spcPts val="0"/>
              </a:spcAft>
              <a:buNone/>
            </a:pPr>
            <a:r>
              <a:rPr b="0" i="0" lang="en-US" sz="1200" u="none">
                <a:solidFill>
                  <a:srgbClr val="7D7462"/>
                </a:solidFill>
                <a:latin typeface="Noto Sans"/>
                <a:ea typeface="Noto Sans"/>
                <a:cs typeface="Noto Sans"/>
                <a:sym typeface="Noto Sans"/>
              </a:rPr>
              <a:t>Deployed at armenian.cc. New trending videos become lessons on a daily schedule, with no humans in the loop.</a:t>
            </a:r>
            <a:endParaRPr/>
          </a:p>
        </p:txBody>
      </p:sp>
      <p:sp>
        <p:nvSpPr>
          <p:cNvPr id="161" name="Google Shape;161;p8"/>
          <p:cNvSpPr/>
          <p:nvPr/>
        </p:nvSpPr>
        <p:spPr>
          <a:xfrm>
            <a:off x="4379976" y="2103120"/>
            <a:ext cx="3401568" cy="169164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Cost and latency</a:t>
            </a:r>
            <a:endParaRPr/>
          </a:p>
          <a:p>
            <a:pPr indent="0" lvl="0" marL="0" marR="0" rtl="0" algn="l">
              <a:spcBef>
                <a:spcPts val="400"/>
              </a:spcBef>
              <a:spcAft>
                <a:spcPts val="0"/>
              </a:spcAft>
              <a:buNone/>
            </a:pPr>
            <a:r>
              <a:rPr b="0" i="0" lang="en-US" sz="1200" u="none">
                <a:solidFill>
                  <a:srgbClr val="7D7462"/>
                </a:solidFill>
                <a:latin typeface="Noto Sans"/>
                <a:ea typeface="Noto Sans"/>
                <a:cs typeface="Noto Sans"/>
                <a:sym typeface="Noto Sans"/>
              </a:rPr>
              <a:t>One new video: $0.005 in API costs and 1 minute of processing, end to end.</a:t>
            </a:r>
            <a:endParaRPr/>
          </a:p>
        </p:txBody>
      </p:sp>
      <p:sp>
        <p:nvSpPr>
          <p:cNvPr id="162" name="Google Shape;162;p8"/>
          <p:cNvSpPr/>
          <p:nvPr/>
        </p:nvSpPr>
        <p:spPr>
          <a:xfrm>
            <a:off x="7936992" y="2103120"/>
            <a:ext cx="3401568" cy="169164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Reproducible</a:t>
            </a:r>
            <a:endParaRPr/>
          </a:p>
          <a:p>
            <a:pPr indent="0" lvl="0" marL="0" marR="0" rtl="0" algn="l">
              <a:spcBef>
                <a:spcPts val="400"/>
              </a:spcBef>
              <a:spcAft>
                <a:spcPts val="0"/>
              </a:spcAft>
              <a:buNone/>
            </a:pPr>
            <a:r>
              <a:rPr b="0" i="0" lang="en-US" sz="1200" u="none">
                <a:solidFill>
                  <a:srgbClr val="7D7462"/>
                </a:solidFill>
                <a:latin typeface="Noto Sans"/>
                <a:ea typeface="Noto Sans"/>
                <a:cs typeface="Noto Sans"/>
                <a:sym typeface="Noto Sans"/>
              </a:rPr>
              <a:t>The ground-truth dataset and the whole evaluation live in an open repo and rerun with one command.</a:t>
            </a:r>
            <a:endParaRPr/>
          </a:p>
        </p:txBody>
      </p:sp>
      <p:sp>
        <p:nvSpPr>
          <p:cNvPr id="163" name="Google Shape;163;p8"/>
          <p:cNvSpPr txBox="1"/>
          <p:nvPr/>
        </p:nvSpPr>
        <p:spPr>
          <a:xfrm>
            <a:off x="822960" y="4114800"/>
            <a:ext cx="1069848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a:solidFill>
                  <a:srgbClr val="837A68"/>
                </a:solidFill>
                <a:latin typeface="Noto Sans"/>
                <a:ea typeface="Noto Sans"/>
                <a:cs typeface="Noto Sans"/>
                <a:sym typeface="Noto Sans"/>
              </a:rPr>
              <a:t>Everything we've built during the hackathon: the dataset, the benchmark, and the evaluation code, under the Apache-2.0 license: </a:t>
            </a:r>
            <a:r>
              <a:rPr b="0" i="0" lang="en-US" sz="1300" u="sng">
                <a:solidFill>
                  <a:srgbClr val="837A68"/>
                </a:solidFill>
                <a:latin typeface="Noto Sans"/>
                <a:ea typeface="Noto Sans"/>
                <a:cs typeface="Noto Sans"/>
                <a:sym typeface="Noto Sans"/>
                <a:hlinkClick r:id="rId3">
                  <a:extLst>
                    <a:ext uri="{A12FA001-AC4F-418D-AE19-62706E023703}">
                      <ahyp:hlinkClr val="tx"/>
                    </a:ext>
                  </a:extLst>
                </a:hlinkClick>
              </a:rPr>
              <a:t>github.com/SilviAvayan/Armenian.cc</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67" name="Shape 167"/>
        <p:cNvGrpSpPr/>
        <p:nvPr/>
      </p:nvGrpSpPr>
      <p:grpSpPr>
        <a:xfrm>
          <a:off x="0" y="0"/>
          <a:ext cx="0" cy="0"/>
          <a:chOff x="0" y="0"/>
          <a:chExt cx="0" cy="0"/>
        </a:xfrm>
      </p:grpSpPr>
      <p:sp>
        <p:nvSpPr>
          <p:cNvPr id="168" name="Google Shape;168;p9"/>
          <p:cNvSpPr txBox="1"/>
          <p:nvPr/>
        </p:nvSpPr>
        <p:spPr>
          <a:xfrm>
            <a:off x="822960" y="192024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CONCLUSION</a:t>
            </a:r>
            <a:endParaRPr/>
          </a:p>
        </p:txBody>
      </p:sp>
      <p:sp>
        <p:nvSpPr>
          <p:cNvPr id="169" name="Google Shape;169;p9"/>
          <p:cNvSpPr txBox="1"/>
          <p:nvPr/>
        </p:nvSpPr>
        <p:spPr>
          <a:xfrm>
            <a:off x="822960" y="2377440"/>
            <a:ext cx="10515600"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a:solidFill>
                  <a:srgbClr val="26231D"/>
                </a:solidFill>
                <a:latin typeface="Noto Sans"/>
                <a:ea typeface="Noto Sans"/>
                <a:cs typeface="Noto Sans"/>
                <a:sym typeface="Noto Sans"/>
              </a:rPr>
              <a:t>Living in Armenia and belonging to it are different things.</a:t>
            </a:r>
            <a:endParaRPr/>
          </a:p>
          <a:p>
            <a:pPr indent="0" lvl="0" marL="0" marR="0" rtl="0" algn="l">
              <a:spcBef>
                <a:spcPts val="800"/>
              </a:spcBef>
              <a:spcAft>
                <a:spcPts val="0"/>
              </a:spcAft>
              <a:buNone/>
            </a:pPr>
            <a:r>
              <a:rPr b="1" i="0" lang="en-US" sz="2800" u="sng">
                <a:solidFill>
                  <a:srgbClr val="0F766E"/>
                </a:solidFill>
                <a:latin typeface="Noto Sans"/>
                <a:ea typeface="Noto Sans"/>
                <a:cs typeface="Noto Sans"/>
                <a:sym typeface="Noto Sans"/>
                <a:hlinkClick r:id="rId3">
                  <a:extLst>
                    <a:ext uri="{A12FA001-AC4F-418D-AE19-62706E023703}">
                      <ahyp:hlinkClr val="tx"/>
                    </a:ext>
                  </a:extLst>
                </a:hlinkClick>
              </a:rPr>
              <a:t>armenian.cc</a:t>
            </a:r>
            <a:r>
              <a:rPr b="1" i="0" lang="en-US" sz="2800" u="none">
                <a:solidFill>
                  <a:srgbClr val="26231D"/>
                </a:solidFill>
                <a:latin typeface="Noto Sans"/>
                <a:ea typeface="Noto Sans"/>
                <a:cs typeface="Noto Sans"/>
                <a:sym typeface="Noto Sans"/>
              </a:rPr>
              <a:t> removes the first barrier.</a:t>
            </a:r>
            <a:endParaRPr/>
          </a:p>
        </p:txBody>
      </p:sp>
      <p:sp>
        <p:nvSpPr>
          <p:cNvPr id="170" name="Google Shape;170;p9"/>
          <p:cNvSpPr txBox="1"/>
          <p:nvPr/>
        </p:nvSpPr>
        <p:spPr>
          <a:xfrm>
            <a:off x="822960" y="4754880"/>
            <a:ext cx="105156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a:solidFill>
                  <a:srgbClr val="837A68"/>
                </a:solidFill>
                <a:latin typeface="Noto Sans Armenian"/>
                <a:ea typeface="Noto Sans Armenian"/>
                <a:cs typeface="Noto Sans Armenian"/>
                <a:sym typeface="Noto Sans Armenian"/>
              </a:rPr>
              <a:t>Շնորհակալություն</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74" name="Shape 174"/>
        <p:cNvGrpSpPr/>
        <p:nvPr/>
      </p:nvGrpSpPr>
      <p:grpSpPr>
        <a:xfrm>
          <a:off x="0" y="0"/>
          <a:ext cx="0" cy="0"/>
          <a:chOff x="0" y="0"/>
          <a:chExt cx="0" cy="0"/>
        </a:xfrm>
      </p:grpSpPr>
      <p:sp>
        <p:nvSpPr>
          <p:cNvPr id="175" name="Google Shape;175;p10"/>
          <p:cNvSpPr txBox="1"/>
          <p:nvPr/>
        </p:nvSpPr>
        <p:spPr>
          <a:xfrm>
            <a:off x="1554480" y="2468880"/>
            <a:ext cx="9144000" cy="11887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u="none">
                <a:solidFill>
                  <a:srgbClr val="26231D"/>
                </a:solidFill>
                <a:latin typeface="Noto Sans"/>
                <a:ea typeface="Noto Sans"/>
                <a:cs typeface="Noto Sans"/>
                <a:sym typeface="Noto Sans"/>
              </a:rPr>
              <a:t>Q&amp;A</a:t>
            </a:r>
            <a:endParaRPr/>
          </a:p>
        </p:txBody>
      </p:sp>
      <p:sp>
        <p:nvSpPr>
          <p:cNvPr id="176" name="Google Shape;176;p10"/>
          <p:cNvSpPr txBox="1"/>
          <p:nvPr/>
        </p:nvSpPr>
        <p:spPr>
          <a:xfrm>
            <a:off x="1554480" y="3931920"/>
            <a:ext cx="9144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400" u="none">
                <a:solidFill>
                  <a:srgbClr val="837A68"/>
                </a:solidFill>
                <a:latin typeface="Noto Sans"/>
                <a:ea typeface="Noto Sans"/>
                <a:cs typeface="Noto Sans"/>
                <a:sym typeface="Noto Sans"/>
              </a:rPr>
              <a:t>armenian.cc · github.com/SilviAvayan/Armenian.cc</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80" name="Shape 180"/>
        <p:cNvGrpSpPr/>
        <p:nvPr/>
      </p:nvGrpSpPr>
      <p:grpSpPr>
        <a:xfrm>
          <a:off x="0" y="0"/>
          <a:ext cx="0" cy="0"/>
          <a:chOff x="0" y="0"/>
          <a:chExt cx="0" cy="0"/>
        </a:xfrm>
      </p:grpSpPr>
      <p:sp>
        <p:nvSpPr>
          <p:cNvPr id="181" name="Google Shape;181;p11"/>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BACKUP · SEARCH DEMAND</a:t>
            </a:r>
            <a:endParaRPr/>
          </a:p>
        </p:txBody>
      </p:sp>
      <p:sp>
        <p:nvSpPr>
          <p:cNvPr id="182" name="Google Shape;182;p11"/>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000" u="none">
                <a:solidFill>
                  <a:srgbClr val="26231D"/>
                </a:solidFill>
                <a:latin typeface="Noto Sans"/>
                <a:ea typeface="Noto Sans"/>
                <a:cs typeface="Noto Sans"/>
                <a:sym typeface="Noto Sans"/>
              </a:rPr>
              <a:t>Learning Armenian: searches </a:t>
            </a:r>
            <a:r>
              <a:rPr b="1" i="0" lang="en-US" sz="3000" u="sng">
                <a:solidFill>
                  <a:srgbClr val="0F766E"/>
                </a:solidFill>
                <a:latin typeface="Noto Sans"/>
                <a:ea typeface="Noto Sans"/>
                <a:cs typeface="Noto Sans"/>
                <a:sym typeface="Noto Sans"/>
              </a:rPr>
              <a:t>×5</a:t>
            </a:r>
            <a:r>
              <a:rPr b="1" i="0" lang="en-US" sz="3000" u="none">
                <a:solidFill>
                  <a:srgbClr val="26231D"/>
                </a:solidFill>
                <a:latin typeface="Noto Sans"/>
                <a:ea typeface="Noto Sans"/>
                <a:cs typeface="Noto Sans"/>
                <a:sym typeface="Noto Sans"/>
              </a:rPr>
              <a:t> in a decade</a:t>
            </a:r>
            <a:endParaRPr/>
          </a:p>
        </p:txBody>
      </p:sp>
      <p:sp>
        <p:nvSpPr>
          <p:cNvPr id="183" name="Google Shape;183;p11"/>
          <p:cNvSpPr txBox="1"/>
          <p:nvPr/>
        </p:nvSpPr>
        <p:spPr>
          <a:xfrm>
            <a:off x="822960" y="1600200"/>
            <a:ext cx="1033272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a:solidFill>
                  <a:srgbClr val="33302A"/>
                </a:solidFill>
                <a:latin typeface="Noto Sans"/>
                <a:ea typeface="Noto Sans"/>
                <a:cs typeface="Noto Sans"/>
                <a:sym typeface="Noto Sans"/>
              </a:rPr>
              <a:t>Google Trends: monthly search interest in Armenia, queries in Russian, six-month average. «Армянский язык» has led «английский язык» since mid-2021.</a:t>
            </a:r>
            <a:endParaRPr/>
          </a:p>
        </p:txBody>
      </p:sp>
      <p:pic>
        <p:nvPicPr>
          <p:cNvPr descr="chart_trends.png" id="184" name="Google Shape;184;p11"/>
          <p:cNvPicPr preferRelativeResize="0"/>
          <p:nvPr/>
        </p:nvPicPr>
        <p:blipFill rotWithShape="1">
          <a:blip r:embed="rId3">
            <a:alphaModFix/>
          </a:blip>
          <a:srcRect b="0" l="0" r="0" t="0"/>
          <a:stretch/>
        </p:blipFill>
        <p:spPr>
          <a:xfrm>
            <a:off x="1097280" y="2423160"/>
            <a:ext cx="9966960" cy="4156222"/>
          </a:xfrm>
          <a:prstGeom prst="rect">
            <a:avLst/>
          </a:prstGeom>
          <a:noFill/>
          <a:ln>
            <a:noFill/>
          </a:ln>
        </p:spPr>
      </p:pic>
      <p:sp>
        <p:nvSpPr>
          <p:cNvPr id="185" name="Google Shape;185;p11"/>
          <p:cNvSpPr txBox="1"/>
          <p:nvPr/>
        </p:nvSpPr>
        <p:spPr>
          <a:xfrm>
            <a:off x="822960" y="6446520"/>
            <a:ext cx="105156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a:solidFill>
                  <a:srgbClr val="837A68"/>
                </a:solidFill>
                <a:latin typeface="Noto Sans"/>
                <a:ea typeface="Noto Sans"/>
                <a:cs typeface="Noto Sans"/>
                <a:sym typeface="Noto Sans"/>
              </a:rPr>
              <a:t>Source: Google Trends, region Armenia, 2016–2026. 100 = peak search interest.</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89" name="Shape 189"/>
        <p:cNvGrpSpPr/>
        <p:nvPr/>
      </p:nvGrpSpPr>
      <p:grpSpPr>
        <a:xfrm>
          <a:off x="0" y="0"/>
          <a:ext cx="0" cy="0"/>
          <a:chOff x="0" y="0"/>
          <a:chExt cx="0" cy="0"/>
        </a:xfrm>
      </p:grpSpPr>
      <p:sp>
        <p:nvSpPr>
          <p:cNvPr id="190" name="Google Shape;190;p12"/>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BACKUP · SEARCH DEMAND · YANDEX</a:t>
            </a:r>
            <a:endParaRPr/>
          </a:p>
        </p:txBody>
      </p:sp>
      <p:sp>
        <p:nvSpPr>
          <p:cNvPr id="191" name="Google Shape;191;p12"/>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000" u="none">
                <a:solidFill>
                  <a:srgbClr val="26231D"/>
                </a:solidFill>
                <a:latin typeface="Noto Sans"/>
                <a:ea typeface="Noto Sans"/>
                <a:cs typeface="Noto Sans"/>
                <a:sym typeface="Noto Sans"/>
              </a:rPr>
              <a:t>Yandex agrees: </a:t>
            </a:r>
            <a:r>
              <a:rPr b="1" i="0" lang="en-US" sz="3000" u="sng">
                <a:solidFill>
                  <a:srgbClr val="0F766E"/>
                </a:solidFill>
                <a:latin typeface="Noto Sans"/>
                <a:ea typeface="Noto Sans"/>
                <a:cs typeface="Noto Sans"/>
                <a:sym typeface="Noto Sans"/>
              </a:rPr>
              <a:t>×4</a:t>
            </a:r>
            <a:r>
              <a:rPr b="1" i="0" lang="en-US" sz="3000" u="none">
                <a:solidFill>
                  <a:srgbClr val="26231D"/>
                </a:solidFill>
                <a:latin typeface="Noto Sans"/>
                <a:ea typeface="Noto Sans"/>
                <a:cs typeface="Noto Sans"/>
                <a:sym typeface="Noto Sans"/>
              </a:rPr>
              <a:t> after the wave</a:t>
            </a:r>
            <a:endParaRPr/>
          </a:p>
        </p:txBody>
      </p:sp>
      <p:sp>
        <p:nvSpPr>
          <p:cNvPr id="192" name="Google Shape;192;p12"/>
          <p:cNvSpPr txBox="1"/>
          <p:nvPr/>
        </p:nvSpPr>
        <p:spPr>
          <a:xfrm>
            <a:off x="822960" y="1600200"/>
            <a:ext cx="1033272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a:solidFill>
                  <a:srgbClr val="33302A"/>
                </a:solidFill>
                <a:latin typeface="Noto Sans"/>
                <a:ea typeface="Noto Sans"/>
                <a:cs typeface="Noto Sans"/>
                <a:sym typeface="Noto Sans"/>
              </a:rPr>
              <a:t>Yandex Wordstat: monthly queries «изучение армянского языка» from Armenia, 2020–2026. About 7 per month before 2022, about 29 after; July 2026 is the record.</a:t>
            </a:r>
            <a:endParaRPr/>
          </a:p>
        </p:txBody>
      </p:sp>
      <p:pic>
        <p:nvPicPr>
          <p:cNvPr descr="chart_wordstat.png" id="193" name="Google Shape;193;p12"/>
          <p:cNvPicPr preferRelativeResize="0"/>
          <p:nvPr/>
        </p:nvPicPr>
        <p:blipFill rotWithShape="1">
          <a:blip r:embed="rId3">
            <a:alphaModFix/>
          </a:blip>
          <a:srcRect b="0" l="0" r="0" t="0"/>
          <a:stretch/>
        </p:blipFill>
        <p:spPr>
          <a:xfrm>
            <a:off x="1097280" y="2423160"/>
            <a:ext cx="9966960" cy="4156222"/>
          </a:xfrm>
          <a:prstGeom prst="rect">
            <a:avLst/>
          </a:prstGeom>
          <a:noFill/>
          <a:ln>
            <a:noFill/>
          </a:ln>
        </p:spPr>
      </p:pic>
      <p:sp>
        <p:nvSpPr>
          <p:cNvPr id="194" name="Google Shape;194;p12"/>
          <p:cNvSpPr txBox="1"/>
          <p:nvPr/>
        </p:nvSpPr>
        <p:spPr>
          <a:xfrm>
            <a:off x="822960" y="6446520"/>
            <a:ext cx="105156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a:solidFill>
                  <a:srgbClr val="837A68"/>
                </a:solidFill>
                <a:latin typeface="Noto Sans"/>
                <a:ea typeface="Noto Sans"/>
                <a:cs typeface="Noto Sans"/>
                <a:sym typeface="Noto Sans"/>
              </a:rPr>
              <a:t>Source: Yandex Wordstat, region Armenia, query «изучение армянского языка», all devices.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198" name="Shape 198"/>
        <p:cNvGrpSpPr/>
        <p:nvPr/>
      </p:nvGrpSpPr>
      <p:grpSpPr>
        <a:xfrm>
          <a:off x="0" y="0"/>
          <a:ext cx="0" cy="0"/>
          <a:chOff x="0" y="0"/>
          <a:chExt cx="0" cy="0"/>
        </a:xfrm>
      </p:grpSpPr>
      <p:sp>
        <p:nvSpPr>
          <p:cNvPr id="199" name="Google Shape;199;g3f3d9fe8e42_9_25"/>
          <p:cNvSpPr txBox="1"/>
          <p:nvPr/>
        </p:nvSpPr>
        <p:spPr>
          <a:xfrm>
            <a:off x="822960" y="502920"/>
            <a:ext cx="105156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F766E"/>
                </a:solidFill>
                <a:latin typeface="Noto Sans"/>
                <a:ea typeface="Noto Sans"/>
                <a:cs typeface="Noto Sans"/>
                <a:sym typeface="Noto Sans"/>
              </a:rPr>
              <a:t>BACKUP · FUTURE WORK</a:t>
            </a:r>
            <a:endParaRPr/>
          </a:p>
        </p:txBody>
      </p:sp>
      <p:sp>
        <p:nvSpPr>
          <p:cNvPr id="200" name="Google Shape;200;g3f3d9fe8e42_9_25"/>
          <p:cNvSpPr txBox="1"/>
          <p:nvPr/>
        </p:nvSpPr>
        <p:spPr>
          <a:xfrm>
            <a:off x="822960" y="868680"/>
            <a:ext cx="1069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u="none">
                <a:solidFill>
                  <a:srgbClr val="26231D"/>
                </a:solidFill>
                <a:latin typeface="Noto Sans"/>
                <a:ea typeface="Noto Sans"/>
                <a:cs typeface="Noto Sans"/>
                <a:sym typeface="Noto Sans"/>
              </a:rPr>
              <a:t>What's </a:t>
            </a:r>
            <a:r>
              <a:rPr b="1" lang="en-US" sz="3200" u="sng">
                <a:solidFill>
                  <a:srgbClr val="0F766E"/>
                </a:solidFill>
                <a:latin typeface="Noto Sans"/>
                <a:ea typeface="Noto Sans"/>
                <a:cs typeface="Noto Sans"/>
                <a:sym typeface="Noto Sans"/>
              </a:rPr>
              <a:t>next</a:t>
            </a:r>
            <a:endParaRPr/>
          </a:p>
        </p:txBody>
      </p:sp>
      <p:sp>
        <p:nvSpPr>
          <p:cNvPr id="201" name="Google Shape;201;g3f3d9fe8e42_9_25"/>
          <p:cNvSpPr txBox="1"/>
          <p:nvPr/>
        </p:nvSpPr>
        <p:spPr>
          <a:xfrm>
            <a:off x="822960" y="1874519"/>
            <a:ext cx="10332600" cy="381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Comprehensible input</a:t>
            </a:r>
            <a:r>
              <a:rPr lang="en-US" sz="1600">
                <a:solidFill>
                  <a:srgbClr val="33302A"/>
                </a:solidFill>
                <a:latin typeface="Noto Sans"/>
                <a:ea typeface="Noto Sans"/>
                <a:cs typeface="Noto Sans"/>
                <a:sym typeface="Noto Sans"/>
              </a:rPr>
              <a:t>: order lessons to sit just above each learner's level, with the LLM rating every video's teaching value.</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Speaking practice:</a:t>
            </a:r>
            <a:r>
              <a:rPr lang="en-US" sz="1600">
                <a:solidFill>
                  <a:srgbClr val="33302A"/>
                </a:solidFill>
                <a:latin typeface="Noto Sans"/>
                <a:ea typeface="Noto Sans"/>
                <a:cs typeface="Noto Sans"/>
                <a:sym typeface="Noto Sans"/>
              </a:rPr>
              <a:t> the learner repeats a phrase and speech recognition checks it. Listening and speaking first, spelling second.</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Spaced repetition</a:t>
            </a:r>
            <a:r>
              <a:rPr lang="en-US" sz="1600">
                <a:solidFill>
                  <a:srgbClr val="33302A"/>
                </a:solidFill>
                <a:latin typeface="Noto Sans"/>
                <a:ea typeface="Noto Sans"/>
                <a:cs typeface="Noto Sans"/>
                <a:sym typeface="Noto Sans"/>
              </a:rPr>
              <a:t>: tap a word to save it, then review it later with the exact video moment and audio it came from.</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A personal feed</a:t>
            </a:r>
            <a:r>
              <a:rPr lang="en-US" sz="1600">
                <a:solidFill>
                  <a:srgbClr val="33302A"/>
                </a:solidFill>
                <a:latin typeface="Noto Sans"/>
                <a:ea typeface="Noto Sans"/>
                <a:cs typeface="Noto Sans"/>
                <a:sym typeface="Noto Sans"/>
              </a:rPr>
              <a:t>: videos matched to the learner's interests, from a far wider catalog than the trending page.</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A mobile app</a:t>
            </a:r>
            <a:r>
              <a:rPr lang="en-US" sz="1600">
                <a:solidFill>
                  <a:srgbClr val="33302A"/>
                </a:solidFill>
                <a:latin typeface="Noto Sans"/>
                <a:ea typeface="Noto Sans"/>
                <a:cs typeface="Noto Sans"/>
                <a:sym typeface="Noto Sans"/>
              </a:rPr>
              <a:t>, so lessons live where TikTok does: on the phone.</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New interface languages</a:t>
            </a:r>
            <a:r>
              <a:rPr lang="en-US" sz="1600">
                <a:solidFill>
                  <a:srgbClr val="33302A"/>
                </a:solidFill>
                <a:latin typeface="Noto Sans"/>
                <a:ea typeface="Noto Sans"/>
                <a:cs typeface="Noto Sans"/>
                <a:sym typeface="Noto Sans"/>
              </a:rPr>
              <a:t> from the same pipeline: English and Persian glosses, for the Indian and Iranian communities.</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Grow the ground-truth dataset</a:t>
            </a:r>
            <a:r>
              <a:rPr lang="en-US" sz="1600">
                <a:solidFill>
                  <a:srgbClr val="33302A"/>
                </a:solidFill>
                <a:latin typeface="Noto Sans"/>
                <a:ea typeface="Noto Sans"/>
                <a:cs typeface="Noto Sans"/>
                <a:sym typeface="Noto Sans"/>
              </a:rPr>
              <a:t> and keep the leaderboard running as new models appear.</a:t>
            </a:r>
            <a:endParaRPr sz="16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05" name="Shape 205"/>
        <p:cNvGrpSpPr/>
        <p:nvPr/>
      </p:nvGrpSpPr>
      <p:grpSpPr>
        <a:xfrm>
          <a:off x="0" y="0"/>
          <a:ext cx="0" cy="0"/>
          <a:chOff x="0" y="0"/>
          <a:chExt cx="0" cy="0"/>
        </a:xfrm>
      </p:grpSpPr>
      <p:sp>
        <p:nvSpPr>
          <p:cNvPr id="206" name="Google Shape;206;g3f3d9fe8e42_9_109"/>
          <p:cNvSpPr txBox="1"/>
          <p:nvPr/>
        </p:nvSpPr>
        <p:spPr>
          <a:xfrm>
            <a:off x="822960" y="502920"/>
            <a:ext cx="105156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F766E"/>
                </a:solidFill>
                <a:latin typeface="Noto Sans"/>
                <a:ea typeface="Noto Sans"/>
                <a:cs typeface="Noto Sans"/>
                <a:sym typeface="Noto Sans"/>
              </a:rPr>
              <a:t>BACKUP · IMPACT NOTE</a:t>
            </a:r>
            <a:endParaRPr/>
          </a:p>
        </p:txBody>
      </p:sp>
      <p:sp>
        <p:nvSpPr>
          <p:cNvPr id="207" name="Google Shape;207;g3f3d9fe8e42_9_109"/>
          <p:cNvSpPr txBox="1"/>
          <p:nvPr/>
        </p:nvSpPr>
        <p:spPr>
          <a:xfrm>
            <a:off x="822960" y="868680"/>
            <a:ext cx="1069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u="none">
                <a:solidFill>
                  <a:srgbClr val="26231D"/>
                </a:solidFill>
                <a:latin typeface="Noto Sans"/>
                <a:ea typeface="Noto Sans"/>
                <a:cs typeface="Noto Sans"/>
                <a:sym typeface="Noto Sans"/>
              </a:rPr>
              <a:t>Who uses it, and what </a:t>
            </a:r>
            <a:r>
              <a:rPr b="1" lang="en-US" sz="3200" u="sng">
                <a:solidFill>
                  <a:srgbClr val="0F766E"/>
                </a:solidFill>
                <a:latin typeface="Noto Sans"/>
                <a:ea typeface="Noto Sans"/>
                <a:cs typeface="Noto Sans"/>
                <a:sym typeface="Noto Sans"/>
              </a:rPr>
              <a:t>changes</a:t>
            </a:r>
            <a:r>
              <a:rPr b="1" lang="en-US" sz="3200" u="none">
                <a:solidFill>
                  <a:srgbClr val="26231D"/>
                </a:solidFill>
                <a:latin typeface="Noto Sans"/>
                <a:ea typeface="Noto Sans"/>
                <a:cs typeface="Noto Sans"/>
                <a:sym typeface="Noto Sans"/>
              </a:rPr>
              <a:t> if it works</a:t>
            </a:r>
            <a:endParaRPr/>
          </a:p>
        </p:txBody>
      </p:sp>
      <p:sp>
        <p:nvSpPr>
          <p:cNvPr id="208" name="Google Shape;208;g3f3d9fe8e42_9_109"/>
          <p:cNvSpPr/>
          <p:nvPr/>
        </p:nvSpPr>
        <p:spPr>
          <a:xfrm>
            <a:off x="822960" y="2011680"/>
            <a:ext cx="5166300" cy="22860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ctr">
              <a:spcBef>
                <a:spcPts val="0"/>
              </a:spcBef>
              <a:spcAft>
                <a:spcPts val="0"/>
              </a:spcAft>
              <a:buNone/>
            </a:pPr>
            <a:r>
              <a:rPr b="1" lang="en-US" sz="1400" u="none">
                <a:solidFill>
                  <a:srgbClr val="26231D"/>
                </a:solidFill>
                <a:latin typeface="Noto Sans"/>
                <a:ea typeface="Noto Sans"/>
                <a:cs typeface="Noto Sans"/>
                <a:sym typeface="Noto Sans"/>
              </a:rPr>
              <a:t>Who uses it</a:t>
            </a:r>
            <a:endParaRPr/>
          </a:p>
          <a:p>
            <a:pPr indent="0" lvl="0" marL="0" marR="0" rtl="0" algn="l">
              <a:spcBef>
                <a:spcPts val="400"/>
              </a:spcBef>
              <a:spcAft>
                <a:spcPts val="0"/>
              </a:spcAft>
              <a:buNone/>
            </a:pPr>
            <a:r>
              <a:rPr b="0" lang="en-US" sz="1250" u="none">
                <a:solidFill>
                  <a:srgbClr val="7D7462"/>
                </a:solidFill>
                <a:latin typeface="Noto Sans"/>
                <a:ea typeface="Noto Sans"/>
                <a:cs typeface="Noto Sans"/>
                <a:sym typeface="Noto Sans"/>
              </a:rPr>
              <a:t>Newcomers learning spoken Armenian: Russian speakers, Iranians, Indians, returning diaspora. And anyone building Armenian speech technology: the ground-truth dataset and the model leaderboard are open to all.</a:t>
            </a:r>
            <a:endParaRPr/>
          </a:p>
        </p:txBody>
      </p:sp>
      <p:sp>
        <p:nvSpPr>
          <p:cNvPr id="209" name="Google Shape;209;g3f3d9fe8e42_9_109"/>
          <p:cNvSpPr/>
          <p:nvPr/>
        </p:nvSpPr>
        <p:spPr>
          <a:xfrm>
            <a:off x="6172200" y="2011680"/>
            <a:ext cx="5166300" cy="22860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ctr">
              <a:spcBef>
                <a:spcPts val="0"/>
              </a:spcBef>
              <a:spcAft>
                <a:spcPts val="0"/>
              </a:spcAft>
              <a:buNone/>
            </a:pPr>
            <a:r>
              <a:rPr b="1" lang="en-US" sz="1400" u="none">
                <a:solidFill>
                  <a:srgbClr val="26231D"/>
                </a:solidFill>
                <a:latin typeface="Noto Sans"/>
                <a:ea typeface="Noto Sans"/>
                <a:cs typeface="Noto Sans"/>
                <a:sym typeface="Noto Sans"/>
              </a:rPr>
              <a:t>What changes if it works</a:t>
            </a:r>
            <a:endParaRPr/>
          </a:p>
          <a:p>
            <a:pPr indent="0" lvl="0" marL="0" marR="0" rtl="0" algn="l">
              <a:spcBef>
                <a:spcPts val="400"/>
              </a:spcBef>
              <a:spcAft>
                <a:spcPts val="0"/>
              </a:spcAft>
              <a:buNone/>
            </a:pPr>
            <a:r>
              <a:rPr b="0" lang="en-US" sz="1250" u="none">
                <a:solidFill>
                  <a:srgbClr val="7D7462"/>
                </a:solidFill>
                <a:latin typeface="Noto Sans"/>
                <a:ea typeface="Noto Sans"/>
                <a:cs typeface="Noto Sans"/>
                <a:sym typeface="Noto Sans"/>
              </a:rPr>
              <a:t>Newcomers stop living beside Armenian society and start belonging to it: they understand their neighbors, the memes, the daily conversation. And Armenian speech AI stops being unmeasured, so every future tool for the language starts from a scorecard instead of a guess.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